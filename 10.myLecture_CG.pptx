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3503" y="73406"/>
            <a:ext cx="6936993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9740" y="1588515"/>
            <a:ext cx="4033520" cy="1671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3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2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4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12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45.png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9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12.png"/><Relationship Id="rId10" Type="http://schemas.openxmlformats.org/officeDocument/2006/relationships/image" Target="../media/image48.png"/><Relationship Id="rId4" Type="http://schemas.openxmlformats.org/officeDocument/2006/relationships/image" Target="../media/image45.png"/><Relationship Id="rId9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5288" y="1935479"/>
            <a:ext cx="63125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15" dirty="0">
                <a:latin typeface="Calibri"/>
                <a:cs typeface="Calibri"/>
              </a:rPr>
              <a:t>Computer</a:t>
            </a:r>
            <a:r>
              <a:rPr sz="6000" b="1" spc="-85" dirty="0">
                <a:latin typeface="Calibri"/>
                <a:cs typeface="Calibri"/>
              </a:rPr>
              <a:t> </a:t>
            </a:r>
            <a:r>
              <a:rPr sz="6000" b="1" spc="-15" dirty="0">
                <a:latin typeface="Calibri"/>
                <a:cs typeface="Calibri"/>
              </a:rPr>
              <a:t>Graphics: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99941" y="2854451"/>
            <a:ext cx="194183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" dirty="0">
                <a:solidFill>
                  <a:srgbClr val="FF0000"/>
                </a:solidFill>
                <a:latin typeface="Calibri"/>
                <a:cs typeface="Calibri"/>
              </a:rPr>
              <a:t>Cu</a:t>
            </a:r>
            <a:r>
              <a:rPr sz="5400" b="1" spc="3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5400" b="1" spc="-50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r>
              <a:rPr sz="5400" b="1" spc="-5" dirty="0">
                <a:solidFill>
                  <a:srgbClr val="FF0000"/>
                </a:solidFill>
                <a:latin typeface="Calibri"/>
                <a:cs typeface="Calibri"/>
              </a:rPr>
              <a:t>es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0978" y="4329379"/>
            <a:ext cx="3944621" cy="8401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50" marR="5080" indent="-247650">
              <a:lnSpc>
                <a:spcPct val="120000"/>
              </a:lnSpc>
              <a:spcBef>
                <a:spcPts val="100"/>
              </a:spcBef>
            </a:pPr>
            <a:r>
              <a:rPr lang="en-US" sz="4800" spc="-5" dirty="0">
                <a:solidFill>
                  <a:srgbClr val="888888"/>
                </a:solidFill>
                <a:latin typeface="Calibri"/>
                <a:cs typeface="Calibri"/>
              </a:rPr>
              <a:t>Lecture : 10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2323" y="462279"/>
            <a:ext cx="14185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T</a:t>
            </a:r>
            <a:r>
              <a:rPr spc="-5" dirty="0"/>
              <a:t>opics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9724"/>
            <a:ext cx="6273165" cy="41224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What </a:t>
            </a:r>
            <a:r>
              <a:rPr sz="3200" spc="-5" dirty="0">
                <a:latin typeface="Calibri"/>
                <a:cs typeface="Calibri"/>
              </a:rPr>
              <a:t>is a curve and its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type?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libri"/>
                <a:cs typeface="Calibri"/>
              </a:rPr>
              <a:t>Parametric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Curve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libri"/>
                <a:cs typeface="Calibri"/>
              </a:rPr>
              <a:t>Parametric </a:t>
            </a:r>
            <a:r>
              <a:rPr sz="3200" spc="-5" dirty="0">
                <a:latin typeface="Calibri"/>
                <a:cs typeface="Calibri"/>
              </a:rPr>
              <a:t>&amp; Geometric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Continuety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Spline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Curve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HERMITE Spline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Curve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Bezier </a:t>
            </a:r>
            <a:r>
              <a:rPr sz="3200" spc="-5" dirty="0">
                <a:latin typeface="Calibri"/>
                <a:cs typeface="Calibri"/>
              </a:rPr>
              <a:t>Spline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Curve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B-Spline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Curve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5505" y="439419"/>
            <a:ext cx="58724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Calibri"/>
                <a:cs typeface="Calibri"/>
              </a:rPr>
              <a:t>Curves </a:t>
            </a:r>
            <a:r>
              <a:rPr b="1" spc="-5" dirty="0">
                <a:latin typeface="Calibri"/>
                <a:cs typeface="Calibri"/>
              </a:rPr>
              <a:t>&amp; its</a:t>
            </a:r>
            <a:r>
              <a:rPr b="1" spc="-20" dirty="0">
                <a:latin typeface="Calibri"/>
                <a:cs typeface="Calibri"/>
              </a:rPr>
              <a:t> 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85061"/>
            <a:ext cx="76409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When </a:t>
            </a:r>
            <a:r>
              <a:rPr sz="2400" spc="-15" dirty="0">
                <a:latin typeface="Calibri"/>
                <a:cs typeface="Calibri"/>
              </a:rPr>
              <a:t>we </a:t>
            </a:r>
            <a:r>
              <a:rPr sz="2400" dirty="0">
                <a:latin typeface="Calibri"/>
                <a:cs typeface="Calibri"/>
              </a:rPr>
              <a:t>think about </a:t>
            </a:r>
            <a:r>
              <a:rPr sz="2400" spc="-5" dirty="0">
                <a:latin typeface="Calibri"/>
                <a:cs typeface="Calibri"/>
              </a:rPr>
              <a:t>curve </a:t>
            </a:r>
            <a:r>
              <a:rPr sz="2400" spc="-10" dirty="0">
                <a:latin typeface="Calibri"/>
                <a:cs typeface="Calibri"/>
              </a:rPr>
              <a:t>following </a:t>
            </a:r>
            <a:r>
              <a:rPr sz="2400" spc="-5" dirty="0">
                <a:latin typeface="Calibri"/>
                <a:cs typeface="Calibri"/>
              </a:rPr>
              <a:t>geometric </a:t>
            </a:r>
            <a:r>
              <a:rPr sz="2400" spc="-10" dirty="0">
                <a:latin typeface="Calibri"/>
                <a:cs typeface="Calibri"/>
              </a:rPr>
              <a:t>figure comes  </a:t>
            </a:r>
            <a:r>
              <a:rPr sz="2400" spc="-15" dirty="0">
                <a:latin typeface="Calibri"/>
                <a:cs typeface="Calibri"/>
              </a:rPr>
              <a:t>into </a:t>
            </a:r>
            <a:r>
              <a:rPr sz="2400" dirty="0">
                <a:latin typeface="Calibri"/>
                <a:cs typeface="Calibri"/>
              </a:rPr>
              <a:t>mind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433064"/>
            <a:ext cx="5469255" cy="2004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93900">
              <a:lnSpc>
                <a:spcPct val="1201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But </a:t>
            </a:r>
            <a:r>
              <a:rPr sz="2400" spc="-5" dirty="0">
                <a:latin typeface="Calibri"/>
                <a:cs typeface="Calibri"/>
              </a:rPr>
              <a:t>Curve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more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this!  </a:t>
            </a:r>
            <a:r>
              <a:rPr sz="2400" spc="-10" dirty="0">
                <a:latin typeface="Calibri"/>
                <a:cs typeface="Calibri"/>
              </a:rPr>
              <a:t>Definition:</a:t>
            </a:r>
            <a:endParaRPr sz="2400">
              <a:latin typeface="Calibri"/>
              <a:cs typeface="Calibri"/>
            </a:endParaRPr>
          </a:p>
          <a:p>
            <a:pPr marL="927100" indent="-457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000" spc="-5" dirty="0">
                <a:latin typeface="Calibri"/>
                <a:cs typeface="Calibri"/>
              </a:rPr>
              <a:t>Lines </a:t>
            </a:r>
            <a:r>
              <a:rPr sz="2000" spc="-10" dirty="0">
                <a:latin typeface="Calibri"/>
                <a:cs typeface="Calibri"/>
              </a:rPr>
              <a:t>joining </a:t>
            </a:r>
            <a:r>
              <a:rPr sz="2000" spc="-5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set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spc="-10" dirty="0">
                <a:latin typeface="Calibri"/>
                <a:cs typeface="Calibri"/>
              </a:rPr>
              <a:t>points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alibri"/>
              <a:buAutoNum type="arabicPeriod"/>
            </a:pPr>
            <a:endParaRPr sz="2900">
              <a:latin typeface="Times New Roman"/>
              <a:cs typeface="Times New Roman"/>
            </a:endParaRPr>
          </a:p>
          <a:p>
            <a:pPr marL="927100" indent="-457200">
              <a:lnSpc>
                <a:spcPct val="100000"/>
              </a:lnSpc>
              <a:buAutoNum type="arabicPeriod"/>
              <a:tabLst>
                <a:tab pos="926465" algn="l"/>
                <a:tab pos="927100" algn="l"/>
              </a:tabLst>
            </a:pPr>
            <a:r>
              <a:rPr sz="2000" spc="-40" dirty="0">
                <a:latin typeface="Calibri"/>
                <a:cs typeface="Calibri"/>
              </a:rPr>
              <a:t>Travel </a:t>
            </a:r>
            <a:r>
              <a:rPr sz="2000" spc="-5" dirty="0">
                <a:latin typeface="Calibri"/>
                <a:cs typeface="Calibri"/>
              </a:rPr>
              <a:t>one point </a:t>
            </a:r>
            <a:r>
              <a:rPr sz="2000" spc="-10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another without </a:t>
            </a:r>
            <a:r>
              <a:rPr sz="2000" spc="-15" dirty="0">
                <a:latin typeface="Calibri"/>
                <a:cs typeface="Calibri"/>
              </a:rPr>
              <a:t>any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gap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14600" y="2338600"/>
            <a:ext cx="3309620" cy="918210"/>
          </a:xfrm>
          <a:custGeom>
            <a:avLst/>
            <a:gdLst/>
            <a:ahLst/>
            <a:cxnLst/>
            <a:rect l="l" t="t" r="r" b="b"/>
            <a:pathLst>
              <a:path w="3309620" h="918210">
                <a:moveTo>
                  <a:pt x="0" y="112499"/>
                </a:moveTo>
                <a:lnTo>
                  <a:pt x="4853" y="168621"/>
                </a:lnTo>
                <a:lnTo>
                  <a:pt x="9842" y="224502"/>
                </a:lnTo>
                <a:lnTo>
                  <a:pt x="15102" y="279897"/>
                </a:lnTo>
                <a:lnTo>
                  <a:pt x="20771" y="334566"/>
                </a:lnTo>
                <a:lnTo>
                  <a:pt x="26985" y="388265"/>
                </a:lnTo>
                <a:lnTo>
                  <a:pt x="33880" y="440753"/>
                </a:lnTo>
                <a:lnTo>
                  <a:pt x="41593" y="491787"/>
                </a:lnTo>
                <a:lnTo>
                  <a:pt x="50261" y="541125"/>
                </a:lnTo>
                <a:lnTo>
                  <a:pt x="60020" y="588524"/>
                </a:lnTo>
                <a:lnTo>
                  <a:pt x="71007" y="633742"/>
                </a:lnTo>
                <a:lnTo>
                  <a:pt x="83359" y="676538"/>
                </a:lnTo>
                <a:lnTo>
                  <a:pt x="97212" y="716668"/>
                </a:lnTo>
                <a:lnTo>
                  <a:pt x="112703" y="753890"/>
                </a:lnTo>
                <a:lnTo>
                  <a:pt x="129968" y="787962"/>
                </a:lnTo>
                <a:lnTo>
                  <a:pt x="170368" y="845687"/>
                </a:lnTo>
                <a:lnTo>
                  <a:pt x="219504" y="887904"/>
                </a:lnTo>
                <a:lnTo>
                  <a:pt x="278471" y="912674"/>
                </a:lnTo>
                <a:lnTo>
                  <a:pt x="348361" y="918060"/>
                </a:lnTo>
                <a:lnTo>
                  <a:pt x="373874" y="914366"/>
                </a:lnTo>
                <a:lnTo>
                  <a:pt x="430679" y="895161"/>
                </a:lnTo>
                <a:lnTo>
                  <a:pt x="494463" y="861835"/>
                </a:lnTo>
                <a:lnTo>
                  <a:pt x="528699" y="840490"/>
                </a:lnTo>
                <a:lnTo>
                  <a:pt x="564354" y="816350"/>
                </a:lnTo>
                <a:lnTo>
                  <a:pt x="601318" y="789660"/>
                </a:lnTo>
                <a:lnTo>
                  <a:pt x="639483" y="760665"/>
                </a:lnTo>
                <a:lnTo>
                  <a:pt x="678740" y="729610"/>
                </a:lnTo>
                <a:lnTo>
                  <a:pt x="718979" y="696741"/>
                </a:lnTo>
                <a:lnTo>
                  <a:pt x="760093" y="662303"/>
                </a:lnTo>
                <a:lnTo>
                  <a:pt x="801971" y="626540"/>
                </a:lnTo>
                <a:lnTo>
                  <a:pt x="844507" y="589698"/>
                </a:lnTo>
                <a:lnTo>
                  <a:pt x="887589" y="552022"/>
                </a:lnTo>
                <a:lnTo>
                  <a:pt x="931111" y="513757"/>
                </a:lnTo>
                <a:lnTo>
                  <a:pt x="974963" y="475147"/>
                </a:lnTo>
                <a:lnTo>
                  <a:pt x="1019035" y="436439"/>
                </a:lnTo>
                <a:lnTo>
                  <a:pt x="1063220" y="397877"/>
                </a:lnTo>
                <a:lnTo>
                  <a:pt x="1107409" y="359707"/>
                </a:lnTo>
                <a:lnTo>
                  <a:pt x="1151492" y="322173"/>
                </a:lnTo>
                <a:lnTo>
                  <a:pt x="1195361" y="285520"/>
                </a:lnTo>
                <a:lnTo>
                  <a:pt x="1238908" y="249994"/>
                </a:lnTo>
                <a:lnTo>
                  <a:pt x="1282022" y="215840"/>
                </a:lnTo>
                <a:lnTo>
                  <a:pt x="1324596" y="183302"/>
                </a:lnTo>
                <a:lnTo>
                  <a:pt x="1366520" y="152626"/>
                </a:lnTo>
                <a:lnTo>
                  <a:pt x="1407686" y="124058"/>
                </a:lnTo>
                <a:lnTo>
                  <a:pt x="1447985" y="97841"/>
                </a:lnTo>
                <a:lnTo>
                  <a:pt x="1487308" y="74222"/>
                </a:lnTo>
                <a:lnTo>
                  <a:pt x="1525547" y="53444"/>
                </a:lnTo>
                <a:lnTo>
                  <a:pt x="1562592" y="35754"/>
                </a:lnTo>
                <a:lnTo>
                  <a:pt x="1598335" y="21397"/>
                </a:lnTo>
                <a:lnTo>
                  <a:pt x="1665477" y="3660"/>
                </a:lnTo>
                <a:lnTo>
                  <a:pt x="1708360" y="0"/>
                </a:lnTo>
                <a:lnTo>
                  <a:pt x="1749976" y="2204"/>
                </a:lnTo>
                <a:lnTo>
                  <a:pt x="1790399" y="9800"/>
                </a:lnTo>
                <a:lnTo>
                  <a:pt x="1829700" y="22313"/>
                </a:lnTo>
                <a:lnTo>
                  <a:pt x="1867954" y="39268"/>
                </a:lnTo>
                <a:lnTo>
                  <a:pt x="1905233" y="60190"/>
                </a:lnTo>
                <a:lnTo>
                  <a:pt x="1941611" y="84606"/>
                </a:lnTo>
                <a:lnTo>
                  <a:pt x="1977160" y="112041"/>
                </a:lnTo>
                <a:lnTo>
                  <a:pt x="2011954" y="142020"/>
                </a:lnTo>
                <a:lnTo>
                  <a:pt x="2046065" y="174070"/>
                </a:lnTo>
                <a:lnTo>
                  <a:pt x="2079567" y="207715"/>
                </a:lnTo>
                <a:lnTo>
                  <a:pt x="2112532" y="242481"/>
                </a:lnTo>
                <a:lnTo>
                  <a:pt x="2145035" y="277894"/>
                </a:lnTo>
                <a:lnTo>
                  <a:pt x="2177147" y="313480"/>
                </a:lnTo>
                <a:lnTo>
                  <a:pt x="2208942" y="348764"/>
                </a:lnTo>
                <a:lnTo>
                  <a:pt x="2240493" y="383271"/>
                </a:lnTo>
                <a:lnTo>
                  <a:pt x="2271873" y="416528"/>
                </a:lnTo>
                <a:lnTo>
                  <a:pt x="2303155" y="448059"/>
                </a:lnTo>
                <a:lnTo>
                  <a:pt x="2334412" y="477390"/>
                </a:lnTo>
                <a:lnTo>
                  <a:pt x="2365717" y="504048"/>
                </a:lnTo>
                <a:lnTo>
                  <a:pt x="2397143" y="527557"/>
                </a:lnTo>
                <a:lnTo>
                  <a:pt x="2460652" y="563233"/>
                </a:lnTo>
                <a:lnTo>
                  <a:pt x="2525522" y="580621"/>
                </a:lnTo>
                <a:lnTo>
                  <a:pt x="2763545" y="529892"/>
                </a:lnTo>
                <a:lnTo>
                  <a:pt x="3020107" y="390057"/>
                </a:lnTo>
                <a:lnTo>
                  <a:pt x="3225305" y="244793"/>
                </a:lnTo>
                <a:lnTo>
                  <a:pt x="3309239" y="177777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57800" y="4191000"/>
            <a:ext cx="304800" cy="381000"/>
          </a:xfrm>
          <a:custGeom>
            <a:avLst/>
            <a:gdLst/>
            <a:ahLst/>
            <a:cxnLst/>
            <a:rect l="l" t="t" r="r" b="b"/>
            <a:pathLst>
              <a:path w="304800" h="381000">
                <a:moveTo>
                  <a:pt x="0" y="381000"/>
                </a:moveTo>
                <a:lnTo>
                  <a:pt x="304800" y="0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62600" y="4191000"/>
            <a:ext cx="838200" cy="533400"/>
          </a:xfrm>
          <a:custGeom>
            <a:avLst/>
            <a:gdLst/>
            <a:ahLst/>
            <a:cxnLst/>
            <a:rect l="l" t="t" r="r" b="b"/>
            <a:pathLst>
              <a:path w="838200" h="533400">
                <a:moveTo>
                  <a:pt x="0" y="0"/>
                </a:moveTo>
                <a:lnTo>
                  <a:pt x="838200" y="533400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00800" y="3810000"/>
            <a:ext cx="685800" cy="914400"/>
          </a:xfrm>
          <a:custGeom>
            <a:avLst/>
            <a:gdLst/>
            <a:ahLst/>
            <a:cxnLst/>
            <a:rect l="l" t="t" r="r" b="b"/>
            <a:pathLst>
              <a:path w="685800" h="914400">
                <a:moveTo>
                  <a:pt x="0" y="914400"/>
                </a:moveTo>
                <a:lnTo>
                  <a:pt x="685800" y="0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086600" y="3810000"/>
            <a:ext cx="1295400" cy="381000"/>
          </a:xfrm>
          <a:custGeom>
            <a:avLst/>
            <a:gdLst/>
            <a:ahLst/>
            <a:cxnLst/>
            <a:rect l="l" t="t" r="r" b="b"/>
            <a:pathLst>
              <a:path w="1295400" h="381000">
                <a:moveTo>
                  <a:pt x="0" y="0"/>
                </a:moveTo>
                <a:lnTo>
                  <a:pt x="1295400" y="381000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73700" y="4102100"/>
            <a:ext cx="101600" cy="147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79821" y="4515739"/>
            <a:ext cx="101600" cy="1473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69300" y="4145660"/>
            <a:ext cx="101600" cy="147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73900" y="3764660"/>
            <a:ext cx="101600" cy="147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11900" y="4622419"/>
            <a:ext cx="101600" cy="147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324600" y="5069836"/>
            <a:ext cx="2057400" cy="706120"/>
          </a:xfrm>
          <a:custGeom>
            <a:avLst/>
            <a:gdLst/>
            <a:ahLst/>
            <a:cxnLst/>
            <a:rect l="l" t="t" r="r" b="b"/>
            <a:pathLst>
              <a:path w="2057400" h="706120">
                <a:moveTo>
                  <a:pt x="0" y="86236"/>
                </a:moveTo>
                <a:lnTo>
                  <a:pt x="4156" y="145542"/>
                </a:lnTo>
                <a:lnTo>
                  <a:pt x="8533" y="204360"/>
                </a:lnTo>
                <a:lnTo>
                  <a:pt x="13351" y="262206"/>
                </a:lnTo>
                <a:lnTo>
                  <a:pt x="18831" y="318597"/>
                </a:lnTo>
                <a:lnTo>
                  <a:pt x="25194" y="373048"/>
                </a:lnTo>
                <a:lnTo>
                  <a:pt x="32660" y="425076"/>
                </a:lnTo>
                <a:lnTo>
                  <a:pt x="41450" y="474196"/>
                </a:lnTo>
                <a:lnTo>
                  <a:pt x="51784" y="519926"/>
                </a:lnTo>
                <a:lnTo>
                  <a:pt x="63883" y="561779"/>
                </a:lnTo>
                <a:lnTo>
                  <a:pt x="77968" y="599274"/>
                </a:lnTo>
                <a:lnTo>
                  <a:pt x="112978" y="659251"/>
                </a:lnTo>
                <a:lnTo>
                  <a:pt x="158578" y="695984"/>
                </a:lnTo>
                <a:lnTo>
                  <a:pt x="216534" y="705603"/>
                </a:lnTo>
                <a:lnTo>
                  <a:pt x="240418" y="700302"/>
                </a:lnTo>
                <a:lnTo>
                  <a:pt x="295753" y="670635"/>
                </a:lnTo>
                <a:lnTo>
                  <a:pt x="326768" y="647487"/>
                </a:lnTo>
                <a:lnTo>
                  <a:pt x="359723" y="619606"/>
                </a:lnTo>
                <a:lnTo>
                  <a:pt x="394400" y="587603"/>
                </a:lnTo>
                <a:lnTo>
                  <a:pt x="430580" y="552085"/>
                </a:lnTo>
                <a:lnTo>
                  <a:pt x="468043" y="513661"/>
                </a:lnTo>
                <a:lnTo>
                  <a:pt x="506573" y="472940"/>
                </a:lnTo>
                <a:lnTo>
                  <a:pt x="545949" y="430531"/>
                </a:lnTo>
                <a:lnTo>
                  <a:pt x="585953" y="387043"/>
                </a:lnTo>
                <a:lnTo>
                  <a:pt x="626367" y="343083"/>
                </a:lnTo>
                <a:lnTo>
                  <a:pt x="666973" y="299262"/>
                </a:lnTo>
                <a:lnTo>
                  <a:pt x="707550" y="256187"/>
                </a:lnTo>
                <a:lnTo>
                  <a:pt x="747882" y="214467"/>
                </a:lnTo>
                <a:lnTo>
                  <a:pt x="787748" y="174711"/>
                </a:lnTo>
                <a:lnTo>
                  <a:pt x="826931" y="137528"/>
                </a:lnTo>
                <a:lnTo>
                  <a:pt x="865212" y="103526"/>
                </a:lnTo>
                <a:lnTo>
                  <a:pt x="902371" y="73315"/>
                </a:lnTo>
                <a:lnTo>
                  <a:pt x="938192" y="47502"/>
                </a:lnTo>
                <a:lnTo>
                  <a:pt x="972454" y="26697"/>
                </a:lnTo>
                <a:lnTo>
                  <a:pt x="1035430" y="2543"/>
                </a:lnTo>
                <a:lnTo>
                  <a:pt x="1074377" y="0"/>
                </a:lnTo>
                <a:lnTo>
                  <a:pt x="1111663" y="6835"/>
                </a:lnTo>
                <a:lnTo>
                  <a:pt x="1147432" y="21889"/>
                </a:lnTo>
                <a:lnTo>
                  <a:pt x="1181830" y="44002"/>
                </a:lnTo>
                <a:lnTo>
                  <a:pt x="1215000" y="72015"/>
                </a:lnTo>
                <a:lnTo>
                  <a:pt x="1247090" y="104768"/>
                </a:lnTo>
                <a:lnTo>
                  <a:pt x="1278242" y="141101"/>
                </a:lnTo>
                <a:lnTo>
                  <a:pt x="1308602" y="179853"/>
                </a:lnTo>
                <a:lnTo>
                  <a:pt x="1338315" y="219866"/>
                </a:lnTo>
                <a:lnTo>
                  <a:pt x="1367525" y="259979"/>
                </a:lnTo>
                <a:lnTo>
                  <a:pt x="1396378" y="299032"/>
                </a:lnTo>
                <a:lnTo>
                  <a:pt x="1425018" y="335867"/>
                </a:lnTo>
                <a:lnTo>
                  <a:pt x="1453591" y="369322"/>
                </a:lnTo>
                <a:lnTo>
                  <a:pt x="1482240" y="398238"/>
                </a:lnTo>
                <a:lnTo>
                  <a:pt x="1540350" y="437814"/>
                </a:lnTo>
                <a:lnTo>
                  <a:pt x="1570101" y="446154"/>
                </a:lnTo>
                <a:lnTo>
                  <a:pt x="1718089" y="407205"/>
                </a:lnTo>
                <a:lnTo>
                  <a:pt x="1877615" y="299723"/>
                </a:lnTo>
                <a:lnTo>
                  <a:pt x="2005208" y="188051"/>
                </a:lnTo>
                <a:lnTo>
                  <a:pt x="2057400" y="136528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336660" y="5101463"/>
            <a:ext cx="101600" cy="147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00978" y="5090540"/>
            <a:ext cx="101600" cy="1473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5940" y="6115050"/>
            <a:ext cx="77654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Definition: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curve </a:t>
            </a:r>
            <a:r>
              <a:rPr sz="1800" dirty="0">
                <a:latin typeface="Calibri"/>
                <a:cs typeface="Calibri"/>
              </a:rPr>
              <a:t>is a </a:t>
            </a:r>
            <a:r>
              <a:rPr sz="1800" spc="-10" dirty="0">
                <a:latin typeface="Calibri"/>
                <a:cs typeface="Calibri"/>
              </a:rPr>
              <a:t>set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spc="-10" dirty="0">
                <a:latin typeface="Calibri"/>
                <a:cs typeface="Calibri"/>
              </a:rPr>
              <a:t>infinite </a:t>
            </a:r>
            <a:r>
              <a:rPr sz="1800" spc="-5" dirty="0">
                <a:latin typeface="Calibri"/>
                <a:cs typeface="Calibri"/>
              </a:rPr>
              <a:t>points </a:t>
            </a:r>
            <a:r>
              <a:rPr sz="1800" dirty="0">
                <a:latin typeface="Calibri"/>
                <a:cs typeface="Calibri"/>
              </a:rPr>
              <a:t>in which each </a:t>
            </a:r>
            <a:r>
              <a:rPr sz="1800" spc="-10" dirty="0">
                <a:latin typeface="Calibri"/>
                <a:cs typeface="Calibri"/>
              </a:rPr>
              <a:t>point </a:t>
            </a:r>
            <a:r>
              <a:rPr sz="1800" dirty="0">
                <a:latin typeface="Calibri"/>
                <a:cs typeface="Calibri"/>
              </a:rPr>
              <a:t>has </a:t>
            </a:r>
            <a:r>
              <a:rPr sz="1800" spc="-10" dirty="0">
                <a:latin typeface="Calibri"/>
                <a:cs typeface="Calibri"/>
              </a:rPr>
              <a:t>two neighbours  </a:t>
            </a:r>
            <a:r>
              <a:rPr sz="1800" spc="-15" dirty="0">
                <a:latin typeface="Calibri"/>
                <a:cs typeface="Calibri"/>
              </a:rPr>
              <a:t>except </a:t>
            </a:r>
            <a:r>
              <a:rPr sz="1800" dirty="0">
                <a:latin typeface="Calibri"/>
                <a:cs typeface="Calibri"/>
              </a:rPr>
              <a:t>end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points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5505" y="439419"/>
            <a:ext cx="58724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Calibri"/>
                <a:cs typeface="Calibri"/>
              </a:rPr>
              <a:t>Curves </a:t>
            </a:r>
            <a:r>
              <a:rPr b="1" spc="-5" dirty="0">
                <a:latin typeface="Calibri"/>
                <a:cs typeface="Calibri"/>
              </a:rPr>
              <a:t>&amp; its</a:t>
            </a:r>
            <a:r>
              <a:rPr b="1" spc="-20" dirty="0">
                <a:latin typeface="Calibri"/>
                <a:cs typeface="Calibri"/>
              </a:rPr>
              <a:t> 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37055"/>
            <a:ext cx="1799589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latin typeface="Calibri"/>
                <a:cs typeface="Calibri"/>
              </a:rPr>
              <a:t>Example </a:t>
            </a:r>
            <a:r>
              <a:rPr sz="1900" spc="-5" dirty="0">
                <a:latin typeface="Calibri"/>
                <a:cs typeface="Calibri"/>
              </a:rPr>
              <a:t>of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curves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7840" y="3363976"/>
            <a:ext cx="8161020" cy="2953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900" spc="-15" dirty="0">
                <a:latin typeface="Calibri"/>
                <a:cs typeface="Calibri"/>
              </a:rPr>
              <a:t>Types:</a:t>
            </a:r>
            <a:endParaRPr sz="1900">
              <a:latin typeface="Calibri"/>
              <a:cs typeface="Calibri"/>
            </a:endParaRPr>
          </a:p>
          <a:p>
            <a:pPr marL="965200" indent="-457200">
              <a:lnSpc>
                <a:spcPts val="1920"/>
              </a:lnSpc>
              <a:spcBef>
                <a:spcPts val="15"/>
              </a:spcBef>
              <a:buAutoNum type="arabicPeriod"/>
              <a:tabLst>
                <a:tab pos="964565" algn="l"/>
                <a:tab pos="965200" algn="l"/>
              </a:tabLst>
            </a:pPr>
            <a:r>
              <a:rPr sz="1600" b="1" dirty="0">
                <a:latin typeface="Calibri"/>
                <a:cs typeface="Calibri"/>
              </a:rPr>
              <a:t>Explicit</a:t>
            </a:r>
            <a:endParaRPr sz="1600">
              <a:latin typeface="Calibri"/>
              <a:cs typeface="Calibri"/>
            </a:endParaRPr>
          </a:p>
          <a:p>
            <a:pPr marL="965200" marR="55880" indent="48260" algn="just">
              <a:lnSpc>
                <a:spcPct val="80000"/>
              </a:lnSpc>
              <a:spcBef>
                <a:spcPts val="405"/>
              </a:spcBef>
            </a:pPr>
            <a:r>
              <a:rPr sz="1700" spc="-5" dirty="0">
                <a:latin typeface="Calibri"/>
                <a:cs typeface="Calibri"/>
              </a:rPr>
              <a:t>A mathematical function y = f(x) can be </a:t>
            </a:r>
            <a:r>
              <a:rPr sz="1700" spc="-10" dirty="0">
                <a:latin typeface="Calibri"/>
                <a:cs typeface="Calibri"/>
              </a:rPr>
              <a:t>plotted </a:t>
            </a:r>
            <a:r>
              <a:rPr sz="1700" spc="-5" dirty="0">
                <a:latin typeface="Calibri"/>
                <a:cs typeface="Calibri"/>
              </a:rPr>
              <a:t>as a curve. Such a function </a:t>
            </a:r>
            <a:r>
              <a:rPr sz="1700" spc="-10" dirty="0">
                <a:latin typeface="Calibri"/>
                <a:cs typeface="Calibri"/>
              </a:rPr>
              <a:t>is </a:t>
            </a:r>
            <a:r>
              <a:rPr sz="1700" spc="-5" dirty="0">
                <a:latin typeface="Calibri"/>
                <a:cs typeface="Calibri"/>
              </a:rPr>
              <a:t>the  </a:t>
            </a:r>
            <a:r>
              <a:rPr sz="1700" spc="-10" dirty="0">
                <a:latin typeface="Calibri"/>
                <a:cs typeface="Calibri"/>
              </a:rPr>
              <a:t>explicit representation </a:t>
            </a:r>
            <a:r>
              <a:rPr sz="1700" spc="-5" dirty="0">
                <a:latin typeface="Calibri"/>
                <a:cs typeface="Calibri"/>
              </a:rPr>
              <a:t>of the curve. The </a:t>
            </a:r>
            <a:r>
              <a:rPr sz="1700" spc="-10" dirty="0">
                <a:latin typeface="Calibri"/>
                <a:cs typeface="Calibri"/>
              </a:rPr>
              <a:t>explicit representation </a:t>
            </a:r>
            <a:r>
              <a:rPr sz="1700" spc="-5" dirty="0">
                <a:latin typeface="Calibri"/>
                <a:cs typeface="Calibri"/>
              </a:rPr>
              <a:t>is not </a:t>
            </a:r>
            <a:r>
              <a:rPr sz="1700" spc="-10" dirty="0">
                <a:latin typeface="Calibri"/>
                <a:cs typeface="Calibri"/>
              </a:rPr>
              <a:t>general,  </a:t>
            </a:r>
            <a:r>
              <a:rPr sz="1700" spc="-5" dirty="0">
                <a:latin typeface="Calibri"/>
                <a:cs typeface="Calibri"/>
              </a:rPr>
              <a:t>since it </a:t>
            </a:r>
            <a:r>
              <a:rPr sz="1700" spc="-10" dirty="0">
                <a:latin typeface="Calibri"/>
                <a:cs typeface="Calibri"/>
              </a:rPr>
              <a:t>cannot represent </a:t>
            </a:r>
            <a:r>
              <a:rPr sz="1700" spc="-5" dirty="0">
                <a:latin typeface="Calibri"/>
                <a:cs typeface="Calibri"/>
              </a:rPr>
              <a:t>vertical lines and is also single-valued. </a:t>
            </a:r>
            <a:r>
              <a:rPr sz="1700" spc="-15" dirty="0">
                <a:latin typeface="Calibri"/>
                <a:cs typeface="Calibri"/>
              </a:rPr>
              <a:t>For </a:t>
            </a:r>
            <a:r>
              <a:rPr sz="1700" spc="-5" dirty="0">
                <a:latin typeface="Calibri"/>
                <a:cs typeface="Calibri"/>
              </a:rPr>
              <a:t>each </a:t>
            </a:r>
            <a:r>
              <a:rPr sz="1700" spc="-10" dirty="0">
                <a:latin typeface="Calibri"/>
                <a:cs typeface="Calibri"/>
              </a:rPr>
              <a:t>value </a:t>
            </a:r>
            <a:r>
              <a:rPr sz="1700" spc="-5" dirty="0">
                <a:latin typeface="Calibri"/>
                <a:cs typeface="Calibri"/>
              </a:rPr>
              <a:t>of  x, only a single </a:t>
            </a:r>
            <a:r>
              <a:rPr sz="1700" spc="-10" dirty="0">
                <a:latin typeface="Calibri"/>
                <a:cs typeface="Calibri"/>
              </a:rPr>
              <a:t>value </a:t>
            </a:r>
            <a:r>
              <a:rPr sz="1700" spc="-5" dirty="0">
                <a:latin typeface="Calibri"/>
                <a:cs typeface="Calibri"/>
              </a:rPr>
              <a:t>of y is </a:t>
            </a:r>
            <a:r>
              <a:rPr sz="1700" spc="-10" dirty="0">
                <a:latin typeface="Calibri"/>
                <a:cs typeface="Calibri"/>
              </a:rPr>
              <a:t>normally computed </a:t>
            </a:r>
            <a:r>
              <a:rPr sz="1700" spc="-5" dirty="0">
                <a:latin typeface="Calibri"/>
                <a:cs typeface="Calibri"/>
              </a:rPr>
              <a:t>by the</a:t>
            </a:r>
            <a:r>
              <a:rPr sz="1700" spc="12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function</a:t>
            </a:r>
            <a:endParaRPr sz="1700">
              <a:latin typeface="Calibri"/>
              <a:cs typeface="Calibri"/>
            </a:endParaRPr>
          </a:p>
          <a:p>
            <a:pPr marL="965200" indent="-457200" algn="just">
              <a:lnSpc>
                <a:spcPts val="2270"/>
              </a:lnSpc>
              <a:buAutoNum type="arabicPeriod" startAt="2"/>
              <a:tabLst>
                <a:tab pos="965200" algn="l"/>
              </a:tabLst>
            </a:pPr>
            <a:r>
              <a:rPr sz="1900" b="1" dirty="0">
                <a:latin typeface="Calibri"/>
                <a:cs typeface="Calibri"/>
              </a:rPr>
              <a:t>Implicit</a:t>
            </a:r>
            <a:endParaRPr sz="1900">
              <a:latin typeface="Calibri"/>
              <a:cs typeface="Calibri"/>
            </a:endParaRPr>
          </a:p>
          <a:p>
            <a:pPr marL="965200" marR="90805" algn="just">
              <a:lnSpc>
                <a:spcPct val="81200"/>
              </a:lnSpc>
              <a:spcBef>
                <a:spcPts val="580"/>
              </a:spcBef>
            </a:pPr>
            <a:r>
              <a:rPr sz="1700" spc="-5" dirty="0">
                <a:latin typeface="Calibri"/>
                <a:cs typeface="Calibri"/>
              </a:rPr>
              <a:t>Implicit curve </a:t>
            </a:r>
            <a:r>
              <a:rPr sz="1700" spc="-10" dirty="0">
                <a:latin typeface="Calibri"/>
                <a:cs typeface="Calibri"/>
              </a:rPr>
              <a:t>representations define </a:t>
            </a:r>
            <a:r>
              <a:rPr sz="1700" spc="-5" dirty="0">
                <a:latin typeface="Calibri"/>
                <a:cs typeface="Calibri"/>
              </a:rPr>
              <a:t>the </a:t>
            </a:r>
            <a:r>
              <a:rPr sz="1700" spc="-10" dirty="0">
                <a:latin typeface="Calibri"/>
                <a:cs typeface="Calibri"/>
              </a:rPr>
              <a:t>set </a:t>
            </a:r>
            <a:r>
              <a:rPr sz="1700" spc="-5" dirty="0">
                <a:latin typeface="Calibri"/>
                <a:cs typeface="Calibri"/>
              </a:rPr>
              <a:t>of </a:t>
            </a:r>
            <a:r>
              <a:rPr sz="1700" spc="-10" dirty="0">
                <a:latin typeface="Calibri"/>
                <a:cs typeface="Calibri"/>
              </a:rPr>
              <a:t>points </a:t>
            </a:r>
            <a:r>
              <a:rPr sz="1700" spc="-5" dirty="0">
                <a:latin typeface="Calibri"/>
                <a:cs typeface="Calibri"/>
              </a:rPr>
              <a:t>on a curve by employing a  </a:t>
            </a:r>
            <a:r>
              <a:rPr sz="1700" spc="-10" dirty="0">
                <a:latin typeface="Calibri"/>
                <a:cs typeface="Calibri"/>
              </a:rPr>
              <a:t>procedure </a:t>
            </a:r>
            <a:r>
              <a:rPr sz="1700" spc="-5" dirty="0">
                <a:latin typeface="Calibri"/>
                <a:cs typeface="Calibri"/>
              </a:rPr>
              <a:t>that can </a:t>
            </a:r>
            <a:r>
              <a:rPr sz="1700" spc="-10" dirty="0">
                <a:latin typeface="Calibri"/>
                <a:cs typeface="Calibri"/>
              </a:rPr>
              <a:t>test </a:t>
            </a:r>
            <a:r>
              <a:rPr sz="1700" spc="-15" dirty="0">
                <a:latin typeface="Calibri"/>
                <a:cs typeface="Calibri"/>
              </a:rPr>
              <a:t>to </a:t>
            </a:r>
            <a:r>
              <a:rPr sz="1700" spc="-5" dirty="0">
                <a:latin typeface="Calibri"/>
                <a:cs typeface="Calibri"/>
              </a:rPr>
              <a:t>see if a </a:t>
            </a:r>
            <a:r>
              <a:rPr sz="1700" spc="-10" dirty="0">
                <a:latin typeface="Calibri"/>
                <a:cs typeface="Calibri"/>
              </a:rPr>
              <a:t>point </a:t>
            </a:r>
            <a:r>
              <a:rPr sz="1700" spc="-5" dirty="0">
                <a:latin typeface="Calibri"/>
                <a:cs typeface="Calibri"/>
              </a:rPr>
              <a:t>in on the curve. </a:t>
            </a:r>
            <a:r>
              <a:rPr sz="1700" spc="-20" dirty="0">
                <a:latin typeface="Calibri"/>
                <a:cs typeface="Calibri"/>
              </a:rPr>
              <a:t>Usually, </a:t>
            </a:r>
            <a:r>
              <a:rPr sz="1700" spc="-5" dirty="0">
                <a:latin typeface="Calibri"/>
                <a:cs typeface="Calibri"/>
              </a:rPr>
              <a:t>an implicit curve  is </a:t>
            </a:r>
            <a:r>
              <a:rPr sz="1700" spc="-10" dirty="0">
                <a:latin typeface="Calibri"/>
                <a:cs typeface="Calibri"/>
              </a:rPr>
              <a:t>defined </a:t>
            </a:r>
            <a:r>
              <a:rPr sz="1700" spc="-5" dirty="0">
                <a:latin typeface="Calibri"/>
                <a:cs typeface="Calibri"/>
              </a:rPr>
              <a:t>by an implicit function of the </a:t>
            </a:r>
            <a:r>
              <a:rPr sz="1700" spc="-15" dirty="0">
                <a:latin typeface="Calibri"/>
                <a:cs typeface="Calibri"/>
              </a:rPr>
              <a:t>form,</a:t>
            </a:r>
            <a:r>
              <a:rPr sz="1700" spc="7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f(x,y)=0</a:t>
            </a:r>
            <a:endParaRPr sz="1700">
              <a:latin typeface="Calibri"/>
              <a:cs typeface="Calibri"/>
            </a:endParaRPr>
          </a:p>
          <a:p>
            <a:pPr marL="965200" algn="just">
              <a:lnSpc>
                <a:spcPct val="100000"/>
              </a:lnSpc>
            </a:pPr>
            <a:r>
              <a:rPr sz="1700" spc="-5" dirty="0">
                <a:latin typeface="Calibri"/>
                <a:cs typeface="Calibri"/>
              </a:rPr>
              <a:t>A </a:t>
            </a:r>
            <a:r>
              <a:rPr sz="1700" spc="-10" dirty="0">
                <a:latin typeface="Calibri"/>
                <a:cs typeface="Calibri"/>
              </a:rPr>
              <a:t>common example </a:t>
            </a:r>
            <a:r>
              <a:rPr sz="1700" spc="-5" dirty="0">
                <a:latin typeface="Calibri"/>
                <a:cs typeface="Calibri"/>
              </a:rPr>
              <a:t>is the circle, whose implicit </a:t>
            </a:r>
            <a:r>
              <a:rPr sz="1700" spc="-10" dirty="0">
                <a:latin typeface="Calibri"/>
                <a:cs typeface="Calibri"/>
              </a:rPr>
              <a:t>representation</a:t>
            </a:r>
            <a:r>
              <a:rPr sz="1700" spc="9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is</a:t>
            </a:r>
            <a:endParaRPr sz="1700">
              <a:latin typeface="Calibri"/>
              <a:cs typeface="Calibri"/>
            </a:endParaRPr>
          </a:p>
          <a:p>
            <a:pPr marL="1879600" algn="just">
              <a:lnSpc>
                <a:spcPct val="100000"/>
              </a:lnSpc>
            </a:pPr>
            <a:r>
              <a:rPr sz="1700" b="1" spc="5" dirty="0">
                <a:latin typeface="Calibri"/>
                <a:cs typeface="Calibri"/>
              </a:rPr>
              <a:t>x</a:t>
            </a:r>
            <a:r>
              <a:rPr sz="1650" b="1" spc="7" baseline="25252" dirty="0">
                <a:latin typeface="Calibri"/>
                <a:cs typeface="Calibri"/>
              </a:rPr>
              <a:t>2 </a:t>
            </a:r>
            <a:r>
              <a:rPr sz="1700" b="1" spc="-5" dirty="0">
                <a:latin typeface="Calibri"/>
                <a:cs typeface="Calibri"/>
              </a:rPr>
              <a:t>+ </a:t>
            </a:r>
            <a:r>
              <a:rPr sz="1700" b="1" spc="5" dirty="0">
                <a:latin typeface="Calibri"/>
                <a:cs typeface="Calibri"/>
              </a:rPr>
              <a:t>y</a:t>
            </a:r>
            <a:r>
              <a:rPr sz="1650" b="1" spc="7" baseline="25252" dirty="0">
                <a:latin typeface="Calibri"/>
                <a:cs typeface="Calibri"/>
              </a:rPr>
              <a:t>2 </a:t>
            </a:r>
            <a:r>
              <a:rPr sz="1700" b="1" spc="-5" dirty="0">
                <a:latin typeface="Calibri"/>
                <a:cs typeface="Calibri"/>
              </a:rPr>
              <a:t>- </a:t>
            </a:r>
            <a:r>
              <a:rPr sz="1700" b="1" spc="5" dirty="0">
                <a:latin typeface="Calibri"/>
                <a:cs typeface="Calibri"/>
              </a:rPr>
              <a:t>R</a:t>
            </a:r>
            <a:r>
              <a:rPr sz="1650" b="1" spc="7" baseline="25252" dirty="0">
                <a:latin typeface="Calibri"/>
                <a:cs typeface="Calibri"/>
              </a:rPr>
              <a:t>2 </a:t>
            </a:r>
            <a:r>
              <a:rPr sz="1700" b="1" spc="-5" dirty="0">
                <a:latin typeface="Calibri"/>
                <a:cs typeface="Calibri"/>
              </a:rPr>
              <a:t>=</a:t>
            </a:r>
            <a:r>
              <a:rPr sz="1700" b="1" spc="150" dirty="0">
                <a:latin typeface="Calibri"/>
                <a:cs typeface="Calibri"/>
              </a:rPr>
              <a:t> </a:t>
            </a:r>
            <a:r>
              <a:rPr sz="1700" b="1" spc="-5" dirty="0">
                <a:latin typeface="Calibri"/>
                <a:cs typeface="Calibri"/>
              </a:rPr>
              <a:t>0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2000" y="2110187"/>
            <a:ext cx="1524000" cy="918210"/>
          </a:xfrm>
          <a:custGeom>
            <a:avLst/>
            <a:gdLst/>
            <a:ahLst/>
            <a:cxnLst/>
            <a:rect l="l" t="t" r="r" b="b"/>
            <a:pathLst>
              <a:path w="1524000" h="918210">
                <a:moveTo>
                  <a:pt x="0" y="112312"/>
                </a:moveTo>
                <a:lnTo>
                  <a:pt x="2589" y="177280"/>
                </a:lnTo>
                <a:lnTo>
                  <a:pt x="5275" y="241872"/>
                </a:lnTo>
                <a:lnTo>
                  <a:pt x="8157" y="305712"/>
                </a:lnTo>
                <a:lnTo>
                  <a:pt x="11331" y="368423"/>
                </a:lnTo>
                <a:lnTo>
                  <a:pt x="14896" y="429629"/>
                </a:lnTo>
                <a:lnTo>
                  <a:pt x="18949" y="488954"/>
                </a:lnTo>
                <a:lnTo>
                  <a:pt x="23587" y="546023"/>
                </a:lnTo>
                <a:lnTo>
                  <a:pt x="28908" y="600458"/>
                </a:lnTo>
                <a:lnTo>
                  <a:pt x="35010" y="651884"/>
                </a:lnTo>
                <a:lnTo>
                  <a:pt x="41989" y="699925"/>
                </a:lnTo>
                <a:lnTo>
                  <a:pt x="49945" y="744203"/>
                </a:lnTo>
                <a:lnTo>
                  <a:pt x="58974" y="784344"/>
                </a:lnTo>
                <a:lnTo>
                  <a:pt x="80642" y="850708"/>
                </a:lnTo>
                <a:lnTo>
                  <a:pt x="107775" y="896006"/>
                </a:lnTo>
                <a:lnTo>
                  <a:pt x="141152" y="917230"/>
                </a:lnTo>
                <a:lnTo>
                  <a:pt x="160426" y="917873"/>
                </a:lnTo>
                <a:lnTo>
                  <a:pt x="177338" y="911439"/>
                </a:lnTo>
                <a:lnTo>
                  <a:pt x="216338" y="875676"/>
                </a:lnTo>
                <a:lnTo>
                  <a:pt x="261287" y="814033"/>
                </a:lnTo>
                <a:lnTo>
                  <a:pt x="285637" y="775248"/>
                </a:lnTo>
                <a:lnTo>
                  <a:pt x="311046" y="732084"/>
                </a:lnTo>
                <a:lnTo>
                  <a:pt x="337373" y="685238"/>
                </a:lnTo>
                <a:lnTo>
                  <a:pt x="364474" y="635405"/>
                </a:lnTo>
                <a:lnTo>
                  <a:pt x="392206" y="583283"/>
                </a:lnTo>
                <a:lnTo>
                  <a:pt x="420428" y="529570"/>
                </a:lnTo>
                <a:lnTo>
                  <a:pt x="448997" y="474961"/>
                </a:lnTo>
                <a:lnTo>
                  <a:pt x="477770" y="420153"/>
                </a:lnTo>
                <a:lnTo>
                  <a:pt x="506604" y="365844"/>
                </a:lnTo>
                <a:lnTo>
                  <a:pt x="535357" y="312731"/>
                </a:lnTo>
                <a:lnTo>
                  <a:pt x="563886" y="261509"/>
                </a:lnTo>
                <a:lnTo>
                  <a:pt x="592049" y="212876"/>
                </a:lnTo>
                <a:lnTo>
                  <a:pt x="619703" y="167530"/>
                </a:lnTo>
                <a:lnTo>
                  <a:pt x="646705" y="126165"/>
                </a:lnTo>
                <a:lnTo>
                  <a:pt x="672914" y="89481"/>
                </a:lnTo>
                <a:lnTo>
                  <a:pt x="698185" y="58172"/>
                </a:lnTo>
                <a:lnTo>
                  <a:pt x="745347" y="14472"/>
                </a:lnTo>
                <a:lnTo>
                  <a:pt x="794227" y="0"/>
                </a:lnTo>
                <a:lnTo>
                  <a:pt x="820399" y="7484"/>
                </a:lnTo>
                <a:lnTo>
                  <a:pt x="869799" y="50245"/>
                </a:lnTo>
                <a:lnTo>
                  <a:pt x="893208" y="82979"/>
                </a:lnTo>
                <a:lnTo>
                  <a:pt x="915876" y="121588"/>
                </a:lnTo>
                <a:lnTo>
                  <a:pt x="937895" y="164800"/>
                </a:lnTo>
                <a:lnTo>
                  <a:pt x="959354" y="211344"/>
                </a:lnTo>
                <a:lnTo>
                  <a:pt x="980344" y="259950"/>
                </a:lnTo>
                <a:lnTo>
                  <a:pt x="1000956" y="309346"/>
                </a:lnTo>
                <a:lnTo>
                  <a:pt x="1021279" y="358261"/>
                </a:lnTo>
                <a:lnTo>
                  <a:pt x="1041404" y="405424"/>
                </a:lnTo>
                <a:lnTo>
                  <a:pt x="1061422" y="449564"/>
                </a:lnTo>
                <a:lnTo>
                  <a:pt x="1081423" y="489410"/>
                </a:lnTo>
                <a:lnTo>
                  <a:pt x="1101498" y="523691"/>
                </a:lnTo>
                <a:lnTo>
                  <a:pt x="1142228" y="570474"/>
                </a:lnTo>
                <a:lnTo>
                  <a:pt x="1163066" y="580434"/>
                </a:lnTo>
                <a:lnTo>
                  <a:pt x="1272665" y="529706"/>
                </a:lnTo>
                <a:lnTo>
                  <a:pt x="1390824" y="389871"/>
                </a:lnTo>
                <a:lnTo>
                  <a:pt x="1485338" y="244607"/>
                </a:lnTo>
                <a:lnTo>
                  <a:pt x="1524000" y="177590"/>
                </a:lnTo>
              </a:path>
            </a:pathLst>
          </a:custGeom>
          <a:ln w="952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10200" y="2057400"/>
            <a:ext cx="1752600" cy="1143000"/>
          </a:xfrm>
          <a:custGeom>
            <a:avLst/>
            <a:gdLst/>
            <a:ahLst/>
            <a:cxnLst/>
            <a:rect l="l" t="t" r="r" b="b"/>
            <a:pathLst>
              <a:path w="1752600" h="1143000">
                <a:moveTo>
                  <a:pt x="0" y="1143000"/>
                </a:moveTo>
                <a:lnTo>
                  <a:pt x="1752600" y="1143000"/>
                </a:lnTo>
                <a:lnTo>
                  <a:pt x="17526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57600" y="1905000"/>
            <a:ext cx="1524000" cy="1295400"/>
          </a:xfrm>
          <a:custGeom>
            <a:avLst/>
            <a:gdLst/>
            <a:ahLst/>
            <a:cxnLst/>
            <a:rect l="l" t="t" r="r" b="b"/>
            <a:pathLst>
              <a:path w="1524000" h="1295400">
                <a:moveTo>
                  <a:pt x="0" y="1295400"/>
                </a:moveTo>
                <a:lnTo>
                  <a:pt x="762000" y="0"/>
                </a:lnTo>
                <a:lnTo>
                  <a:pt x="1524000" y="1295400"/>
                </a:lnTo>
                <a:lnTo>
                  <a:pt x="0" y="12954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86000" y="2514600"/>
            <a:ext cx="1524000" cy="304800"/>
          </a:xfrm>
          <a:custGeom>
            <a:avLst/>
            <a:gdLst/>
            <a:ahLst/>
            <a:cxnLst/>
            <a:rect l="l" t="t" r="r" b="b"/>
            <a:pathLst>
              <a:path w="1524000" h="304800">
                <a:moveTo>
                  <a:pt x="0" y="304800"/>
                </a:moveTo>
                <a:lnTo>
                  <a:pt x="1524000" y="0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15200" y="1905000"/>
            <a:ext cx="1447800" cy="1371600"/>
          </a:xfrm>
          <a:custGeom>
            <a:avLst/>
            <a:gdLst/>
            <a:ahLst/>
            <a:cxnLst/>
            <a:rect l="l" t="t" r="r" b="b"/>
            <a:pathLst>
              <a:path w="1447800" h="1371600">
                <a:moveTo>
                  <a:pt x="0" y="685800"/>
                </a:moveTo>
                <a:lnTo>
                  <a:pt x="1670" y="638850"/>
                </a:lnTo>
                <a:lnTo>
                  <a:pt x="6608" y="592750"/>
                </a:lnTo>
                <a:lnTo>
                  <a:pt x="14707" y="547599"/>
                </a:lnTo>
                <a:lnTo>
                  <a:pt x="25858" y="503502"/>
                </a:lnTo>
                <a:lnTo>
                  <a:pt x="39954" y="460559"/>
                </a:lnTo>
                <a:lnTo>
                  <a:pt x="56888" y="418873"/>
                </a:lnTo>
                <a:lnTo>
                  <a:pt x="76550" y="378547"/>
                </a:lnTo>
                <a:lnTo>
                  <a:pt x="98834" y="339682"/>
                </a:lnTo>
                <a:lnTo>
                  <a:pt x="123631" y="302381"/>
                </a:lnTo>
                <a:lnTo>
                  <a:pt x="150834" y="266746"/>
                </a:lnTo>
                <a:lnTo>
                  <a:pt x="180335" y="232879"/>
                </a:lnTo>
                <a:lnTo>
                  <a:pt x="212026" y="200882"/>
                </a:lnTo>
                <a:lnTo>
                  <a:pt x="245799" y="170857"/>
                </a:lnTo>
                <a:lnTo>
                  <a:pt x="281547" y="142908"/>
                </a:lnTo>
                <a:lnTo>
                  <a:pt x="319161" y="117135"/>
                </a:lnTo>
                <a:lnTo>
                  <a:pt x="358535" y="93641"/>
                </a:lnTo>
                <a:lnTo>
                  <a:pt x="399559" y="72528"/>
                </a:lnTo>
                <a:lnTo>
                  <a:pt x="442126" y="53899"/>
                </a:lnTo>
                <a:lnTo>
                  <a:pt x="486129" y="37856"/>
                </a:lnTo>
                <a:lnTo>
                  <a:pt x="531459" y="24500"/>
                </a:lnTo>
                <a:lnTo>
                  <a:pt x="578009" y="13934"/>
                </a:lnTo>
                <a:lnTo>
                  <a:pt x="625671" y="6261"/>
                </a:lnTo>
                <a:lnTo>
                  <a:pt x="674337" y="1582"/>
                </a:lnTo>
                <a:lnTo>
                  <a:pt x="723900" y="0"/>
                </a:lnTo>
                <a:lnTo>
                  <a:pt x="773462" y="1582"/>
                </a:lnTo>
                <a:lnTo>
                  <a:pt x="822128" y="6261"/>
                </a:lnTo>
                <a:lnTo>
                  <a:pt x="869790" y="13934"/>
                </a:lnTo>
                <a:lnTo>
                  <a:pt x="916340" y="24500"/>
                </a:lnTo>
                <a:lnTo>
                  <a:pt x="961670" y="37856"/>
                </a:lnTo>
                <a:lnTo>
                  <a:pt x="1005673" y="53899"/>
                </a:lnTo>
                <a:lnTo>
                  <a:pt x="1048240" y="72528"/>
                </a:lnTo>
                <a:lnTo>
                  <a:pt x="1089264" y="93641"/>
                </a:lnTo>
                <a:lnTo>
                  <a:pt x="1128638" y="117135"/>
                </a:lnTo>
                <a:lnTo>
                  <a:pt x="1166252" y="142908"/>
                </a:lnTo>
                <a:lnTo>
                  <a:pt x="1202000" y="170857"/>
                </a:lnTo>
                <a:lnTo>
                  <a:pt x="1235773" y="200882"/>
                </a:lnTo>
                <a:lnTo>
                  <a:pt x="1267464" y="232879"/>
                </a:lnTo>
                <a:lnTo>
                  <a:pt x="1296965" y="266746"/>
                </a:lnTo>
                <a:lnTo>
                  <a:pt x="1324168" y="302381"/>
                </a:lnTo>
                <a:lnTo>
                  <a:pt x="1348965" y="339682"/>
                </a:lnTo>
                <a:lnTo>
                  <a:pt x="1371249" y="378547"/>
                </a:lnTo>
                <a:lnTo>
                  <a:pt x="1390911" y="418873"/>
                </a:lnTo>
                <a:lnTo>
                  <a:pt x="1407845" y="460559"/>
                </a:lnTo>
                <a:lnTo>
                  <a:pt x="1421941" y="503502"/>
                </a:lnTo>
                <a:lnTo>
                  <a:pt x="1433092" y="547599"/>
                </a:lnTo>
                <a:lnTo>
                  <a:pt x="1441191" y="592750"/>
                </a:lnTo>
                <a:lnTo>
                  <a:pt x="1446129" y="638850"/>
                </a:lnTo>
                <a:lnTo>
                  <a:pt x="1447800" y="685800"/>
                </a:lnTo>
                <a:lnTo>
                  <a:pt x="1446129" y="732749"/>
                </a:lnTo>
                <a:lnTo>
                  <a:pt x="1441191" y="778849"/>
                </a:lnTo>
                <a:lnTo>
                  <a:pt x="1433092" y="824000"/>
                </a:lnTo>
                <a:lnTo>
                  <a:pt x="1421941" y="868097"/>
                </a:lnTo>
                <a:lnTo>
                  <a:pt x="1407845" y="911040"/>
                </a:lnTo>
                <a:lnTo>
                  <a:pt x="1390911" y="952726"/>
                </a:lnTo>
                <a:lnTo>
                  <a:pt x="1371249" y="993052"/>
                </a:lnTo>
                <a:lnTo>
                  <a:pt x="1348965" y="1031917"/>
                </a:lnTo>
                <a:lnTo>
                  <a:pt x="1324168" y="1069218"/>
                </a:lnTo>
                <a:lnTo>
                  <a:pt x="1296965" y="1104853"/>
                </a:lnTo>
                <a:lnTo>
                  <a:pt x="1267464" y="1138720"/>
                </a:lnTo>
                <a:lnTo>
                  <a:pt x="1235773" y="1170717"/>
                </a:lnTo>
                <a:lnTo>
                  <a:pt x="1202000" y="1200742"/>
                </a:lnTo>
                <a:lnTo>
                  <a:pt x="1166252" y="1228691"/>
                </a:lnTo>
                <a:lnTo>
                  <a:pt x="1128638" y="1254464"/>
                </a:lnTo>
                <a:lnTo>
                  <a:pt x="1089264" y="1277958"/>
                </a:lnTo>
                <a:lnTo>
                  <a:pt x="1048240" y="1299071"/>
                </a:lnTo>
                <a:lnTo>
                  <a:pt x="1005673" y="1317700"/>
                </a:lnTo>
                <a:lnTo>
                  <a:pt x="961670" y="1333743"/>
                </a:lnTo>
                <a:lnTo>
                  <a:pt x="916340" y="1347099"/>
                </a:lnTo>
                <a:lnTo>
                  <a:pt x="869790" y="1357665"/>
                </a:lnTo>
                <a:lnTo>
                  <a:pt x="822128" y="1365338"/>
                </a:lnTo>
                <a:lnTo>
                  <a:pt x="773462" y="1370017"/>
                </a:lnTo>
                <a:lnTo>
                  <a:pt x="723900" y="1371600"/>
                </a:lnTo>
                <a:lnTo>
                  <a:pt x="674337" y="1370017"/>
                </a:lnTo>
                <a:lnTo>
                  <a:pt x="625671" y="1365338"/>
                </a:lnTo>
                <a:lnTo>
                  <a:pt x="578009" y="1357665"/>
                </a:lnTo>
                <a:lnTo>
                  <a:pt x="531459" y="1347099"/>
                </a:lnTo>
                <a:lnTo>
                  <a:pt x="486129" y="1333743"/>
                </a:lnTo>
                <a:lnTo>
                  <a:pt x="442126" y="1317700"/>
                </a:lnTo>
                <a:lnTo>
                  <a:pt x="399559" y="1299071"/>
                </a:lnTo>
                <a:lnTo>
                  <a:pt x="358535" y="1277958"/>
                </a:lnTo>
                <a:lnTo>
                  <a:pt x="319161" y="1254464"/>
                </a:lnTo>
                <a:lnTo>
                  <a:pt x="281547" y="1228691"/>
                </a:lnTo>
                <a:lnTo>
                  <a:pt x="245799" y="1200742"/>
                </a:lnTo>
                <a:lnTo>
                  <a:pt x="212026" y="1170717"/>
                </a:lnTo>
                <a:lnTo>
                  <a:pt x="180335" y="1138720"/>
                </a:lnTo>
                <a:lnTo>
                  <a:pt x="150834" y="1104853"/>
                </a:lnTo>
                <a:lnTo>
                  <a:pt x="123631" y="1069218"/>
                </a:lnTo>
                <a:lnTo>
                  <a:pt x="98834" y="1031917"/>
                </a:lnTo>
                <a:lnTo>
                  <a:pt x="76550" y="993052"/>
                </a:lnTo>
                <a:lnTo>
                  <a:pt x="56888" y="952726"/>
                </a:lnTo>
                <a:lnTo>
                  <a:pt x="39954" y="911040"/>
                </a:lnTo>
                <a:lnTo>
                  <a:pt x="25858" y="868097"/>
                </a:lnTo>
                <a:lnTo>
                  <a:pt x="14707" y="824000"/>
                </a:lnTo>
                <a:lnTo>
                  <a:pt x="6608" y="778849"/>
                </a:lnTo>
                <a:lnTo>
                  <a:pt x="1670" y="732749"/>
                </a:lnTo>
                <a:lnTo>
                  <a:pt x="0" y="6858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5505" y="439419"/>
            <a:ext cx="58724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Calibri"/>
                <a:cs typeface="Calibri"/>
              </a:rPr>
              <a:t>Curves </a:t>
            </a:r>
            <a:r>
              <a:rPr b="1" spc="-5" dirty="0">
                <a:latin typeface="Calibri"/>
                <a:cs typeface="Calibri"/>
              </a:rPr>
              <a:t>&amp; its</a:t>
            </a:r>
            <a:r>
              <a:rPr b="1" spc="-20" dirty="0">
                <a:latin typeface="Calibri"/>
                <a:cs typeface="Calibri"/>
              </a:rPr>
              <a:t> 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07296"/>
            <a:ext cx="8072120" cy="52362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2400" spc="-20" dirty="0">
                <a:latin typeface="Calibri"/>
                <a:cs typeface="Calibri"/>
              </a:rPr>
              <a:t>Types:</a:t>
            </a:r>
            <a:endParaRPr sz="2400">
              <a:latin typeface="Calibri"/>
              <a:cs typeface="Calibri"/>
            </a:endParaRPr>
          </a:p>
          <a:p>
            <a:pPr marL="469900" algn="just">
              <a:lnSpc>
                <a:spcPct val="100000"/>
              </a:lnSpc>
              <a:spcBef>
                <a:spcPts val="265"/>
              </a:spcBef>
            </a:pPr>
            <a:r>
              <a:rPr sz="2000" b="1" spc="-5" dirty="0">
                <a:latin typeface="Calibri"/>
                <a:cs typeface="Calibri"/>
              </a:rPr>
              <a:t>3. </a:t>
            </a:r>
            <a:r>
              <a:rPr sz="2000" b="1" spc="-15" dirty="0">
                <a:latin typeface="Calibri"/>
                <a:cs typeface="Calibri"/>
              </a:rPr>
              <a:t>Parametric</a:t>
            </a:r>
            <a:r>
              <a:rPr sz="2000" b="1" spc="-18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Curve</a:t>
            </a:r>
            <a:endParaRPr sz="2000">
              <a:latin typeface="Calibri"/>
              <a:cs typeface="Calibri"/>
            </a:endParaRPr>
          </a:p>
          <a:p>
            <a:pPr marL="927100" marR="5080" indent="62865" algn="just">
              <a:lnSpc>
                <a:spcPct val="90700"/>
              </a:lnSpc>
              <a:spcBef>
                <a:spcPts val="675"/>
              </a:spcBef>
            </a:pPr>
            <a:r>
              <a:rPr sz="2000" spc="-5" dirty="0">
                <a:latin typeface="Calibri"/>
                <a:cs typeface="Calibri"/>
              </a:rPr>
              <a:t>Curves </a:t>
            </a:r>
            <a:r>
              <a:rPr sz="2000" spc="-10" dirty="0">
                <a:latin typeface="Calibri"/>
                <a:cs typeface="Calibri"/>
              </a:rPr>
              <a:t>having parametric </a:t>
            </a:r>
            <a:r>
              <a:rPr sz="2000" spc="-15" dirty="0">
                <a:latin typeface="Calibri"/>
                <a:cs typeface="Calibri"/>
              </a:rPr>
              <a:t>form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spc="-5" dirty="0">
                <a:latin typeface="Calibri"/>
                <a:cs typeface="Calibri"/>
              </a:rPr>
              <a:t>called parametric curves. The  </a:t>
            </a:r>
            <a:r>
              <a:rPr sz="2000" spc="-10" dirty="0">
                <a:latin typeface="Calibri"/>
                <a:cs typeface="Calibri"/>
              </a:rPr>
              <a:t>explicit </a:t>
            </a:r>
            <a:r>
              <a:rPr sz="2000" spc="-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implicit </a:t>
            </a:r>
            <a:r>
              <a:rPr sz="2000" spc="-5" dirty="0">
                <a:latin typeface="Calibri"/>
                <a:cs typeface="Calibri"/>
              </a:rPr>
              <a:t>curve </a:t>
            </a:r>
            <a:r>
              <a:rPr sz="2000" spc="-10" dirty="0">
                <a:latin typeface="Calibri"/>
                <a:cs typeface="Calibri"/>
              </a:rPr>
              <a:t>representations can </a:t>
            </a:r>
            <a:r>
              <a:rPr sz="2000" spc="-5" dirty="0">
                <a:latin typeface="Calibri"/>
                <a:cs typeface="Calibri"/>
              </a:rPr>
              <a:t>be used only when  the function is known. In </a:t>
            </a:r>
            <a:r>
              <a:rPr sz="2000" spc="-10" dirty="0">
                <a:latin typeface="Calibri"/>
                <a:cs typeface="Calibri"/>
              </a:rPr>
              <a:t>practice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parametric curves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dirty="0">
                <a:latin typeface="Calibri"/>
                <a:cs typeface="Calibri"/>
              </a:rPr>
              <a:t>used. </a:t>
            </a:r>
            <a:r>
              <a:rPr sz="2000" spc="-5" dirty="0">
                <a:latin typeface="Calibri"/>
                <a:cs typeface="Calibri"/>
              </a:rPr>
              <a:t>A  </a:t>
            </a:r>
            <a:r>
              <a:rPr sz="2000" spc="-10" dirty="0">
                <a:latin typeface="Calibri"/>
                <a:cs typeface="Calibri"/>
              </a:rPr>
              <a:t>two-dimensional parametric </a:t>
            </a:r>
            <a:r>
              <a:rPr sz="2000" spc="-5" dirty="0">
                <a:latin typeface="Calibri"/>
                <a:cs typeface="Calibri"/>
              </a:rPr>
              <a:t>curve has the </a:t>
            </a:r>
            <a:r>
              <a:rPr sz="2000" spc="-10" dirty="0">
                <a:latin typeface="Calibri"/>
                <a:cs typeface="Calibri"/>
              </a:rPr>
              <a:t>following </a:t>
            </a:r>
            <a:r>
              <a:rPr sz="2000" spc="-15" dirty="0">
                <a:latin typeface="Calibri"/>
                <a:cs typeface="Calibri"/>
              </a:rPr>
              <a:t>form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−</a:t>
            </a:r>
            <a:endParaRPr sz="2000">
              <a:latin typeface="Calibri"/>
              <a:cs typeface="Calibri"/>
            </a:endParaRPr>
          </a:p>
          <a:p>
            <a:pPr marL="1460500">
              <a:lnSpc>
                <a:spcPct val="100000"/>
              </a:lnSpc>
              <a:spcBef>
                <a:spcPts val="1105"/>
              </a:spcBef>
            </a:pPr>
            <a:r>
              <a:rPr sz="2400" dirty="0">
                <a:latin typeface="Calibri"/>
                <a:cs typeface="Calibri"/>
              </a:rPr>
              <a:t>P(t) = </a:t>
            </a:r>
            <a:r>
              <a:rPr sz="2400" spc="-5" dirty="0">
                <a:latin typeface="Calibri"/>
                <a:cs typeface="Calibri"/>
              </a:rPr>
              <a:t>f(t), g(t) or </a:t>
            </a:r>
            <a:r>
              <a:rPr sz="2400" dirty="0">
                <a:latin typeface="Calibri"/>
                <a:cs typeface="Calibri"/>
              </a:rPr>
              <a:t>P(t) = </a:t>
            </a:r>
            <a:r>
              <a:rPr sz="2400" spc="-5" dirty="0">
                <a:latin typeface="Calibri"/>
                <a:cs typeface="Calibri"/>
              </a:rPr>
              <a:t>x(t),</a:t>
            </a:r>
            <a:r>
              <a:rPr sz="2400" spc="-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y(t)</a:t>
            </a:r>
            <a:endParaRPr sz="2400">
              <a:latin typeface="Calibri"/>
              <a:cs typeface="Calibri"/>
            </a:endParaRPr>
          </a:p>
          <a:p>
            <a:pPr marL="755650" marR="5080" algn="just">
              <a:lnSpc>
                <a:spcPts val="2160"/>
              </a:lnSpc>
              <a:spcBef>
                <a:spcPts val="750"/>
              </a:spcBef>
            </a:pPr>
            <a:r>
              <a:rPr sz="2000" spc="-5" dirty="0">
                <a:latin typeface="Calibri"/>
                <a:cs typeface="Calibri"/>
              </a:rPr>
              <a:t>The functions f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5" dirty="0">
                <a:latin typeface="Calibri"/>
                <a:cs typeface="Calibri"/>
              </a:rPr>
              <a:t>g </a:t>
            </a:r>
            <a:r>
              <a:rPr sz="2000" spc="-10" dirty="0">
                <a:latin typeface="Calibri"/>
                <a:cs typeface="Calibri"/>
              </a:rPr>
              <a:t>become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(x,y) </a:t>
            </a:r>
            <a:r>
              <a:rPr sz="2000" spc="-15" dirty="0">
                <a:latin typeface="Calibri"/>
                <a:cs typeface="Calibri"/>
              </a:rPr>
              <a:t>coordinates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spc="-15" dirty="0">
                <a:latin typeface="Calibri"/>
                <a:cs typeface="Calibri"/>
              </a:rPr>
              <a:t>any </a:t>
            </a:r>
            <a:r>
              <a:rPr sz="2000" spc="-10" dirty="0">
                <a:latin typeface="Calibri"/>
                <a:cs typeface="Calibri"/>
              </a:rPr>
              <a:t>point </a:t>
            </a:r>
            <a:r>
              <a:rPr sz="2000" spc="-5" dirty="0">
                <a:latin typeface="Calibri"/>
                <a:cs typeface="Calibri"/>
              </a:rPr>
              <a:t>on </a:t>
            </a:r>
            <a:r>
              <a:rPr sz="2000" dirty="0">
                <a:latin typeface="Calibri"/>
                <a:cs typeface="Calibri"/>
              </a:rPr>
              <a:t>the  </a:t>
            </a:r>
            <a:r>
              <a:rPr sz="2000" spc="-5" dirty="0">
                <a:latin typeface="Calibri"/>
                <a:cs typeface="Calibri"/>
              </a:rPr>
              <a:t>curve, and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points are </a:t>
            </a:r>
            <a:r>
              <a:rPr sz="2000" spc="-5" dirty="0">
                <a:latin typeface="Calibri"/>
                <a:cs typeface="Calibri"/>
              </a:rPr>
              <a:t>obtained when the </a:t>
            </a:r>
            <a:r>
              <a:rPr sz="2000" spc="-10" dirty="0">
                <a:latin typeface="Calibri"/>
                <a:cs typeface="Calibri"/>
              </a:rPr>
              <a:t>parameter </a:t>
            </a:r>
            <a:r>
              <a:rPr sz="2000" spc="-5" dirty="0">
                <a:latin typeface="Calibri"/>
                <a:cs typeface="Calibri"/>
              </a:rPr>
              <a:t>t is varied  </a:t>
            </a:r>
            <a:r>
              <a:rPr sz="2000" spc="-10" dirty="0">
                <a:latin typeface="Calibri"/>
                <a:cs typeface="Calibri"/>
              </a:rPr>
              <a:t>over </a:t>
            </a:r>
            <a:r>
              <a:rPr sz="2000" spc="-5" dirty="0">
                <a:latin typeface="Calibri"/>
                <a:cs typeface="Calibri"/>
              </a:rPr>
              <a:t>a certain </a:t>
            </a:r>
            <a:r>
              <a:rPr sz="2000" spc="-10" dirty="0">
                <a:latin typeface="Calibri"/>
                <a:cs typeface="Calibri"/>
              </a:rPr>
              <a:t>interval </a:t>
            </a:r>
            <a:r>
              <a:rPr sz="2000" spc="-5" dirty="0">
                <a:latin typeface="Calibri"/>
                <a:cs typeface="Calibri"/>
              </a:rPr>
              <a:t>[a, b], </a:t>
            </a:r>
            <a:r>
              <a:rPr sz="2000" spc="-10" dirty="0">
                <a:latin typeface="Calibri"/>
                <a:cs typeface="Calibri"/>
              </a:rPr>
              <a:t>normally </a:t>
            </a:r>
            <a:r>
              <a:rPr sz="2000" spc="-5" dirty="0">
                <a:latin typeface="Calibri"/>
                <a:cs typeface="Calibri"/>
              </a:rPr>
              <a:t>[0,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1].</a:t>
            </a:r>
            <a:endParaRPr sz="2000">
              <a:latin typeface="Calibri"/>
              <a:cs typeface="Calibri"/>
            </a:endParaRPr>
          </a:p>
          <a:p>
            <a:pPr marL="4013200">
              <a:lnSpc>
                <a:spcPct val="100000"/>
              </a:lnSpc>
              <a:spcBef>
                <a:spcPts val="1595"/>
              </a:spcBef>
              <a:tabLst>
                <a:tab pos="5270500" algn="l"/>
                <a:tab pos="7177405" algn="l"/>
              </a:tabLst>
            </a:pPr>
            <a:r>
              <a:rPr sz="2000" u="sng" spc="-5" dirty="0">
                <a:uFill>
                  <a:solidFill>
                    <a:srgbClr val="497DBA"/>
                  </a:solidFill>
                </a:uFill>
                <a:latin typeface="Calibri"/>
                <a:cs typeface="Calibri"/>
              </a:rPr>
              <a:t>P(t=0)	P(t=0.8)	P(t</a:t>
            </a:r>
            <a:r>
              <a:rPr sz="2000" spc="-5" dirty="0">
                <a:latin typeface="Calibri"/>
                <a:cs typeface="Calibri"/>
              </a:rPr>
              <a:t>=1)</a:t>
            </a:r>
            <a:endParaRPr sz="2000">
              <a:latin typeface="Calibri"/>
              <a:cs typeface="Calibri"/>
            </a:endParaRPr>
          </a:p>
          <a:p>
            <a:pPr marL="3841750">
              <a:lnSpc>
                <a:spcPct val="100000"/>
              </a:lnSpc>
              <a:spcBef>
                <a:spcPts val="240"/>
              </a:spcBef>
              <a:tabLst>
                <a:tab pos="5456555" algn="l"/>
                <a:tab pos="7156450" algn="l"/>
              </a:tabLst>
            </a:pPr>
            <a:r>
              <a:rPr sz="2000" spc="-5" dirty="0">
                <a:latin typeface="Calibri"/>
                <a:cs typeface="Calibri"/>
              </a:rPr>
              <a:t>(x0,y0)	(x,y)	(x1,y1)</a:t>
            </a:r>
            <a:endParaRPr sz="2000">
              <a:latin typeface="Calibri"/>
              <a:cs typeface="Calibri"/>
            </a:endParaRPr>
          </a:p>
          <a:p>
            <a:pPr marL="2927350">
              <a:lnSpc>
                <a:spcPct val="100000"/>
              </a:lnSpc>
              <a:spcBef>
                <a:spcPts val="240"/>
              </a:spcBef>
            </a:pPr>
            <a:r>
              <a:rPr sz="2000" spc="-5" dirty="0">
                <a:latin typeface="Calibri"/>
                <a:cs typeface="Calibri"/>
              </a:rPr>
              <a:t>P(x,y)=(1-t)P0 +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tP1</a:t>
            </a:r>
            <a:endParaRPr sz="2000">
              <a:latin typeface="Calibri"/>
              <a:cs typeface="Calibri"/>
            </a:endParaRPr>
          </a:p>
          <a:p>
            <a:pPr marL="2927350" marR="955675">
              <a:lnSpc>
                <a:spcPct val="110000"/>
              </a:lnSpc>
            </a:pPr>
            <a:r>
              <a:rPr sz="2000" spc="-5" dirty="0">
                <a:latin typeface="Calibri"/>
                <a:cs typeface="Calibri"/>
              </a:rPr>
              <a:t>x = (1-0.8)*x0 + 0.8*x1 = 0.2*x0 + 0.8*x1  y= (1-0.8)*y0 + 0.8*y1 = 0.2*y0 + 0.8*y1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0221" y="5168900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59500" y="5179821"/>
            <a:ext cx="101600" cy="101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988300" y="5179821"/>
            <a:ext cx="101600" cy="101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5505" y="439419"/>
            <a:ext cx="58724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Calibri"/>
                <a:cs typeface="Calibri"/>
              </a:rPr>
              <a:t>Curves </a:t>
            </a:r>
            <a:r>
              <a:rPr b="1" spc="-5" dirty="0">
                <a:latin typeface="Calibri"/>
                <a:cs typeface="Calibri"/>
              </a:rPr>
              <a:t>&amp; its</a:t>
            </a:r>
            <a:r>
              <a:rPr b="1" spc="-20" dirty="0">
                <a:latin typeface="Calibri"/>
                <a:cs typeface="Calibri"/>
              </a:rPr>
              <a:t> 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07296"/>
            <a:ext cx="8072120" cy="52362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2400" spc="-20" dirty="0">
                <a:latin typeface="Calibri"/>
                <a:cs typeface="Calibri"/>
              </a:rPr>
              <a:t>Types:</a:t>
            </a:r>
            <a:endParaRPr sz="2400">
              <a:latin typeface="Calibri"/>
              <a:cs typeface="Calibri"/>
            </a:endParaRPr>
          </a:p>
          <a:p>
            <a:pPr marL="469900" algn="just">
              <a:lnSpc>
                <a:spcPct val="100000"/>
              </a:lnSpc>
              <a:spcBef>
                <a:spcPts val="265"/>
              </a:spcBef>
            </a:pPr>
            <a:r>
              <a:rPr sz="2000" b="1" spc="-5" dirty="0">
                <a:latin typeface="Calibri"/>
                <a:cs typeface="Calibri"/>
              </a:rPr>
              <a:t>3. </a:t>
            </a:r>
            <a:r>
              <a:rPr sz="2000" b="1" spc="-15" dirty="0">
                <a:latin typeface="Calibri"/>
                <a:cs typeface="Calibri"/>
              </a:rPr>
              <a:t>Parametric</a:t>
            </a:r>
            <a:r>
              <a:rPr sz="2000" b="1" spc="-18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Curve</a:t>
            </a:r>
            <a:endParaRPr sz="2000">
              <a:latin typeface="Calibri"/>
              <a:cs typeface="Calibri"/>
            </a:endParaRPr>
          </a:p>
          <a:p>
            <a:pPr marL="927100" marR="5080" indent="62865" algn="just">
              <a:lnSpc>
                <a:spcPct val="90700"/>
              </a:lnSpc>
              <a:spcBef>
                <a:spcPts val="675"/>
              </a:spcBef>
            </a:pPr>
            <a:r>
              <a:rPr sz="2000" spc="-5" dirty="0">
                <a:latin typeface="Calibri"/>
                <a:cs typeface="Calibri"/>
              </a:rPr>
              <a:t>Curves </a:t>
            </a:r>
            <a:r>
              <a:rPr sz="2000" spc="-10" dirty="0">
                <a:latin typeface="Calibri"/>
                <a:cs typeface="Calibri"/>
              </a:rPr>
              <a:t>having parametric </a:t>
            </a:r>
            <a:r>
              <a:rPr sz="2000" spc="-15" dirty="0">
                <a:latin typeface="Calibri"/>
                <a:cs typeface="Calibri"/>
              </a:rPr>
              <a:t>form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spc="-5" dirty="0">
                <a:latin typeface="Calibri"/>
                <a:cs typeface="Calibri"/>
              </a:rPr>
              <a:t>called parametric curves. The  </a:t>
            </a:r>
            <a:r>
              <a:rPr sz="2000" spc="-10" dirty="0">
                <a:latin typeface="Calibri"/>
                <a:cs typeface="Calibri"/>
              </a:rPr>
              <a:t>explicit </a:t>
            </a:r>
            <a:r>
              <a:rPr sz="2000" spc="-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implicit </a:t>
            </a:r>
            <a:r>
              <a:rPr sz="2000" spc="-5" dirty="0">
                <a:latin typeface="Calibri"/>
                <a:cs typeface="Calibri"/>
              </a:rPr>
              <a:t>curve </a:t>
            </a:r>
            <a:r>
              <a:rPr sz="2000" spc="-10" dirty="0">
                <a:latin typeface="Calibri"/>
                <a:cs typeface="Calibri"/>
              </a:rPr>
              <a:t>representations can </a:t>
            </a:r>
            <a:r>
              <a:rPr sz="2000" spc="-5" dirty="0">
                <a:latin typeface="Calibri"/>
                <a:cs typeface="Calibri"/>
              </a:rPr>
              <a:t>be used only when  the function is known. In </a:t>
            </a:r>
            <a:r>
              <a:rPr sz="2000" spc="-10" dirty="0">
                <a:latin typeface="Calibri"/>
                <a:cs typeface="Calibri"/>
              </a:rPr>
              <a:t>practice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parametric curves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dirty="0">
                <a:latin typeface="Calibri"/>
                <a:cs typeface="Calibri"/>
              </a:rPr>
              <a:t>used. </a:t>
            </a:r>
            <a:r>
              <a:rPr sz="2000" spc="-5" dirty="0">
                <a:latin typeface="Calibri"/>
                <a:cs typeface="Calibri"/>
              </a:rPr>
              <a:t>A  </a:t>
            </a:r>
            <a:r>
              <a:rPr sz="2000" spc="-10" dirty="0">
                <a:latin typeface="Calibri"/>
                <a:cs typeface="Calibri"/>
              </a:rPr>
              <a:t>two-dimensional parametric </a:t>
            </a:r>
            <a:r>
              <a:rPr sz="2000" spc="-5" dirty="0">
                <a:latin typeface="Calibri"/>
                <a:cs typeface="Calibri"/>
              </a:rPr>
              <a:t>curve has the </a:t>
            </a:r>
            <a:r>
              <a:rPr sz="2000" spc="-10" dirty="0">
                <a:latin typeface="Calibri"/>
                <a:cs typeface="Calibri"/>
              </a:rPr>
              <a:t>following </a:t>
            </a:r>
            <a:r>
              <a:rPr sz="2000" spc="-15" dirty="0">
                <a:latin typeface="Calibri"/>
                <a:cs typeface="Calibri"/>
              </a:rPr>
              <a:t>form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−</a:t>
            </a:r>
            <a:endParaRPr sz="2000">
              <a:latin typeface="Calibri"/>
              <a:cs typeface="Calibri"/>
            </a:endParaRPr>
          </a:p>
          <a:p>
            <a:pPr marL="1460500">
              <a:lnSpc>
                <a:spcPct val="100000"/>
              </a:lnSpc>
              <a:spcBef>
                <a:spcPts val="1105"/>
              </a:spcBef>
            </a:pPr>
            <a:r>
              <a:rPr sz="2400" dirty="0">
                <a:latin typeface="Calibri"/>
                <a:cs typeface="Calibri"/>
              </a:rPr>
              <a:t>P(t) = </a:t>
            </a:r>
            <a:r>
              <a:rPr sz="2400" spc="-5" dirty="0">
                <a:latin typeface="Calibri"/>
                <a:cs typeface="Calibri"/>
              </a:rPr>
              <a:t>f(t), g(t) or </a:t>
            </a:r>
            <a:r>
              <a:rPr sz="2400" dirty="0">
                <a:latin typeface="Calibri"/>
                <a:cs typeface="Calibri"/>
              </a:rPr>
              <a:t>P(t) = </a:t>
            </a:r>
            <a:r>
              <a:rPr sz="2400" spc="-5" dirty="0">
                <a:latin typeface="Calibri"/>
                <a:cs typeface="Calibri"/>
              </a:rPr>
              <a:t>x(t),</a:t>
            </a:r>
            <a:r>
              <a:rPr sz="2400" spc="-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y(t)</a:t>
            </a:r>
            <a:endParaRPr sz="2400">
              <a:latin typeface="Calibri"/>
              <a:cs typeface="Calibri"/>
            </a:endParaRPr>
          </a:p>
          <a:p>
            <a:pPr marL="755650" marR="5080" algn="just">
              <a:lnSpc>
                <a:spcPts val="2160"/>
              </a:lnSpc>
              <a:spcBef>
                <a:spcPts val="750"/>
              </a:spcBef>
            </a:pPr>
            <a:r>
              <a:rPr sz="2000" spc="-5" dirty="0">
                <a:latin typeface="Calibri"/>
                <a:cs typeface="Calibri"/>
              </a:rPr>
              <a:t>The functions f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5" dirty="0">
                <a:latin typeface="Calibri"/>
                <a:cs typeface="Calibri"/>
              </a:rPr>
              <a:t>g </a:t>
            </a:r>
            <a:r>
              <a:rPr sz="2000" spc="-10" dirty="0">
                <a:latin typeface="Calibri"/>
                <a:cs typeface="Calibri"/>
              </a:rPr>
              <a:t>become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(x,y) </a:t>
            </a:r>
            <a:r>
              <a:rPr sz="2000" spc="-15" dirty="0">
                <a:latin typeface="Calibri"/>
                <a:cs typeface="Calibri"/>
              </a:rPr>
              <a:t>coordinates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spc="-15" dirty="0">
                <a:latin typeface="Calibri"/>
                <a:cs typeface="Calibri"/>
              </a:rPr>
              <a:t>any </a:t>
            </a:r>
            <a:r>
              <a:rPr sz="2000" spc="-10" dirty="0">
                <a:latin typeface="Calibri"/>
                <a:cs typeface="Calibri"/>
              </a:rPr>
              <a:t>point </a:t>
            </a:r>
            <a:r>
              <a:rPr sz="2000" spc="-5" dirty="0">
                <a:latin typeface="Calibri"/>
                <a:cs typeface="Calibri"/>
              </a:rPr>
              <a:t>on </a:t>
            </a:r>
            <a:r>
              <a:rPr sz="2000" dirty="0">
                <a:latin typeface="Calibri"/>
                <a:cs typeface="Calibri"/>
              </a:rPr>
              <a:t>the  </a:t>
            </a:r>
            <a:r>
              <a:rPr sz="2000" spc="-5" dirty="0">
                <a:latin typeface="Calibri"/>
                <a:cs typeface="Calibri"/>
              </a:rPr>
              <a:t>curve, and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points are </a:t>
            </a:r>
            <a:r>
              <a:rPr sz="2000" spc="-5" dirty="0">
                <a:latin typeface="Calibri"/>
                <a:cs typeface="Calibri"/>
              </a:rPr>
              <a:t>obtained when the </a:t>
            </a:r>
            <a:r>
              <a:rPr sz="2000" spc="-10" dirty="0">
                <a:latin typeface="Calibri"/>
                <a:cs typeface="Calibri"/>
              </a:rPr>
              <a:t>parameter </a:t>
            </a:r>
            <a:r>
              <a:rPr sz="2000" spc="-5" dirty="0">
                <a:latin typeface="Calibri"/>
                <a:cs typeface="Calibri"/>
              </a:rPr>
              <a:t>t is varied  </a:t>
            </a:r>
            <a:r>
              <a:rPr sz="2000" spc="-10" dirty="0">
                <a:latin typeface="Calibri"/>
                <a:cs typeface="Calibri"/>
              </a:rPr>
              <a:t>over </a:t>
            </a:r>
            <a:r>
              <a:rPr sz="2000" spc="-5" dirty="0">
                <a:latin typeface="Calibri"/>
                <a:cs typeface="Calibri"/>
              </a:rPr>
              <a:t>a certain </a:t>
            </a:r>
            <a:r>
              <a:rPr sz="2000" spc="-10" dirty="0">
                <a:latin typeface="Calibri"/>
                <a:cs typeface="Calibri"/>
              </a:rPr>
              <a:t>interval </a:t>
            </a:r>
            <a:r>
              <a:rPr sz="2000" spc="-5" dirty="0">
                <a:latin typeface="Calibri"/>
                <a:cs typeface="Calibri"/>
              </a:rPr>
              <a:t>[a, b], </a:t>
            </a:r>
            <a:r>
              <a:rPr sz="2000" spc="-10" dirty="0">
                <a:latin typeface="Calibri"/>
                <a:cs typeface="Calibri"/>
              </a:rPr>
              <a:t>normally </a:t>
            </a:r>
            <a:r>
              <a:rPr sz="2000" spc="-5" dirty="0">
                <a:latin typeface="Calibri"/>
                <a:cs typeface="Calibri"/>
              </a:rPr>
              <a:t>[0,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1].</a:t>
            </a:r>
            <a:endParaRPr sz="2000">
              <a:latin typeface="Calibri"/>
              <a:cs typeface="Calibri"/>
            </a:endParaRPr>
          </a:p>
          <a:p>
            <a:pPr marL="4013200">
              <a:lnSpc>
                <a:spcPct val="100000"/>
              </a:lnSpc>
              <a:spcBef>
                <a:spcPts val="1595"/>
              </a:spcBef>
              <a:tabLst>
                <a:tab pos="5270500" algn="l"/>
                <a:tab pos="7177405" algn="l"/>
              </a:tabLst>
            </a:pPr>
            <a:r>
              <a:rPr sz="2000" u="sng" spc="-5" dirty="0">
                <a:uFill>
                  <a:solidFill>
                    <a:srgbClr val="497DBA"/>
                  </a:solidFill>
                </a:uFill>
                <a:latin typeface="Calibri"/>
                <a:cs typeface="Calibri"/>
              </a:rPr>
              <a:t>P(t=0)	P(t=0.8)	P(t</a:t>
            </a:r>
            <a:r>
              <a:rPr sz="2000" spc="-5" dirty="0">
                <a:latin typeface="Calibri"/>
                <a:cs typeface="Calibri"/>
              </a:rPr>
              <a:t>=1)</a:t>
            </a:r>
            <a:endParaRPr sz="2000">
              <a:latin typeface="Calibri"/>
              <a:cs typeface="Calibri"/>
            </a:endParaRPr>
          </a:p>
          <a:p>
            <a:pPr marL="3841750">
              <a:lnSpc>
                <a:spcPct val="100000"/>
              </a:lnSpc>
              <a:spcBef>
                <a:spcPts val="240"/>
              </a:spcBef>
              <a:tabLst>
                <a:tab pos="5456555" algn="l"/>
                <a:tab pos="7156450" algn="l"/>
              </a:tabLst>
            </a:pPr>
            <a:r>
              <a:rPr sz="2000" spc="-5" dirty="0">
                <a:latin typeface="Calibri"/>
                <a:cs typeface="Calibri"/>
              </a:rPr>
              <a:t>(x0,y0)	(x,y)	(x1,y1)</a:t>
            </a:r>
            <a:endParaRPr sz="2000">
              <a:latin typeface="Calibri"/>
              <a:cs typeface="Calibri"/>
            </a:endParaRPr>
          </a:p>
          <a:p>
            <a:pPr marL="2927350">
              <a:lnSpc>
                <a:spcPct val="100000"/>
              </a:lnSpc>
              <a:spcBef>
                <a:spcPts val="240"/>
              </a:spcBef>
            </a:pPr>
            <a:r>
              <a:rPr sz="2000" spc="-5" dirty="0">
                <a:latin typeface="Calibri"/>
                <a:cs typeface="Calibri"/>
              </a:rPr>
              <a:t>P(x,y)=(1-t)P0 +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tP1</a:t>
            </a:r>
            <a:endParaRPr sz="2000">
              <a:latin typeface="Calibri"/>
              <a:cs typeface="Calibri"/>
            </a:endParaRPr>
          </a:p>
          <a:p>
            <a:pPr marL="2927350" marR="955675">
              <a:lnSpc>
                <a:spcPct val="110000"/>
              </a:lnSpc>
            </a:pPr>
            <a:r>
              <a:rPr sz="2000" spc="-5" dirty="0">
                <a:latin typeface="Calibri"/>
                <a:cs typeface="Calibri"/>
              </a:rPr>
              <a:t>x = (1-0.8)*x0 + 0.8*x1 = 0.2*x0 + 0.8*x1  y= (1-0.8)*y0 + 0.8*y1 = 0.2*y0 + 0.8*y1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0221" y="5168900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59500" y="5179821"/>
            <a:ext cx="101600" cy="101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988300" y="5179821"/>
            <a:ext cx="101600" cy="101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4488" y="439419"/>
            <a:ext cx="38722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Calibri"/>
                <a:cs typeface="Calibri"/>
              </a:rPr>
              <a:t>Design </a:t>
            </a:r>
            <a:r>
              <a:rPr b="1" spc="-5" dirty="0">
                <a:latin typeface="Calibri"/>
                <a:cs typeface="Calibri"/>
              </a:rPr>
              <a:t>of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Curves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07260"/>
            <a:ext cx="7430770" cy="83883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spc="-20" dirty="0">
                <a:latin typeface="Calibri"/>
                <a:cs typeface="Calibri"/>
              </a:rPr>
              <a:t>Types:</a:t>
            </a:r>
            <a:endParaRPr sz="2400">
              <a:latin typeface="Calibri"/>
              <a:cs typeface="Calibri"/>
            </a:endParaRPr>
          </a:p>
          <a:p>
            <a:pPr marL="412750">
              <a:lnSpc>
                <a:spcPct val="100000"/>
              </a:lnSpc>
              <a:spcBef>
                <a:spcPts val="509"/>
              </a:spcBef>
            </a:pPr>
            <a:r>
              <a:rPr sz="2000" spc="-5" dirty="0">
                <a:latin typeface="Calibri"/>
                <a:cs typeface="Calibri"/>
              </a:rPr>
              <a:t>1. </a:t>
            </a:r>
            <a:r>
              <a:rPr sz="2000" b="1" spc="-5" dirty="0">
                <a:latin typeface="Calibri"/>
                <a:cs typeface="Calibri"/>
              </a:rPr>
              <a:t>Piece-wise linear</a:t>
            </a:r>
            <a:r>
              <a:rPr sz="2000" spc="-5" dirty="0">
                <a:latin typeface="Calibri"/>
                <a:cs typeface="Calibri"/>
              </a:rPr>
              <a:t>: Join </a:t>
            </a:r>
            <a:r>
              <a:rPr sz="2000" spc="-10" dirty="0">
                <a:latin typeface="Calibri"/>
                <a:cs typeface="Calibri"/>
              </a:rPr>
              <a:t>points </a:t>
            </a:r>
            <a:r>
              <a:rPr sz="2000" spc="-5" dirty="0">
                <a:latin typeface="Calibri"/>
                <a:cs typeface="Calibri"/>
              </a:rPr>
              <a:t>by line (linearly </a:t>
            </a:r>
            <a:r>
              <a:rPr sz="2000" spc="-10" dirty="0">
                <a:latin typeface="Calibri"/>
                <a:cs typeface="Calibri"/>
              </a:rPr>
              <a:t>joined) </a:t>
            </a:r>
            <a:r>
              <a:rPr sz="2000" spc="-5" dirty="0">
                <a:latin typeface="Calibri"/>
                <a:cs typeface="Calibri"/>
              </a:rPr>
              <a:t>: </a:t>
            </a:r>
            <a:r>
              <a:rPr sz="2000" spc="-15" dirty="0">
                <a:latin typeface="Calibri"/>
                <a:cs typeface="Calibri"/>
              </a:rPr>
              <a:t>ex: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y=mx+c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7739" y="3217367"/>
            <a:ext cx="7608570" cy="167195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580"/>
              </a:spcBef>
            </a:pPr>
            <a:r>
              <a:rPr sz="2000" spc="-5" dirty="0">
                <a:latin typeface="Calibri"/>
                <a:cs typeface="Calibri"/>
              </a:rPr>
              <a:t>but it is not </a:t>
            </a:r>
            <a:r>
              <a:rPr sz="2000" spc="-10" dirty="0">
                <a:latin typeface="Calibri"/>
                <a:cs typeface="Calibri"/>
              </a:rPr>
              <a:t>smooth </a:t>
            </a:r>
            <a:r>
              <a:rPr sz="2000" spc="-5" dirty="0">
                <a:latin typeface="Calibri"/>
                <a:cs typeface="Calibri"/>
              </a:rPr>
              <a:t>and not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realistic.</a:t>
            </a:r>
            <a:endParaRPr sz="2000">
              <a:latin typeface="Calibri"/>
              <a:cs typeface="Calibri"/>
            </a:endParaRPr>
          </a:p>
          <a:p>
            <a:pPr marL="495300" marR="30480" indent="-45720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Calibri"/>
                <a:cs typeface="Calibri"/>
              </a:rPr>
              <a:t>2</a:t>
            </a:r>
            <a:r>
              <a:rPr sz="2000" b="1" spc="-5" dirty="0">
                <a:latin typeface="Calibri"/>
                <a:cs typeface="Calibri"/>
              </a:rPr>
              <a:t>. Piece-wise Polynomial</a:t>
            </a:r>
            <a:r>
              <a:rPr sz="2000" spc="-5" dirty="0">
                <a:latin typeface="Calibri"/>
                <a:cs typeface="Calibri"/>
              </a:rPr>
              <a:t>: Join points with polynomial </a:t>
            </a:r>
            <a:r>
              <a:rPr sz="2000" spc="-10" dirty="0">
                <a:latin typeface="Calibri"/>
                <a:cs typeface="Calibri"/>
              </a:rPr>
              <a:t>(non-linear( </a:t>
            </a:r>
            <a:r>
              <a:rPr sz="2000" spc="-5" dirty="0">
                <a:latin typeface="Calibri"/>
                <a:cs typeface="Calibri"/>
              </a:rPr>
              <a:t>curve.  Ex: </a:t>
            </a:r>
            <a:r>
              <a:rPr sz="2000" dirty="0">
                <a:latin typeface="Calibri"/>
                <a:cs typeface="Calibri"/>
              </a:rPr>
              <a:t>y = </a:t>
            </a:r>
            <a:r>
              <a:rPr sz="2000" spc="10" dirty="0">
                <a:latin typeface="Calibri"/>
                <a:cs typeface="Calibri"/>
              </a:rPr>
              <a:t>x</a:t>
            </a:r>
            <a:r>
              <a:rPr sz="1950" spc="15" baseline="25641" dirty="0">
                <a:latin typeface="Calibri"/>
                <a:cs typeface="Calibri"/>
              </a:rPr>
              <a:t>3 </a:t>
            </a:r>
            <a:r>
              <a:rPr sz="2000" dirty="0">
                <a:latin typeface="Calibri"/>
                <a:cs typeface="Calibri"/>
              </a:rPr>
              <a:t>+ </a:t>
            </a:r>
            <a:r>
              <a:rPr sz="2000" spc="5" dirty="0">
                <a:latin typeface="Calibri"/>
                <a:cs typeface="Calibri"/>
              </a:rPr>
              <a:t>x</a:t>
            </a:r>
            <a:r>
              <a:rPr sz="1950" spc="7" baseline="25641" dirty="0">
                <a:latin typeface="Calibri"/>
                <a:cs typeface="Calibri"/>
              </a:rPr>
              <a:t>2 </a:t>
            </a:r>
            <a:r>
              <a:rPr sz="2000" dirty="0">
                <a:latin typeface="Calibri"/>
                <a:cs typeface="Calibri"/>
              </a:rPr>
              <a:t>+ 6 </a:t>
            </a:r>
            <a:r>
              <a:rPr sz="2000" spc="-5" dirty="0">
                <a:latin typeface="Calibri"/>
                <a:cs typeface="Calibri"/>
              </a:rPr>
              <a:t>polynomial </a:t>
            </a:r>
            <a:r>
              <a:rPr sz="2000" dirty="0">
                <a:latin typeface="Calibri"/>
                <a:cs typeface="Calibri"/>
              </a:rPr>
              <a:t>with </a:t>
            </a:r>
            <a:r>
              <a:rPr sz="2000" spc="-10" dirty="0">
                <a:latin typeface="Calibri"/>
                <a:cs typeface="Calibri"/>
              </a:rPr>
              <a:t>degree=3 </a:t>
            </a:r>
            <a:r>
              <a:rPr sz="2000" spc="-5" dirty="0">
                <a:latin typeface="Calibri"/>
                <a:cs typeface="Calibri"/>
              </a:rPr>
              <a:t>needs </a:t>
            </a:r>
            <a:r>
              <a:rPr sz="2000" dirty="0">
                <a:latin typeface="Calibri"/>
                <a:cs typeface="Calibri"/>
              </a:rPr>
              <a:t>4 </a:t>
            </a:r>
            <a:r>
              <a:rPr sz="2000" spc="-10" dirty="0">
                <a:latin typeface="Calibri"/>
                <a:cs typeface="Calibri"/>
              </a:rPr>
              <a:t>points to </a:t>
            </a:r>
            <a:r>
              <a:rPr sz="2000" spc="-40" dirty="0">
                <a:latin typeface="Calibri"/>
                <a:cs typeface="Calibri"/>
              </a:rPr>
              <a:t>draw.  </a:t>
            </a:r>
            <a:r>
              <a:rPr sz="2000" spc="-10" dirty="0">
                <a:latin typeface="Calibri"/>
                <a:cs typeface="Calibri"/>
              </a:rPr>
              <a:t>Remember y=mx+c </a:t>
            </a:r>
            <a:r>
              <a:rPr sz="2000" spc="-5" dirty="0">
                <a:latin typeface="Calibri"/>
                <a:cs typeface="Calibri"/>
              </a:rPr>
              <a:t>is a polynomial with degree=1 needs 2 </a:t>
            </a:r>
            <a:r>
              <a:rPr sz="2000" spc="-10" dirty="0">
                <a:latin typeface="Calibri"/>
                <a:cs typeface="Calibri"/>
              </a:rPr>
              <a:t>points.  </a:t>
            </a:r>
            <a:r>
              <a:rPr sz="2000" spc="-5" dirty="0">
                <a:latin typeface="Calibri"/>
                <a:cs typeface="Calibri"/>
              </a:rPr>
              <a:t>Use 4-5 </a:t>
            </a:r>
            <a:r>
              <a:rPr sz="2000" spc="-10" dirty="0">
                <a:latin typeface="Calibri"/>
                <a:cs typeface="Calibri"/>
              </a:rPr>
              <a:t>points gives </a:t>
            </a: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best </a:t>
            </a:r>
            <a:r>
              <a:rPr sz="2000" spc="-5" dirty="0">
                <a:latin typeface="Calibri"/>
                <a:cs typeface="Calibri"/>
              </a:rPr>
              <a:t>result.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5" dirty="0">
                <a:latin typeface="Calibri"/>
                <a:cs typeface="Calibri"/>
              </a:rPr>
              <a:t>4 </a:t>
            </a:r>
            <a:r>
              <a:rPr sz="2000" spc="-10" dirty="0">
                <a:latin typeface="Calibri"/>
                <a:cs typeface="Calibri"/>
              </a:rPr>
              <a:t>point </a:t>
            </a:r>
            <a:r>
              <a:rPr sz="2000" spc="-5" dirty="0">
                <a:latin typeface="Calibri"/>
                <a:cs typeface="Calibri"/>
              </a:rPr>
              <a:t>curve called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cubic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41677" y="2699639"/>
            <a:ext cx="304800" cy="381000"/>
          </a:xfrm>
          <a:custGeom>
            <a:avLst/>
            <a:gdLst/>
            <a:ahLst/>
            <a:cxnLst/>
            <a:rect l="l" t="t" r="r" b="b"/>
            <a:pathLst>
              <a:path w="304800" h="381000">
                <a:moveTo>
                  <a:pt x="0" y="381000"/>
                </a:moveTo>
                <a:lnTo>
                  <a:pt x="304800" y="0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46477" y="2699639"/>
            <a:ext cx="838200" cy="533400"/>
          </a:xfrm>
          <a:custGeom>
            <a:avLst/>
            <a:gdLst/>
            <a:ahLst/>
            <a:cxnLst/>
            <a:rect l="l" t="t" r="r" b="b"/>
            <a:pathLst>
              <a:path w="838200" h="533400">
                <a:moveTo>
                  <a:pt x="0" y="0"/>
                </a:moveTo>
                <a:lnTo>
                  <a:pt x="838200" y="533400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84677" y="2318639"/>
            <a:ext cx="685800" cy="914400"/>
          </a:xfrm>
          <a:custGeom>
            <a:avLst/>
            <a:gdLst/>
            <a:ahLst/>
            <a:cxnLst/>
            <a:rect l="l" t="t" r="r" b="b"/>
            <a:pathLst>
              <a:path w="685800" h="914400">
                <a:moveTo>
                  <a:pt x="0" y="914400"/>
                </a:moveTo>
                <a:lnTo>
                  <a:pt x="685800" y="0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70478" y="2318639"/>
            <a:ext cx="1295400" cy="381000"/>
          </a:xfrm>
          <a:custGeom>
            <a:avLst/>
            <a:gdLst/>
            <a:ahLst/>
            <a:cxnLst/>
            <a:rect l="l" t="t" r="r" b="b"/>
            <a:pathLst>
              <a:path w="1295400" h="381000">
                <a:moveTo>
                  <a:pt x="0" y="0"/>
                </a:moveTo>
                <a:lnTo>
                  <a:pt x="1295400" y="381000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57577" y="2610739"/>
            <a:ext cx="101600" cy="147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63700" y="3024377"/>
            <a:ext cx="101600" cy="1473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53178" y="2654300"/>
            <a:ext cx="101600" cy="147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57778" y="2273300"/>
            <a:ext cx="101600" cy="147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95777" y="3131057"/>
            <a:ext cx="101600" cy="147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503" y="198120"/>
            <a:ext cx="74320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0" dirty="0">
                <a:latin typeface="Calibri"/>
                <a:cs typeface="Calibri"/>
              </a:rPr>
              <a:t>Parametric </a:t>
            </a:r>
            <a:r>
              <a:rPr sz="4000" b="1" dirty="0">
                <a:latin typeface="Calibri"/>
                <a:cs typeface="Calibri"/>
              </a:rPr>
              <a:t>&amp; </a:t>
            </a:r>
            <a:r>
              <a:rPr sz="4000" b="1" spc="-5" dirty="0">
                <a:latin typeface="Calibri"/>
                <a:cs typeface="Calibri"/>
              </a:rPr>
              <a:t>Geometric</a:t>
            </a:r>
            <a:r>
              <a:rPr sz="4000" b="1" spc="-4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Continuity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13247" y="2909061"/>
            <a:ext cx="483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P(t)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78883" y="2340482"/>
            <a:ext cx="1856105" cy="457200"/>
          </a:xfrm>
          <a:custGeom>
            <a:avLst/>
            <a:gdLst/>
            <a:ahLst/>
            <a:cxnLst/>
            <a:rect l="l" t="t" r="r" b="b"/>
            <a:pathLst>
              <a:path w="1856104" h="457200">
                <a:moveTo>
                  <a:pt x="0" y="457200"/>
                </a:moveTo>
                <a:lnTo>
                  <a:pt x="23475" y="405775"/>
                </a:lnTo>
                <a:lnTo>
                  <a:pt x="47130" y="354935"/>
                </a:lnTo>
                <a:lnTo>
                  <a:pt x="71140" y="305259"/>
                </a:lnTo>
                <a:lnTo>
                  <a:pt x="95686" y="257326"/>
                </a:lnTo>
                <a:lnTo>
                  <a:pt x="120944" y="211715"/>
                </a:lnTo>
                <a:lnTo>
                  <a:pt x="147094" y="169007"/>
                </a:lnTo>
                <a:lnTo>
                  <a:pt x="174314" y="129781"/>
                </a:lnTo>
                <a:lnTo>
                  <a:pt x="202781" y="94617"/>
                </a:lnTo>
                <a:lnTo>
                  <a:pt x="232675" y="64093"/>
                </a:lnTo>
                <a:lnTo>
                  <a:pt x="264173" y="38790"/>
                </a:lnTo>
                <a:lnTo>
                  <a:pt x="297454" y="19287"/>
                </a:lnTo>
                <a:lnTo>
                  <a:pt x="370077" y="0"/>
                </a:lnTo>
                <a:lnTo>
                  <a:pt x="400192" y="2005"/>
                </a:lnTo>
                <a:lnTo>
                  <a:pt x="464175" y="26841"/>
                </a:lnTo>
                <a:lnTo>
                  <a:pt x="497883" y="47824"/>
                </a:lnTo>
                <a:lnTo>
                  <a:pt x="532629" y="73285"/>
                </a:lnTo>
                <a:lnTo>
                  <a:pt x="568333" y="102300"/>
                </a:lnTo>
                <a:lnTo>
                  <a:pt x="604914" y="133946"/>
                </a:lnTo>
                <a:lnTo>
                  <a:pt x="642293" y="167297"/>
                </a:lnTo>
                <a:lnTo>
                  <a:pt x="680390" y="201431"/>
                </a:lnTo>
                <a:lnTo>
                  <a:pt x="719124" y="235423"/>
                </a:lnTo>
                <a:lnTo>
                  <a:pt x="758416" y="268350"/>
                </a:lnTo>
                <a:lnTo>
                  <a:pt x="798185" y="299287"/>
                </a:lnTo>
                <a:lnTo>
                  <a:pt x="838352" y="327311"/>
                </a:lnTo>
                <a:lnTo>
                  <a:pt x="878837" y="351498"/>
                </a:lnTo>
                <a:lnTo>
                  <a:pt x="919559" y="370923"/>
                </a:lnTo>
                <a:lnTo>
                  <a:pt x="960438" y="384663"/>
                </a:lnTo>
                <a:lnTo>
                  <a:pt x="1001394" y="391794"/>
                </a:lnTo>
                <a:lnTo>
                  <a:pt x="1043976" y="392693"/>
                </a:lnTo>
                <a:lnTo>
                  <a:pt x="1089397" y="388720"/>
                </a:lnTo>
                <a:lnTo>
                  <a:pt x="1137145" y="380427"/>
                </a:lnTo>
                <a:lnTo>
                  <a:pt x="1186709" y="368365"/>
                </a:lnTo>
                <a:lnTo>
                  <a:pt x="1237577" y="353086"/>
                </a:lnTo>
                <a:lnTo>
                  <a:pt x="1289237" y="335141"/>
                </a:lnTo>
                <a:lnTo>
                  <a:pt x="1341178" y="315084"/>
                </a:lnTo>
                <a:lnTo>
                  <a:pt x="1392887" y="293464"/>
                </a:lnTo>
                <a:lnTo>
                  <a:pt x="1443852" y="270834"/>
                </a:lnTo>
                <a:lnTo>
                  <a:pt x="1493562" y="247746"/>
                </a:lnTo>
                <a:lnTo>
                  <a:pt x="1541505" y="224751"/>
                </a:lnTo>
                <a:lnTo>
                  <a:pt x="1587170" y="202401"/>
                </a:lnTo>
                <a:lnTo>
                  <a:pt x="1630043" y="181248"/>
                </a:lnTo>
                <a:lnTo>
                  <a:pt x="1669615" y="161843"/>
                </a:lnTo>
                <a:lnTo>
                  <a:pt x="1705371" y="144737"/>
                </a:lnTo>
                <a:lnTo>
                  <a:pt x="1736802" y="130484"/>
                </a:lnTo>
                <a:lnTo>
                  <a:pt x="1763394" y="119633"/>
                </a:lnTo>
                <a:lnTo>
                  <a:pt x="1825254" y="95866"/>
                </a:lnTo>
                <a:lnTo>
                  <a:pt x="1853128" y="83602"/>
                </a:lnTo>
                <a:lnTo>
                  <a:pt x="1855520" y="79958"/>
                </a:lnTo>
                <a:lnTo>
                  <a:pt x="1840936" y="82050"/>
                </a:lnTo>
                <a:lnTo>
                  <a:pt x="1817877" y="8699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61657" y="2175266"/>
            <a:ext cx="2064385" cy="699135"/>
          </a:xfrm>
          <a:custGeom>
            <a:avLst/>
            <a:gdLst/>
            <a:ahLst/>
            <a:cxnLst/>
            <a:rect l="l" t="t" r="r" b="b"/>
            <a:pathLst>
              <a:path w="2064384" h="699135">
                <a:moveTo>
                  <a:pt x="0" y="238368"/>
                </a:moveTo>
                <a:lnTo>
                  <a:pt x="41947" y="207126"/>
                </a:lnTo>
                <a:lnTo>
                  <a:pt x="83963" y="176366"/>
                </a:lnTo>
                <a:lnTo>
                  <a:pt x="126120" y="146564"/>
                </a:lnTo>
                <a:lnTo>
                  <a:pt x="168490" y="118200"/>
                </a:lnTo>
                <a:lnTo>
                  <a:pt x="211147" y="91749"/>
                </a:lnTo>
                <a:lnTo>
                  <a:pt x="254162" y="67691"/>
                </a:lnTo>
                <a:lnTo>
                  <a:pt x="297608" y="46503"/>
                </a:lnTo>
                <a:lnTo>
                  <a:pt x="341558" y="28662"/>
                </a:lnTo>
                <a:lnTo>
                  <a:pt x="386083" y="14646"/>
                </a:lnTo>
                <a:lnTo>
                  <a:pt x="431257" y="4933"/>
                </a:lnTo>
                <a:lnTo>
                  <a:pt x="477152" y="0"/>
                </a:lnTo>
                <a:lnTo>
                  <a:pt x="523840" y="324"/>
                </a:lnTo>
                <a:lnTo>
                  <a:pt x="571394" y="6385"/>
                </a:lnTo>
                <a:lnTo>
                  <a:pt x="619887" y="18658"/>
                </a:lnTo>
                <a:lnTo>
                  <a:pt x="686623" y="50350"/>
                </a:lnTo>
                <a:lnTo>
                  <a:pt x="720937" y="73572"/>
                </a:lnTo>
                <a:lnTo>
                  <a:pt x="755799" y="100978"/>
                </a:lnTo>
                <a:lnTo>
                  <a:pt x="791146" y="132018"/>
                </a:lnTo>
                <a:lnTo>
                  <a:pt x="826917" y="166140"/>
                </a:lnTo>
                <a:lnTo>
                  <a:pt x="863049" y="202794"/>
                </a:lnTo>
                <a:lnTo>
                  <a:pt x="899480" y="241430"/>
                </a:lnTo>
                <a:lnTo>
                  <a:pt x="936148" y="281498"/>
                </a:lnTo>
                <a:lnTo>
                  <a:pt x="972990" y="322447"/>
                </a:lnTo>
                <a:lnTo>
                  <a:pt x="1009944" y="363726"/>
                </a:lnTo>
                <a:lnTo>
                  <a:pt x="1046949" y="404786"/>
                </a:lnTo>
                <a:lnTo>
                  <a:pt x="1083941" y="445075"/>
                </a:lnTo>
                <a:lnTo>
                  <a:pt x="1120859" y="484043"/>
                </a:lnTo>
                <a:lnTo>
                  <a:pt x="1157641" y="521139"/>
                </a:lnTo>
                <a:lnTo>
                  <a:pt x="1194224" y="555814"/>
                </a:lnTo>
                <a:lnTo>
                  <a:pt x="1230546" y="587517"/>
                </a:lnTo>
                <a:lnTo>
                  <a:pt x="1266545" y="615697"/>
                </a:lnTo>
                <a:lnTo>
                  <a:pt x="1302158" y="639804"/>
                </a:lnTo>
                <a:lnTo>
                  <a:pt x="1337324" y="659288"/>
                </a:lnTo>
                <a:lnTo>
                  <a:pt x="1419918" y="687090"/>
                </a:lnTo>
                <a:lnTo>
                  <a:pt x="1467483" y="695452"/>
                </a:lnTo>
                <a:lnTo>
                  <a:pt x="1514701" y="699050"/>
                </a:lnTo>
                <a:lnTo>
                  <a:pt x="1561600" y="698250"/>
                </a:lnTo>
                <a:lnTo>
                  <a:pt x="1608205" y="693419"/>
                </a:lnTo>
                <a:lnTo>
                  <a:pt x="1654544" y="684922"/>
                </a:lnTo>
                <a:lnTo>
                  <a:pt x="1700644" y="673125"/>
                </a:lnTo>
                <a:lnTo>
                  <a:pt x="1746530" y="658396"/>
                </a:lnTo>
                <a:lnTo>
                  <a:pt x="1792230" y="641099"/>
                </a:lnTo>
                <a:lnTo>
                  <a:pt x="1837769" y="621602"/>
                </a:lnTo>
                <a:lnTo>
                  <a:pt x="1883176" y="600271"/>
                </a:lnTo>
                <a:lnTo>
                  <a:pt x="1928476" y="577471"/>
                </a:lnTo>
                <a:lnTo>
                  <a:pt x="1973696" y="553570"/>
                </a:lnTo>
                <a:lnTo>
                  <a:pt x="2018863" y="528932"/>
                </a:lnTo>
                <a:lnTo>
                  <a:pt x="2064003" y="503925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70647" y="2909061"/>
            <a:ext cx="530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Q(t)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4794" y="2761996"/>
            <a:ext cx="33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t=0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80047" y="2533396"/>
            <a:ext cx="33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t=1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51447" y="2076196"/>
            <a:ext cx="33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t=0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61247" y="2304796"/>
            <a:ext cx="33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t=1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3540" y="1085341"/>
            <a:ext cx="7344409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Quality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curve means </a:t>
            </a:r>
            <a:r>
              <a:rPr sz="1800" spc="-5" dirty="0">
                <a:latin typeface="Calibri"/>
                <a:cs typeface="Calibri"/>
              </a:rPr>
              <a:t>how </a:t>
            </a:r>
            <a:r>
              <a:rPr sz="1800" dirty="0">
                <a:latin typeface="Calibri"/>
                <a:cs typeface="Calibri"/>
              </a:rPr>
              <a:t>much is it </a:t>
            </a:r>
            <a:r>
              <a:rPr sz="1800" spc="-5" dirty="0">
                <a:latin typeface="Calibri"/>
                <a:cs typeface="Calibri"/>
              </a:rPr>
              <a:t>smooth or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continuous</a:t>
            </a:r>
            <a:endParaRPr sz="18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Parametric Continuity</a:t>
            </a:r>
            <a:r>
              <a:rPr sz="1800" spc="-10" dirty="0">
                <a:latin typeface="Calibri"/>
                <a:cs typeface="Calibri"/>
              </a:rPr>
              <a:t>: Checks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continuity </a:t>
            </a:r>
            <a:r>
              <a:rPr sz="1800" dirty="0">
                <a:latin typeface="Calibri"/>
                <a:cs typeface="Calibri"/>
              </a:rPr>
              <a:t>when </a:t>
            </a:r>
            <a:r>
              <a:rPr sz="1800" spc="-5" dirty="0">
                <a:latin typeface="Calibri"/>
                <a:cs typeface="Calibri"/>
              </a:rPr>
              <a:t>join </a:t>
            </a:r>
            <a:r>
              <a:rPr sz="1800" spc="-10" dirty="0">
                <a:latin typeface="Calibri"/>
                <a:cs typeface="Calibri"/>
              </a:rPr>
              <a:t>two parametric</a:t>
            </a:r>
            <a:r>
              <a:rPr sz="1800" spc="1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curve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alibri"/>
                <a:cs typeface="Calibri"/>
              </a:rPr>
              <a:t>Last point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P </a:t>
            </a:r>
            <a:r>
              <a:rPr sz="1800" spc="-5" dirty="0">
                <a:latin typeface="Calibri"/>
                <a:cs typeface="Calibri"/>
              </a:rPr>
              <a:t>joins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first </a:t>
            </a:r>
            <a:r>
              <a:rPr sz="1800" spc="-10" dirty="0">
                <a:latin typeface="Calibri"/>
                <a:cs typeface="Calibri"/>
              </a:rPr>
              <a:t>point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57800" y="3820921"/>
            <a:ext cx="1856105" cy="457200"/>
          </a:xfrm>
          <a:custGeom>
            <a:avLst/>
            <a:gdLst/>
            <a:ahLst/>
            <a:cxnLst/>
            <a:rect l="l" t="t" r="r" b="b"/>
            <a:pathLst>
              <a:path w="1856104" h="457200">
                <a:moveTo>
                  <a:pt x="0" y="457200"/>
                </a:moveTo>
                <a:lnTo>
                  <a:pt x="23475" y="405800"/>
                </a:lnTo>
                <a:lnTo>
                  <a:pt x="47130" y="354977"/>
                </a:lnTo>
                <a:lnTo>
                  <a:pt x="71140" y="305311"/>
                </a:lnTo>
                <a:lnTo>
                  <a:pt x="95686" y="257382"/>
                </a:lnTo>
                <a:lnTo>
                  <a:pt x="120944" y="211771"/>
                </a:lnTo>
                <a:lnTo>
                  <a:pt x="147094" y="169058"/>
                </a:lnTo>
                <a:lnTo>
                  <a:pt x="174314" y="129825"/>
                </a:lnTo>
                <a:lnTo>
                  <a:pt x="202781" y="94651"/>
                </a:lnTo>
                <a:lnTo>
                  <a:pt x="232675" y="64118"/>
                </a:lnTo>
                <a:lnTo>
                  <a:pt x="264173" y="38805"/>
                </a:lnTo>
                <a:lnTo>
                  <a:pt x="297454" y="19294"/>
                </a:lnTo>
                <a:lnTo>
                  <a:pt x="370077" y="0"/>
                </a:lnTo>
                <a:lnTo>
                  <a:pt x="400212" y="2005"/>
                </a:lnTo>
                <a:lnTo>
                  <a:pt x="464221" y="26841"/>
                </a:lnTo>
                <a:lnTo>
                  <a:pt x="497937" y="47824"/>
                </a:lnTo>
                <a:lnTo>
                  <a:pt x="532688" y="73285"/>
                </a:lnTo>
                <a:lnTo>
                  <a:pt x="568395" y="102300"/>
                </a:lnTo>
                <a:lnTo>
                  <a:pt x="604977" y="133946"/>
                </a:lnTo>
                <a:lnTo>
                  <a:pt x="642357" y="167297"/>
                </a:lnTo>
                <a:lnTo>
                  <a:pt x="680453" y="201431"/>
                </a:lnTo>
                <a:lnTo>
                  <a:pt x="719188" y="235423"/>
                </a:lnTo>
                <a:lnTo>
                  <a:pt x="758481" y="268350"/>
                </a:lnTo>
                <a:lnTo>
                  <a:pt x="798253" y="299287"/>
                </a:lnTo>
                <a:lnTo>
                  <a:pt x="838425" y="327311"/>
                </a:lnTo>
                <a:lnTo>
                  <a:pt x="878917" y="351498"/>
                </a:lnTo>
                <a:lnTo>
                  <a:pt x="919650" y="370923"/>
                </a:lnTo>
                <a:lnTo>
                  <a:pt x="960545" y="384663"/>
                </a:lnTo>
                <a:lnTo>
                  <a:pt x="1001522" y="391794"/>
                </a:lnTo>
                <a:lnTo>
                  <a:pt x="1044082" y="392714"/>
                </a:lnTo>
                <a:lnTo>
                  <a:pt x="1089484" y="388760"/>
                </a:lnTo>
                <a:lnTo>
                  <a:pt x="1137217" y="380483"/>
                </a:lnTo>
                <a:lnTo>
                  <a:pt x="1186768" y="368435"/>
                </a:lnTo>
                <a:lnTo>
                  <a:pt x="1237625" y="353168"/>
                </a:lnTo>
                <a:lnTo>
                  <a:pt x="1289277" y="335234"/>
                </a:lnTo>
                <a:lnTo>
                  <a:pt x="1341213" y="315185"/>
                </a:lnTo>
                <a:lnTo>
                  <a:pt x="1392919" y="293572"/>
                </a:lnTo>
                <a:lnTo>
                  <a:pt x="1443884" y="270948"/>
                </a:lnTo>
                <a:lnTo>
                  <a:pt x="1493597" y="247864"/>
                </a:lnTo>
                <a:lnTo>
                  <a:pt x="1541545" y="224873"/>
                </a:lnTo>
                <a:lnTo>
                  <a:pt x="1587218" y="202525"/>
                </a:lnTo>
                <a:lnTo>
                  <a:pt x="1630102" y="181373"/>
                </a:lnTo>
                <a:lnTo>
                  <a:pt x="1669686" y="161969"/>
                </a:lnTo>
                <a:lnTo>
                  <a:pt x="1705459" y="144864"/>
                </a:lnTo>
                <a:lnTo>
                  <a:pt x="1736908" y="130611"/>
                </a:lnTo>
                <a:lnTo>
                  <a:pt x="1763522" y="119760"/>
                </a:lnTo>
                <a:lnTo>
                  <a:pt x="1825331" y="95980"/>
                </a:lnTo>
                <a:lnTo>
                  <a:pt x="1853192" y="83684"/>
                </a:lnTo>
                <a:lnTo>
                  <a:pt x="1855583" y="80002"/>
                </a:lnTo>
                <a:lnTo>
                  <a:pt x="1840985" y="82063"/>
                </a:lnTo>
                <a:lnTo>
                  <a:pt x="1817877" y="8699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771385" y="3854624"/>
            <a:ext cx="1519555" cy="1423670"/>
          </a:xfrm>
          <a:custGeom>
            <a:avLst/>
            <a:gdLst/>
            <a:ahLst/>
            <a:cxnLst/>
            <a:rect l="l" t="t" r="r" b="b"/>
            <a:pathLst>
              <a:path w="1519554" h="1423670">
                <a:moveTo>
                  <a:pt x="0" y="1222"/>
                </a:moveTo>
                <a:lnTo>
                  <a:pt x="52269" y="396"/>
                </a:lnTo>
                <a:lnTo>
                  <a:pt x="104317" y="0"/>
                </a:lnTo>
                <a:lnTo>
                  <a:pt x="155924" y="464"/>
                </a:lnTo>
                <a:lnTo>
                  <a:pt x="206868" y="2218"/>
                </a:lnTo>
                <a:lnTo>
                  <a:pt x="256929" y="5693"/>
                </a:lnTo>
                <a:lnTo>
                  <a:pt x="305887" y="11319"/>
                </a:lnTo>
                <a:lnTo>
                  <a:pt x="353520" y="19526"/>
                </a:lnTo>
                <a:lnTo>
                  <a:pt x="399607" y="30744"/>
                </a:lnTo>
                <a:lnTo>
                  <a:pt x="443929" y="45403"/>
                </a:lnTo>
                <a:lnTo>
                  <a:pt x="486263" y="63933"/>
                </a:lnTo>
                <a:lnTo>
                  <a:pt x="526390" y="86765"/>
                </a:lnTo>
                <a:lnTo>
                  <a:pt x="564088" y="114329"/>
                </a:lnTo>
                <a:lnTo>
                  <a:pt x="599137" y="147055"/>
                </a:lnTo>
                <a:lnTo>
                  <a:pt x="631317" y="185372"/>
                </a:lnTo>
                <a:lnTo>
                  <a:pt x="666939" y="250067"/>
                </a:lnTo>
                <a:lnTo>
                  <a:pt x="681205" y="288953"/>
                </a:lnTo>
                <a:lnTo>
                  <a:pt x="693467" y="331556"/>
                </a:lnTo>
                <a:lnTo>
                  <a:pt x="703999" y="377391"/>
                </a:lnTo>
                <a:lnTo>
                  <a:pt x="713071" y="425976"/>
                </a:lnTo>
                <a:lnTo>
                  <a:pt x="720955" y="476828"/>
                </a:lnTo>
                <a:lnTo>
                  <a:pt x="727922" y="529463"/>
                </a:lnTo>
                <a:lnTo>
                  <a:pt x="734243" y="583399"/>
                </a:lnTo>
                <a:lnTo>
                  <a:pt x="740190" y="638153"/>
                </a:lnTo>
                <a:lnTo>
                  <a:pt x="746034" y="693242"/>
                </a:lnTo>
                <a:lnTo>
                  <a:pt x="752047" y="748183"/>
                </a:lnTo>
                <a:lnTo>
                  <a:pt x="758500" y="802492"/>
                </a:lnTo>
                <a:lnTo>
                  <a:pt x="765664" y="855688"/>
                </a:lnTo>
                <a:lnTo>
                  <a:pt x="773810" y="907286"/>
                </a:lnTo>
                <a:lnTo>
                  <a:pt x="783211" y="956804"/>
                </a:lnTo>
                <a:lnTo>
                  <a:pt x="794136" y="1003759"/>
                </a:lnTo>
                <a:lnTo>
                  <a:pt x="806859" y="1047667"/>
                </a:lnTo>
                <a:lnTo>
                  <a:pt x="821649" y="1088047"/>
                </a:lnTo>
                <a:lnTo>
                  <a:pt x="838779" y="1124415"/>
                </a:lnTo>
                <a:lnTo>
                  <a:pt x="889547" y="1195266"/>
                </a:lnTo>
                <a:lnTo>
                  <a:pt x="923267" y="1229860"/>
                </a:lnTo>
                <a:lnTo>
                  <a:pt x="959489" y="1260384"/>
                </a:lnTo>
                <a:lnTo>
                  <a:pt x="998019" y="1287151"/>
                </a:lnTo>
                <a:lnTo>
                  <a:pt x="1038667" y="1310475"/>
                </a:lnTo>
                <a:lnTo>
                  <a:pt x="1081239" y="1330667"/>
                </a:lnTo>
                <a:lnTo>
                  <a:pt x="1125544" y="1348043"/>
                </a:lnTo>
                <a:lnTo>
                  <a:pt x="1171389" y="1362915"/>
                </a:lnTo>
                <a:lnTo>
                  <a:pt x="1218583" y="1375597"/>
                </a:lnTo>
                <a:lnTo>
                  <a:pt x="1266933" y="1386402"/>
                </a:lnTo>
                <a:lnTo>
                  <a:pt x="1316247" y="1395643"/>
                </a:lnTo>
                <a:lnTo>
                  <a:pt x="1366333" y="1403634"/>
                </a:lnTo>
                <a:lnTo>
                  <a:pt x="1416998" y="1410689"/>
                </a:lnTo>
                <a:lnTo>
                  <a:pt x="1468052" y="1417120"/>
                </a:lnTo>
                <a:lnTo>
                  <a:pt x="1519301" y="1423241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641847" y="4280916"/>
            <a:ext cx="483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P(t)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99247" y="4280916"/>
            <a:ext cx="530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Q(t)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89447" y="5124450"/>
            <a:ext cx="1722120" cy="5765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0"/>
              </a:spcBef>
            </a:pPr>
            <a:r>
              <a:rPr sz="1800" dirty="0">
                <a:latin typeface="Calibri"/>
                <a:cs typeface="Calibri"/>
              </a:rPr>
              <a:t>Not </a:t>
            </a:r>
            <a:r>
              <a:rPr sz="1800" spc="-15" dirty="0">
                <a:latin typeface="Calibri"/>
                <a:cs typeface="Calibri"/>
              </a:rPr>
              <a:t>Zero </a:t>
            </a:r>
            <a:r>
              <a:rPr sz="1800" spc="-10" dirty="0">
                <a:latin typeface="Calibri"/>
                <a:cs typeface="Calibri"/>
              </a:rPr>
              <a:t>Order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PC  P(1) </a:t>
            </a:r>
            <a:r>
              <a:rPr sz="1800" dirty="0">
                <a:latin typeface="Symbol"/>
                <a:cs typeface="Symbol"/>
              </a:rPr>
              <a:t>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Q(0)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1940" y="2045715"/>
            <a:ext cx="4144010" cy="420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check it </a:t>
            </a:r>
            <a:r>
              <a:rPr sz="1800" spc="-5" dirty="0">
                <a:latin typeface="Calibri"/>
                <a:cs typeface="Calibri"/>
              </a:rPr>
              <a:t>use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following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methods</a:t>
            </a:r>
            <a:endParaRPr sz="1800">
              <a:latin typeface="Calibri"/>
              <a:cs typeface="Calibri"/>
            </a:endParaRPr>
          </a:p>
          <a:p>
            <a:pPr marL="456565" marR="30480" indent="-456565">
              <a:lnSpc>
                <a:spcPct val="100000"/>
              </a:lnSpc>
              <a:buAutoNum type="arabicPeriod"/>
              <a:tabLst>
                <a:tab pos="456565" algn="l"/>
                <a:tab pos="457200" algn="l"/>
              </a:tabLst>
            </a:pPr>
            <a:r>
              <a:rPr sz="1800" b="1" spc="-20" dirty="0">
                <a:latin typeface="Calibri"/>
                <a:cs typeface="Calibri"/>
              </a:rPr>
              <a:t>Zero </a:t>
            </a:r>
            <a:r>
              <a:rPr sz="1800" b="1" spc="-10" dirty="0">
                <a:latin typeface="Calibri"/>
                <a:cs typeface="Calibri"/>
              </a:rPr>
              <a:t>Order </a:t>
            </a:r>
            <a:r>
              <a:rPr sz="1800" b="1" spc="-15" dirty="0">
                <a:latin typeface="Calibri"/>
                <a:cs typeface="Calibri"/>
              </a:rPr>
              <a:t>Parametric </a:t>
            </a:r>
            <a:r>
              <a:rPr sz="1800" b="1" spc="-10" dirty="0">
                <a:latin typeface="Calibri"/>
                <a:cs typeface="Calibri"/>
              </a:rPr>
              <a:t>Continuity </a:t>
            </a:r>
            <a:r>
              <a:rPr sz="1800" b="1" spc="-5" dirty="0">
                <a:latin typeface="Calibri"/>
                <a:cs typeface="Calibri"/>
              </a:rPr>
              <a:t>(C</a:t>
            </a:r>
            <a:r>
              <a:rPr sz="1800" b="1" spc="-7" baseline="25462" dirty="0">
                <a:latin typeface="Calibri"/>
                <a:cs typeface="Calibri"/>
              </a:rPr>
              <a:t>0</a:t>
            </a:r>
            <a:r>
              <a:rPr sz="1800" b="1" spc="-5" dirty="0">
                <a:latin typeface="Calibri"/>
                <a:cs typeface="Calibri"/>
              </a:rPr>
              <a:t>)</a:t>
            </a:r>
            <a:r>
              <a:rPr sz="1800" spc="-5" dirty="0">
                <a:latin typeface="Calibri"/>
                <a:cs typeface="Calibri"/>
              </a:rPr>
              <a:t>:  </a:t>
            </a:r>
            <a:r>
              <a:rPr sz="1800" spc="-10" dirty="0">
                <a:latin typeface="Calibri"/>
                <a:cs typeface="Calibri"/>
              </a:rPr>
              <a:t>Satisfy </a:t>
            </a: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following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conditions</a:t>
            </a:r>
            <a:endParaRPr sz="1800">
              <a:latin typeface="Calibri"/>
              <a:cs typeface="Calibri"/>
            </a:endParaRPr>
          </a:p>
          <a:p>
            <a:pPr marL="5715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P(1) 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Q(0)</a:t>
            </a:r>
            <a:endParaRPr sz="1800">
              <a:latin typeface="Calibri"/>
              <a:cs typeface="Calibri"/>
            </a:endParaRPr>
          </a:p>
          <a:p>
            <a:pPr marL="457200" marR="113664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Last point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P and 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spc="-7" baseline="25462" dirty="0">
                <a:latin typeface="Calibri"/>
                <a:cs typeface="Calibri"/>
              </a:rPr>
              <a:t>st </a:t>
            </a:r>
            <a:r>
              <a:rPr sz="1800" spc="-10" dirty="0">
                <a:latin typeface="Calibri"/>
                <a:cs typeface="Calibri"/>
              </a:rPr>
              <a:t>point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Q </a:t>
            </a:r>
            <a:r>
              <a:rPr sz="1800" spc="-5" dirty="0">
                <a:latin typeface="Calibri"/>
                <a:cs typeface="Calibri"/>
              </a:rPr>
              <a:t>must  be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same.</a:t>
            </a:r>
            <a:endParaRPr sz="1800">
              <a:latin typeface="Calibri"/>
              <a:cs typeface="Calibri"/>
            </a:endParaRPr>
          </a:p>
          <a:p>
            <a:pPr marL="371475" indent="-334010">
              <a:lnSpc>
                <a:spcPts val="2039"/>
              </a:lnSpc>
              <a:buAutoNum type="arabicPeriod" startAt="2"/>
              <a:tabLst>
                <a:tab pos="370840" algn="l"/>
                <a:tab pos="372110" algn="l"/>
              </a:tabLst>
            </a:pPr>
            <a:r>
              <a:rPr sz="1800" b="1" spc="-10" dirty="0">
                <a:latin typeface="Calibri"/>
                <a:cs typeface="Calibri"/>
              </a:rPr>
              <a:t>First Order </a:t>
            </a:r>
            <a:r>
              <a:rPr sz="1800" b="1" spc="-15" dirty="0">
                <a:latin typeface="Calibri"/>
                <a:cs typeface="Calibri"/>
              </a:rPr>
              <a:t>Parametric </a:t>
            </a:r>
            <a:r>
              <a:rPr sz="1800" b="1" spc="-10" dirty="0">
                <a:latin typeface="Calibri"/>
                <a:cs typeface="Calibri"/>
              </a:rPr>
              <a:t>Continuity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(C</a:t>
            </a:r>
            <a:r>
              <a:rPr sz="1800" b="1" spc="-7" baseline="25462" dirty="0">
                <a:latin typeface="Calibri"/>
                <a:cs typeface="Calibri"/>
              </a:rPr>
              <a:t>1</a:t>
            </a:r>
            <a:r>
              <a:rPr sz="1800" b="1" spc="-5" dirty="0">
                <a:latin typeface="Calibri"/>
                <a:cs typeface="Calibri"/>
              </a:rPr>
              <a:t>)</a:t>
            </a:r>
            <a:r>
              <a:rPr sz="1800" spc="-5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4953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Satisfy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following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conditions</a:t>
            </a:r>
            <a:endParaRPr sz="1800">
              <a:latin typeface="Calibri"/>
              <a:cs typeface="Calibri"/>
            </a:endParaRPr>
          </a:p>
          <a:p>
            <a:pPr marL="4953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25462" dirty="0">
                <a:latin typeface="Calibri"/>
                <a:cs typeface="Calibri"/>
              </a:rPr>
              <a:t>’</a:t>
            </a:r>
            <a:r>
              <a:rPr sz="1800" dirty="0">
                <a:latin typeface="Calibri"/>
                <a:cs typeface="Calibri"/>
              </a:rPr>
              <a:t>(1)= </a:t>
            </a:r>
            <a:r>
              <a:rPr sz="1800" spc="5" dirty="0">
                <a:latin typeface="Calibri"/>
                <a:cs typeface="Calibri"/>
              </a:rPr>
              <a:t>Q</a:t>
            </a:r>
            <a:r>
              <a:rPr sz="1800" spc="7" baseline="25462" dirty="0">
                <a:latin typeface="Calibri"/>
                <a:cs typeface="Calibri"/>
              </a:rPr>
              <a:t>’ </a:t>
            </a:r>
            <a:r>
              <a:rPr sz="1800" spc="-5" dirty="0">
                <a:latin typeface="Calibri"/>
                <a:cs typeface="Calibri"/>
              </a:rPr>
              <a:t>(0)</a:t>
            </a:r>
            <a:endParaRPr sz="1800">
              <a:latin typeface="Calibri"/>
              <a:cs typeface="Calibri"/>
            </a:endParaRPr>
          </a:p>
          <a:p>
            <a:pPr marL="381000" marR="24257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tangent at Last point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P and 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spc="-7" baseline="25462" dirty="0">
                <a:latin typeface="Calibri"/>
                <a:cs typeface="Calibri"/>
              </a:rPr>
              <a:t>st  </a:t>
            </a:r>
            <a:r>
              <a:rPr sz="1800" spc="-10" dirty="0">
                <a:latin typeface="Calibri"/>
                <a:cs typeface="Calibri"/>
              </a:rPr>
              <a:t>point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Q </a:t>
            </a:r>
            <a:r>
              <a:rPr sz="1800" spc="-5" dirty="0">
                <a:latin typeface="Calibri"/>
                <a:cs typeface="Calibri"/>
              </a:rPr>
              <a:t>must be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same.</a:t>
            </a:r>
            <a:endParaRPr sz="1800">
              <a:latin typeface="Calibri"/>
              <a:cs typeface="Calibri"/>
            </a:endParaRPr>
          </a:p>
          <a:p>
            <a:pPr marL="370840" marR="229235" indent="-370840">
              <a:lnSpc>
                <a:spcPct val="100000"/>
              </a:lnSpc>
              <a:spcBef>
                <a:spcPts val="600"/>
              </a:spcBef>
              <a:buAutoNum type="arabicPeriod" startAt="3"/>
              <a:tabLst>
                <a:tab pos="370840" algn="l"/>
                <a:tab pos="372110" algn="l"/>
              </a:tabLst>
            </a:pPr>
            <a:r>
              <a:rPr sz="1800" b="1" dirty="0">
                <a:latin typeface="Calibri"/>
                <a:cs typeface="Calibri"/>
              </a:rPr>
              <a:t>2nd </a:t>
            </a:r>
            <a:r>
              <a:rPr sz="1800" b="1" spc="-10" dirty="0">
                <a:latin typeface="Calibri"/>
                <a:cs typeface="Calibri"/>
              </a:rPr>
              <a:t>Order Parametric Continuity </a:t>
            </a:r>
            <a:r>
              <a:rPr sz="1800" b="1" spc="-5" dirty="0">
                <a:latin typeface="Calibri"/>
                <a:cs typeface="Calibri"/>
              </a:rPr>
              <a:t>(C</a:t>
            </a:r>
            <a:r>
              <a:rPr sz="1800" b="1" spc="-7" baseline="25462" dirty="0">
                <a:latin typeface="Calibri"/>
                <a:cs typeface="Calibri"/>
              </a:rPr>
              <a:t>2</a:t>
            </a:r>
            <a:r>
              <a:rPr sz="1800" b="1" spc="-5" dirty="0">
                <a:latin typeface="Calibri"/>
                <a:cs typeface="Calibri"/>
              </a:rPr>
              <a:t>)</a:t>
            </a:r>
            <a:r>
              <a:rPr sz="1800" spc="-5" dirty="0">
                <a:latin typeface="Calibri"/>
                <a:cs typeface="Calibri"/>
              </a:rPr>
              <a:t>:  </a:t>
            </a:r>
            <a:r>
              <a:rPr sz="1800" spc="-10" dirty="0">
                <a:latin typeface="Calibri"/>
                <a:cs typeface="Calibri"/>
              </a:rPr>
              <a:t>Satisfy </a:t>
            </a: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following conditions 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25462" dirty="0">
                <a:latin typeface="Calibri"/>
                <a:cs typeface="Calibri"/>
              </a:rPr>
              <a:t>”</a:t>
            </a:r>
            <a:r>
              <a:rPr sz="1800" dirty="0">
                <a:latin typeface="Calibri"/>
                <a:cs typeface="Calibri"/>
              </a:rPr>
              <a:t>(1)= Q</a:t>
            </a:r>
            <a:r>
              <a:rPr sz="1800" baseline="25462" dirty="0">
                <a:latin typeface="Calibri"/>
                <a:cs typeface="Calibri"/>
              </a:rPr>
              <a:t>”</a:t>
            </a:r>
            <a:r>
              <a:rPr sz="1800" dirty="0">
                <a:latin typeface="Calibri"/>
                <a:cs typeface="Calibri"/>
              </a:rPr>
              <a:t>(0) and </a:t>
            </a:r>
            <a:r>
              <a:rPr sz="1800" spc="5" dirty="0">
                <a:latin typeface="Calibri"/>
                <a:cs typeface="Calibri"/>
              </a:rPr>
              <a:t>P</a:t>
            </a:r>
            <a:r>
              <a:rPr sz="1800" spc="7" baseline="25462" dirty="0">
                <a:latin typeface="Calibri"/>
                <a:cs typeface="Calibri"/>
              </a:rPr>
              <a:t>’</a:t>
            </a:r>
            <a:r>
              <a:rPr sz="1800" spc="5" dirty="0">
                <a:latin typeface="Calibri"/>
                <a:cs typeface="Calibri"/>
              </a:rPr>
              <a:t>(1)= Q</a:t>
            </a:r>
            <a:r>
              <a:rPr sz="1800" spc="7" baseline="25462" dirty="0">
                <a:latin typeface="Calibri"/>
                <a:cs typeface="Calibri"/>
              </a:rPr>
              <a:t>’ </a:t>
            </a:r>
            <a:r>
              <a:rPr sz="1800" spc="-5" dirty="0">
                <a:latin typeface="Calibri"/>
                <a:cs typeface="Calibri"/>
              </a:rPr>
              <a:t>(0)</a:t>
            </a:r>
            <a:endParaRPr sz="1800">
              <a:latin typeface="Calibri"/>
              <a:cs typeface="Calibri"/>
            </a:endParaRPr>
          </a:p>
          <a:p>
            <a:pPr marL="3810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For </a:t>
            </a:r>
            <a:r>
              <a:rPr sz="1800" dirty="0">
                <a:latin typeface="Calibri"/>
                <a:cs typeface="Calibri"/>
              </a:rPr>
              <a:t>C</a:t>
            </a:r>
            <a:r>
              <a:rPr sz="1800" baseline="25462" dirty="0">
                <a:latin typeface="Calibri"/>
                <a:cs typeface="Calibri"/>
              </a:rPr>
              <a:t>2 </a:t>
            </a:r>
            <a:r>
              <a:rPr sz="1800" dirty="0">
                <a:latin typeface="Calibri"/>
                <a:cs typeface="Calibri"/>
              </a:rPr>
              <a:t>it </a:t>
            </a:r>
            <a:r>
              <a:rPr sz="1800" spc="-5" dirty="0">
                <a:latin typeface="Calibri"/>
                <a:cs typeface="Calibri"/>
              </a:rPr>
              <a:t>must </a:t>
            </a:r>
            <a:r>
              <a:rPr sz="1800" spc="-10" dirty="0">
                <a:latin typeface="Calibri"/>
                <a:cs typeface="Calibri"/>
              </a:rPr>
              <a:t>satisfy </a:t>
            </a:r>
            <a:r>
              <a:rPr sz="1800" spc="-5" dirty="0">
                <a:latin typeface="Calibri"/>
                <a:cs typeface="Calibri"/>
              </a:rPr>
              <a:t>C</a:t>
            </a:r>
            <a:r>
              <a:rPr sz="1800" spc="-7" baseline="25462" dirty="0">
                <a:latin typeface="Calibri"/>
                <a:cs typeface="Calibri"/>
              </a:rPr>
              <a:t>0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</a:t>
            </a:r>
            <a:r>
              <a:rPr sz="1800" spc="-7" baseline="25462" dirty="0">
                <a:latin typeface="Calibri"/>
                <a:cs typeface="Calibri"/>
              </a:rPr>
              <a:t>1</a:t>
            </a:r>
            <a:r>
              <a:rPr sz="1800" spc="-5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503" y="198120"/>
            <a:ext cx="74320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0" dirty="0">
                <a:latin typeface="Calibri"/>
                <a:cs typeface="Calibri"/>
              </a:rPr>
              <a:t>Parametric </a:t>
            </a:r>
            <a:r>
              <a:rPr sz="4000" b="1" dirty="0">
                <a:latin typeface="Calibri"/>
                <a:cs typeface="Calibri"/>
              </a:rPr>
              <a:t>&amp; </a:t>
            </a:r>
            <a:r>
              <a:rPr sz="4000" b="1" spc="-5" dirty="0">
                <a:latin typeface="Calibri"/>
                <a:cs typeface="Calibri"/>
              </a:rPr>
              <a:t>Geometric</a:t>
            </a:r>
            <a:r>
              <a:rPr sz="4000" b="1" spc="-4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Continuity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771396"/>
            <a:ext cx="3522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check it </a:t>
            </a:r>
            <a:r>
              <a:rPr sz="1800" spc="-5" dirty="0">
                <a:latin typeface="Calibri"/>
                <a:cs typeface="Calibri"/>
              </a:rPr>
              <a:t>use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following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methods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8140" y="2045715"/>
            <a:ext cx="40551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 marR="30480" indent="-457200">
              <a:lnSpc>
                <a:spcPct val="100000"/>
              </a:lnSpc>
              <a:spcBef>
                <a:spcPts val="100"/>
              </a:spcBef>
              <a:tabLst>
                <a:tab pos="380365" algn="l"/>
              </a:tabLst>
            </a:pPr>
            <a:r>
              <a:rPr sz="1800" b="1" spc="-5" dirty="0">
                <a:latin typeface="Calibri"/>
                <a:cs typeface="Calibri"/>
              </a:rPr>
              <a:t>1.	</a:t>
            </a:r>
            <a:r>
              <a:rPr sz="1800" b="1" spc="-20" dirty="0">
                <a:latin typeface="Calibri"/>
                <a:cs typeface="Calibri"/>
              </a:rPr>
              <a:t>Zero </a:t>
            </a:r>
            <a:r>
              <a:rPr sz="1800" b="1" spc="-10" dirty="0">
                <a:latin typeface="Calibri"/>
                <a:cs typeface="Calibri"/>
              </a:rPr>
              <a:t>Order Geometric Continuity </a:t>
            </a:r>
            <a:r>
              <a:rPr sz="1800" b="1" spc="-5" dirty="0">
                <a:latin typeface="Calibri"/>
                <a:cs typeface="Calibri"/>
              </a:rPr>
              <a:t>(G</a:t>
            </a:r>
            <a:r>
              <a:rPr sz="1800" b="1" spc="-7" baseline="25462" dirty="0">
                <a:latin typeface="Calibri"/>
                <a:cs typeface="Calibri"/>
              </a:rPr>
              <a:t>0</a:t>
            </a:r>
            <a:r>
              <a:rPr sz="1800" b="1" spc="-5" dirty="0">
                <a:latin typeface="Calibri"/>
                <a:cs typeface="Calibri"/>
              </a:rPr>
              <a:t>)</a:t>
            </a:r>
            <a:r>
              <a:rPr sz="1800" spc="-5" dirty="0">
                <a:latin typeface="Calibri"/>
                <a:cs typeface="Calibri"/>
              </a:rPr>
              <a:t>:  Same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</a:t>
            </a:r>
            <a:r>
              <a:rPr sz="1800" baseline="25462" dirty="0">
                <a:latin typeface="Calibri"/>
                <a:cs typeface="Calibri"/>
              </a:rPr>
              <a:t>0</a:t>
            </a:r>
            <a:endParaRPr sz="1800" baseline="25462">
              <a:latin typeface="Calibri"/>
              <a:cs typeface="Calibri"/>
            </a:endParaRPr>
          </a:p>
          <a:p>
            <a:pPr marL="4953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P(1) =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Q(0)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8140" y="3219196"/>
            <a:ext cx="4006850" cy="1696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 marR="59055" indent="-457200">
              <a:lnSpc>
                <a:spcPct val="100000"/>
              </a:lnSpc>
              <a:spcBef>
                <a:spcPts val="100"/>
              </a:spcBef>
              <a:tabLst>
                <a:tab pos="370840" algn="l"/>
              </a:tabLst>
            </a:pPr>
            <a:r>
              <a:rPr sz="1800" b="1" dirty="0">
                <a:latin typeface="Calibri"/>
                <a:cs typeface="Calibri"/>
              </a:rPr>
              <a:t>2.	</a:t>
            </a:r>
            <a:r>
              <a:rPr sz="1800" b="1" spc="-10" dirty="0">
                <a:latin typeface="Calibri"/>
                <a:cs typeface="Calibri"/>
              </a:rPr>
              <a:t>First Order Geometric Continuity </a:t>
            </a:r>
            <a:r>
              <a:rPr sz="1800" b="1" spc="-5" dirty="0">
                <a:latin typeface="Calibri"/>
                <a:cs typeface="Calibri"/>
              </a:rPr>
              <a:t>(G</a:t>
            </a:r>
            <a:r>
              <a:rPr sz="1800" b="1" spc="-7" baseline="25462" dirty="0">
                <a:latin typeface="Calibri"/>
                <a:cs typeface="Calibri"/>
              </a:rPr>
              <a:t>1</a:t>
            </a:r>
            <a:r>
              <a:rPr sz="1800" b="1" spc="-5" dirty="0">
                <a:latin typeface="Calibri"/>
                <a:cs typeface="Calibri"/>
              </a:rPr>
              <a:t>)</a:t>
            </a:r>
            <a:r>
              <a:rPr sz="1800" spc="-5" dirty="0">
                <a:latin typeface="Calibri"/>
                <a:cs typeface="Calibri"/>
              </a:rPr>
              <a:t>:  </a:t>
            </a:r>
            <a:r>
              <a:rPr sz="1800" spc="-10" dirty="0">
                <a:latin typeface="Calibri"/>
                <a:cs typeface="Calibri"/>
              </a:rPr>
              <a:t>Satisfy </a:t>
            </a: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following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conditions</a:t>
            </a:r>
            <a:endParaRPr sz="1800" dirty="0">
              <a:latin typeface="Calibri"/>
              <a:cs typeface="Calibri"/>
            </a:endParaRPr>
          </a:p>
          <a:p>
            <a:pPr marL="495300">
              <a:lnSpc>
                <a:spcPts val="2150"/>
              </a:lnSpc>
              <a:spcBef>
                <a:spcPts val="15"/>
              </a:spcBef>
            </a:pPr>
            <a:r>
              <a:rPr sz="1800" spc="-15" dirty="0">
                <a:latin typeface="Calibri"/>
                <a:cs typeface="Calibri"/>
              </a:rPr>
              <a:t>A</a:t>
            </a:r>
            <a:r>
              <a:rPr sz="1800" spc="-22" baseline="25462" dirty="0">
                <a:latin typeface="Calibri"/>
                <a:cs typeface="Calibri"/>
              </a:rPr>
              <a:t>’</a:t>
            </a:r>
            <a:r>
              <a:rPr sz="1800" spc="-15" dirty="0">
                <a:latin typeface="Calibri"/>
                <a:cs typeface="Calibri"/>
              </a:rPr>
              <a:t>(1) </a:t>
            </a:r>
            <a:r>
              <a:rPr sz="1800" dirty="0">
                <a:latin typeface="Symbol"/>
                <a:cs typeface="Symbol"/>
              </a:rPr>
              <a:t>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libri"/>
                <a:cs typeface="Calibri"/>
              </a:rPr>
              <a:t>B</a:t>
            </a:r>
            <a:r>
              <a:rPr sz="1800" spc="-7" baseline="25462" dirty="0">
                <a:latin typeface="Calibri"/>
                <a:cs typeface="Calibri"/>
              </a:rPr>
              <a:t>’</a:t>
            </a:r>
            <a:r>
              <a:rPr sz="1800" spc="-52" baseline="25462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(0)</a:t>
            </a:r>
            <a:endParaRPr sz="1800" dirty="0">
              <a:latin typeface="Calibri"/>
              <a:cs typeface="Calibri"/>
            </a:endParaRPr>
          </a:p>
          <a:p>
            <a:pPr marL="381000">
              <a:lnSpc>
                <a:spcPts val="2150"/>
              </a:lnSpc>
            </a:pPr>
            <a:r>
              <a:rPr sz="1800" dirty="0">
                <a:latin typeface="Calibri"/>
                <a:cs typeface="Calibri"/>
              </a:rPr>
              <a:t>A: </a:t>
            </a:r>
            <a:r>
              <a:rPr sz="1800" spc="-10" dirty="0">
                <a:latin typeface="Calibri"/>
                <a:cs typeface="Calibri"/>
              </a:rPr>
              <a:t>Last point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P and B: 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spc="-7" baseline="25462" dirty="0">
                <a:latin typeface="Calibri"/>
                <a:cs typeface="Calibri"/>
              </a:rPr>
              <a:t>st </a:t>
            </a:r>
            <a:r>
              <a:rPr sz="1800" spc="-10" dirty="0">
                <a:latin typeface="Calibri"/>
                <a:cs typeface="Calibri"/>
              </a:rPr>
              <a:t>point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Q.</a:t>
            </a:r>
          </a:p>
          <a:p>
            <a:pPr marL="381000" marR="673100">
              <a:lnSpc>
                <a:spcPts val="2180"/>
              </a:lnSpc>
              <a:spcBef>
                <a:spcPts val="55"/>
              </a:spcBef>
            </a:pPr>
            <a:r>
              <a:rPr sz="1800" dirty="0">
                <a:latin typeface="Calibri"/>
                <a:cs typeface="Calibri"/>
              </a:rPr>
              <a:t>Both </a:t>
            </a:r>
            <a:r>
              <a:rPr sz="1800" spc="-10" dirty="0">
                <a:latin typeface="Calibri"/>
                <a:cs typeface="Calibri"/>
              </a:rPr>
              <a:t>tangent </a:t>
            </a:r>
            <a:r>
              <a:rPr sz="1800" spc="-5" dirty="0">
                <a:latin typeface="Calibri"/>
                <a:cs typeface="Calibri"/>
              </a:rPr>
              <a:t>must be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same  direction, </a:t>
            </a:r>
            <a:r>
              <a:rPr sz="1800" b="1" dirty="0">
                <a:latin typeface="Calibri"/>
                <a:cs typeface="Calibri"/>
              </a:rPr>
              <a:t>C</a:t>
            </a:r>
            <a:r>
              <a:rPr sz="1800" b="1" baseline="25462" dirty="0">
                <a:latin typeface="Calibri"/>
                <a:cs typeface="Calibri"/>
              </a:rPr>
              <a:t>1 </a:t>
            </a:r>
            <a:r>
              <a:rPr sz="1800" b="1" dirty="0">
                <a:latin typeface="Symbol"/>
                <a:cs typeface="Symbol"/>
              </a:rPr>
              <a:t>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lang="en-US" b="1" dirty="0">
                <a:latin typeface="Calibri"/>
                <a:cs typeface="Calibri"/>
              </a:rPr>
              <a:t>G</a:t>
            </a:r>
            <a:r>
              <a:rPr sz="1800" b="1" baseline="25462" dirty="0">
                <a:latin typeface="Calibri"/>
                <a:cs typeface="Calibri"/>
              </a:rPr>
              <a:t>1 </a:t>
            </a:r>
            <a:r>
              <a:rPr sz="1800" dirty="0">
                <a:latin typeface="Calibri"/>
                <a:cs typeface="Calibri"/>
              </a:rPr>
              <a:t>but </a:t>
            </a:r>
            <a:r>
              <a:rPr sz="1800" b="1" spc="-5" dirty="0">
                <a:latin typeface="Calibri"/>
                <a:cs typeface="Calibri"/>
              </a:rPr>
              <a:t>G</a:t>
            </a:r>
            <a:r>
              <a:rPr sz="1800" b="1" spc="-7" baseline="25462" dirty="0">
                <a:latin typeface="Calibri"/>
                <a:cs typeface="Calibri"/>
              </a:rPr>
              <a:t>1 </a:t>
            </a:r>
            <a:r>
              <a:rPr sz="1800" b="1" dirty="0">
                <a:latin typeface="Symbol"/>
                <a:cs typeface="Symbol"/>
              </a:rPr>
              <a:t></a:t>
            </a:r>
            <a:r>
              <a:rPr sz="1800" b="1" spc="-1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C</a:t>
            </a:r>
            <a:r>
              <a:rPr sz="1800" b="1" baseline="25462" dirty="0">
                <a:latin typeface="Calibri"/>
                <a:cs typeface="Calibri"/>
              </a:rPr>
              <a:t>1</a:t>
            </a:r>
            <a:endParaRPr sz="1800" baseline="25462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1940" y="5124450"/>
            <a:ext cx="3969385" cy="850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 marR="30480" indent="-457200">
              <a:lnSpc>
                <a:spcPct val="100000"/>
              </a:lnSpc>
              <a:spcBef>
                <a:spcPts val="100"/>
              </a:spcBef>
              <a:tabLst>
                <a:tab pos="370840" algn="l"/>
              </a:tabLst>
            </a:pPr>
            <a:r>
              <a:rPr sz="1800" b="1" dirty="0">
                <a:latin typeface="Calibri"/>
                <a:cs typeface="Calibri"/>
              </a:rPr>
              <a:t>3.	2nd </a:t>
            </a:r>
            <a:r>
              <a:rPr sz="1800" b="1" spc="-10" dirty="0">
                <a:latin typeface="Calibri"/>
                <a:cs typeface="Calibri"/>
              </a:rPr>
              <a:t>Order Parametric Continuity </a:t>
            </a:r>
            <a:r>
              <a:rPr sz="1800" b="1" spc="-5" dirty="0">
                <a:latin typeface="Calibri"/>
                <a:cs typeface="Calibri"/>
              </a:rPr>
              <a:t>(G</a:t>
            </a:r>
            <a:r>
              <a:rPr sz="1800" b="1" spc="-7" baseline="25462" dirty="0">
                <a:latin typeface="Calibri"/>
                <a:cs typeface="Calibri"/>
              </a:rPr>
              <a:t>2</a:t>
            </a:r>
            <a:r>
              <a:rPr sz="1800" b="1" spc="-5" dirty="0">
                <a:latin typeface="Calibri"/>
                <a:cs typeface="Calibri"/>
              </a:rPr>
              <a:t>)</a:t>
            </a:r>
            <a:r>
              <a:rPr sz="1800" spc="-5" dirty="0">
                <a:latin typeface="Calibri"/>
                <a:cs typeface="Calibri"/>
              </a:rPr>
              <a:t>:  </a:t>
            </a:r>
            <a:r>
              <a:rPr sz="1800" spc="-10" dirty="0">
                <a:latin typeface="Calibri"/>
                <a:cs typeface="Calibri"/>
              </a:rPr>
              <a:t>Satisfy </a:t>
            </a: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following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conditions</a:t>
            </a:r>
            <a:endParaRPr sz="1800">
              <a:latin typeface="Calibri"/>
              <a:cs typeface="Calibri"/>
            </a:endParaRPr>
          </a:p>
          <a:p>
            <a:pPr marL="495300">
              <a:lnSpc>
                <a:spcPct val="100000"/>
              </a:lnSpc>
              <a:spcBef>
                <a:spcPts val="15"/>
              </a:spcBef>
            </a:pPr>
            <a:r>
              <a:rPr sz="1800" spc="5" dirty="0">
                <a:latin typeface="Calibri"/>
                <a:cs typeface="Calibri"/>
              </a:rPr>
              <a:t>P</a:t>
            </a:r>
            <a:r>
              <a:rPr sz="1800" spc="7" baseline="25462" dirty="0">
                <a:latin typeface="Calibri"/>
                <a:cs typeface="Calibri"/>
              </a:rPr>
              <a:t>”</a:t>
            </a:r>
            <a:r>
              <a:rPr sz="1800" spc="5" dirty="0">
                <a:latin typeface="Calibri"/>
                <a:cs typeface="Calibri"/>
              </a:rPr>
              <a:t>(1) </a:t>
            </a:r>
            <a:r>
              <a:rPr sz="1800" dirty="0">
                <a:latin typeface="Symbol"/>
                <a:cs typeface="Symbol"/>
              </a:rPr>
              <a:t>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libri"/>
                <a:cs typeface="Calibri"/>
              </a:rPr>
              <a:t>Q</a:t>
            </a:r>
            <a:r>
              <a:rPr sz="1800" spc="-7" baseline="25462" dirty="0">
                <a:latin typeface="Calibri"/>
                <a:cs typeface="Calibri"/>
              </a:rPr>
              <a:t>”</a:t>
            </a:r>
            <a:r>
              <a:rPr sz="1800" spc="-5" dirty="0">
                <a:latin typeface="Calibri"/>
                <a:cs typeface="Calibri"/>
              </a:rPr>
              <a:t>(0)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02683" y="1959482"/>
            <a:ext cx="1856105" cy="457200"/>
          </a:xfrm>
          <a:custGeom>
            <a:avLst/>
            <a:gdLst/>
            <a:ahLst/>
            <a:cxnLst/>
            <a:rect l="l" t="t" r="r" b="b"/>
            <a:pathLst>
              <a:path w="1856104" h="457200">
                <a:moveTo>
                  <a:pt x="0" y="457200"/>
                </a:moveTo>
                <a:lnTo>
                  <a:pt x="23475" y="405775"/>
                </a:lnTo>
                <a:lnTo>
                  <a:pt x="47130" y="354935"/>
                </a:lnTo>
                <a:lnTo>
                  <a:pt x="71140" y="305259"/>
                </a:lnTo>
                <a:lnTo>
                  <a:pt x="95686" y="257326"/>
                </a:lnTo>
                <a:lnTo>
                  <a:pt x="120944" y="211715"/>
                </a:lnTo>
                <a:lnTo>
                  <a:pt x="147094" y="169007"/>
                </a:lnTo>
                <a:lnTo>
                  <a:pt x="174314" y="129781"/>
                </a:lnTo>
                <a:lnTo>
                  <a:pt x="202781" y="94617"/>
                </a:lnTo>
                <a:lnTo>
                  <a:pt x="232675" y="64093"/>
                </a:lnTo>
                <a:lnTo>
                  <a:pt x="264173" y="38790"/>
                </a:lnTo>
                <a:lnTo>
                  <a:pt x="297454" y="19287"/>
                </a:lnTo>
                <a:lnTo>
                  <a:pt x="370077" y="0"/>
                </a:lnTo>
                <a:lnTo>
                  <a:pt x="400192" y="2005"/>
                </a:lnTo>
                <a:lnTo>
                  <a:pt x="464175" y="26841"/>
                </a:lnTo>
                <a:lnTo>
                  <a:pt x="497883" y="47824"/>
                </a:lnTo>
                <a:lnTo>
                  <a:pt x="532629" y="73285"/>
                </a:lnTo>
                <a:lnTo>
                  <a:pt x="568333" y="102300"/>
                </a:lnTo>
                <a:lnTo>
                  <a:pt x="604914" y="133946"/>
                </a:lnTo>
                <a:lnTo>
                  <a:pt x="642293" y="167297"/>
                </a:lnTo>
                <a:lnTo>
                  <a:pt x="680390" y="201431"/>
                </a:lnTo>
                <a:lnTo>
                  <a:pt x="719124" y="235423"/>
                </a:lnTo>
                <a:lnTo>
                  <a:pt x="758416" y="268350"/>
                </a:lnTo>
                <a:lnTo>
                  <a:pt x="798185" y="299287"/>
                </a:lnTo>
                <a:lnTo>
                  <a:pt x="838352" y="327311"/>
                </a:lnTo>
                <a:lnTo>
                  <a:pt x="878837" y="351498"/>
                </a:lnTo>
                <a:lnTo>
                  <a:pt x="919559" y="370923"/>
                </a:lnTo>
                <a:lnTo>
                  <a:pt x="960438" y="384663"/>
                </a:lnTo>
                <a:lnTo>
                  <a:pt x="1001394" y="391794"/>
                </a:lnTo>
                <a:lnTo>
                  <a:pt x="1043976" y="392693"/>
                </a:lnTo>
                <a:lnTo>
                  <a:pt x="1089397" y="388720"/>
                </a:lnTo>
                <a:lnTo>
                  <a:pt x="1137145" y="380427"/>
                </a:lnTo>
                <a:lnTo>
                  <a:pt x="1186709" y="368365"/>
                </a:lnTo>
                <a:lnTo>
                  <a:pt x="1237577" y="353086"/>
                </a:lnTo>
                <a:lnTo>
                  <a:pt x="1289237" y="335141"/>
                </a:lnTo>
                <a:lnTo>
                  <a:pt x="1341178" y="315084"/>
                </a:lnTo>
                <a:lnTo>
                  <a:pt x="1392887" y="293464"/>
                </a:lnTo>
                <a:lnTo>
                  <a:pt x="1443852" y="270834"/>
                </a:lnTo>
                <a:lnTo>
                  <a:pt x="1493562" y="247746"/>
                </a:lnTo>
                <a:lnTo>
                  <a:pt x="1541505" y="224751"/>
                </a:lnTo>
                <a:lnTo>
                  <a:pt x="1587170" y="202401"/>
                </a:lnTo>
                <a:lnTo>
                  <a:pt x="1630043" y="181248"/>
                </a:lnTo>
                <a:lnTo>
                  <a:pt x="1669615" y="161843"/>
                </a:lnTo>
                <a:lnTo>
                  <a:pt x="1705371" y="144737"/>
                </a:lnTo>
                <a:lnTo>
                  <a:pt x="1736802" y="130484"/>
                </a:lnTo>
                <a:lnTo>
                  <a:pt x="1763394" y="119633"/>
                </a:lnTo>
                <a:lnTo>
                  <a:pt x="1825254" y="95866"/>
                </a:lnTo>
                <a:lnTo>
                  <a:pt x="1853128" y="83602"/>
                </a:lnTo>
                <a:lnTo>
                  <a:pt x="1855520" y="79958"/>
                </a:lnTo>
                <a:lnTo>
                  <a:pt x="1840936" y="82050"/>
                </a:lnTo>
                <a:lnTo>
                  <a:pt x="1817877" y="8699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85457" y="1794266"/>
            <a:ext cx="2064385" cy="699135"/>
          </a:xfrm>
          <a:custGeom>
            <a:avLst/>
            <a:gdLst/>
            <a:ahLst/>
            <a:cxnLst/>
            <a:rect l="l" t="t" r="r" b="b"/>
            <a:pathLst>
              <a:path w="2064384" h="699135">
                <a:moveTo>
                  <a:pt x="0" y="238368"/>
                </a:moveTo>
                <a:lnTo>
                  <a:pt x="41947" y="207126"/>
                </a:lnTo>
                <a:lnTo>
                  <a:pt x="83963" y="176366"/>
                </a:lnTo>
                <a:lnTo>
                  <a:pt x="126120" y="146564"/>
                </a:lnTo>
                <a:lnTo>
                  <a:pt x="168490" y="118200"/>
                </a:lnTo>
                <a:lnTo>
                  <a:pt x="211147" y="91749"/>
                </a:lnTo>
                <a:lnTo>
                  <a:pt x="254162" y="67691"/>
                </a:lnTo>
                <a:lnTo>
                  <a:pt x="297608" y="46503"/>
                </a:lnTo>
                <a:lnTo>
                  <a:pt x="341558" y="28662"/>
                </a:lnTo>
                <a:lnTo>
                  <a:pt x="386083" y="14646"/>
                </a:lnTo>
                <a:lnTo>
                  <a:pt x="431257" y="4933"/>
                </a:lnTo>
                <a:lnTo>
                  <a:pt x="477152" y="0"/>
                </a:lnTo>
                <a:lnTo>
                  <a:pt x="523840" y="324"/>
                </a:lnTo>
                <a:lnTo>
                  <a:pt x="571394" y="6385"/>
                </a:lnTo>
                <a:lnTo>
                  <a:pt x="619887" y="18658"/>
                </a:lnTo>
                <a:lnTo>
                  <a:pt x="686623" y="50350"/>
                </a:lnTo>
                <a:lnTo>
                  <a:pt x="720937" y="73572"/>
                </a:lnTo>
                <a:lnTo>
                  <a:pt x="755799" y="100978"/>
                </a:lnTo>
                <a:lnTo>
                  <a:pt x="791146" y="132018"/>
                </a:lnTo>
                <a:lnTo>
                  <a:pt x="826917" y="166140"/>
                </a:lnTo>
                <a:lnTo>
                  <a:pt x="863049" y="202794"/>
                </a:lnTo>
                <a:lnTo>
                  <a:pt x="899480" y="241430"/>
                </a:lnTo>
                <a:lnTo>
                  <a:pt x="936148" y="281498"/>
                </a:lnTo>
                <a:lnTo>
                  <a:pt x="972990" y="322447"/>
                </a:lnTo>
                <a:lnTo>
                  <a:pt x="1009944" y="363726"/>
                </a:lnTo>
                <a:lnTo>
                  <a:pt x="1046949" y="404786"/>
                </a:lnTo>
                <a:lnTo>
                  <a:pt x="1083941" y="445075"/>
                </a:lnTo>
                <a:lnTo>
                  <a:pt x="1120859" y="484043"/>
                </a:lnTo>
                <a:lnTo>
                  <a:pt x="1157641" y="521139"/>
                </a:lnTo>
                <a:lnTo>
                  <a:pt x="1194224" y="555814"/>
                </a:lnTo>
                <a:lnTo>
                  <a:pt x="1230546" y="587517"/>
                </a:lnTo>
                <a:lnTo>
                  <a:pt x="1266545" y="615697"/>
                </a:lnTo>
                <a:lnTo>
                  <a:pt x="1302158" y="639804"/>
                </a:lnTo>
                <a:lnTo>
                  <a:pt x="1337324" y="659288"/>
                </a:lnTo>
                <a:lnTo>
                  <a:pt x="1419918" y="687090"/>
                </a:lnTo>
                <a:lnTo>
                  <a:pt x="1467483" y="695452"/>
                </a:lnTo>
                <a:lnTo>
                  <a:pt x="1514701" y="699050"/>
                </a:lnTo>
                <a:lnTo>
                  <a:pt x="1561600" y="698250"/>
                </a:lnTo>
                <a:lnTo>
                  <a:pt x="1608205" y="693419"/>
                </a:lnTo>
                <a:lnTo>
                  <a:pt x="1654544" y="684922"/>
                </a:lnTo>
                <a:lnTo>
                  <a:pt x="1700644" y="673125"/>
                </a:lnTo>
                <a:lnTo>
                  <a:pt x="1746530" y="658396"/>
                </a:lnTo>
                <a:lnTo>
                  <a:pt x="1792230" y="641099"/>
                </a:lnTo>
                <a:lnTo>
                  <a:pt x="1837769" y="621602"/>
                </a:lnTo>
                <a:lnTo>
                  <a:pt x="1883176" y="600271"/>
                </a:lnTo>
                <a:lnTo>
                  <a:pt x="1928476" y="577471"/>
                </a:lnTo>
                <a:lnTo>
                  <a:pt x="1973696" y="553570"/>
                </a:lnTo>
                <a:lnTo>
                  <a:pt x="2018863" y="528932"/>
                </a:lnTo>
                <a:lnTo>
                  <a:pt x="2064003" y="503925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36794" y="2528061"/>
            <a:ext cx="2588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0100" algn="l"/>
              </a:tabLst>
            </a:pPr>
            <a:r>
              <a:rPr sz="2400" b="1" dirty="0">
                <a:latin typeface="Calibri"/>
                <a:cs typeface="Calibri"/>
              </a:rPr>
              <a:t>P(t)	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Q(t)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8594" y="2380996"/>
            <a:ext cx="33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t=0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03847" y="2152396"/>
            <a:ext cx="330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t=1  </a:t>
            </a:r>
            <a:r>
              <a:rPr sz="180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9740" y="1085341"/>
            <a:ext cx="77654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Geometric </a:t>
            </a:r>
            <a:r>
              <a:rPr sz="1800" b="1" spc="-10" dirty="0">
                <a:latin typeface="Calibri"/>
                <a:cs typeface="Calibri"/>
              </a:rPr>
              <a:t>Continuity</a:t>
            </a:r>
            <a:r>
              <a:rPr sz="1800" spc="-10" dirty="0">
                <a:latin typeface="Calibri"/>
                <a:cs typeface="Calibri"/>
              </a:rPr>
              <a:t>: Checks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continuity </a:t>
            </a:r>
            <a:r>
              <a:rPr sz="1800" spc="-10" dirty="0">
                <a:latin typeface="Calibri"/>
                <a:cs typeface="Calibri"/>
              </a:rPr>
              <a:t>according </a:t>
            </a:r>
            <a:r>
              <a:rPr sz="1800" spc="-1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shape </a:t>
            </a:r>
            <a:r>
              <a:rPr sz="1800" dirty="0">
                <a:latin typeface="Calibri"/>
                <a:cs typeface="Calibri"/>
              </a:rPr>
              <a:t>when </a:t>
            </a:r>
            <a:r>
              <a:rPr sz="1800" spc="-5" dirty="0">
                <a:latin typeface="Calibri"/>
                <a:cs typeface="Calibri"/>
              </a:rPr>
              <a:t>join </a:t>
            </a:r>
            <a:r>
              <a:rPr sz="1800" spc="-10" dirty="0">
                <a:latin typeface="Calibri"/>
                <a:cs typeface="Calibri"/>
              </a:rPr>
              <a:t>two  </a:t>
            </a:r>
            <a:r>
              <a:rPr sz="1800" dirty="0">
                <a:latin typeface="Calibri"/>
                <a:cs typeface="Calibri"/>
              </a:rPr>
              <a:t>curves</a:t>
            </a:r>
            <a:endParaRPr sz="1800">
              <a:latin typeface="Calibri"/>
              <a:cs typeface="Calibri"/>
            </a:endParaRPr>
          </a:p>
          <a:p>
            <a:pPr marL="5803900">
              <a:lnSpc>
                <a:spcPts val="1440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t=0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51447" y="1817115"/>
            <a:ext cx="149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85047" y="1923796"/>
            <a:ext cx="33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t=1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92647" y="3142996"/>
            <a:ext cx="2338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Let </a:t>
            </a:r>
            <a:r>
              <a:rPr sz="1800" dirty="0">
                <a:latin typeface="Calibri"/>
                <a:cs typeface="Calibri"/>
              </a:rPr>
              <a:t>A(x</a:t>
            </a:r>
            <a:r>
              <a:rPr sz="1800" baseline="-20833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, </a:t>
            </a:r>
            <a:r>
              <a:rPr sz="1800" spc="-5" dirty="0">
                <a:latin typeface="Calibri"/>
                <a:cs typeface="Calibri"/>
              </a:rPr>
              <a:t>y</a:t>
            </a:r>
            <a:r>
              <a:rPr sz="1800" spc="-7" baseline="-20833" dirty="0">
                <a:latin typeface="Calibri"/>
                <a:cs typeface="Calibri"/>
              </a:rPr>
              <a:t>p</a:t>
            </a:r>
            <a:r>
              <a:rPr sz="1800" spc="-5" dirty="0">
                <a:latin typeface="Calibri"/>
                <a:cs typeface="Calibri"/>
              </a:rPr>
              <a:t>)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B(x</a:t>
            </a:r>
            <a:r>
              <a:rPr sz="1800" spc="-15" baseline="-20833" dirty="0">
                <a:latin typeface="Calibri"/>
                <a:cs typeface="Calibri"/>
              </a:rPr>
              <a:t>q</a:t>
            </a:r>
            <a:r>
              <a:rPr sz="1800" spc="-10" dirty="0">
                <a:latin typeface="Calibri"/>
                <a:cs typeface="Calibri"/>
              </a:rPr>
              <a:t>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</a:t>
            </a:r>
            <a:r>
              <a:rPr sz="1800" spc="-15" baseline="-20833" dirty="0">
                <a:latin typeface="Calibri"/>
                <a:cs typeface="Calibri"/>
              </a:rPr>
              <a:t>q</a:t>
            </a:r>
            <a:r>
              <a:rPr sz="1800" spc="-1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6344" y="164591"/>
            <a:ext cx="31311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Calibri"/>
                <a:cs typeface="Calibri"/>
              </a:rPr>
              <a:t>Spline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Curves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6596"/>
            <a:ext cx="395668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Spline Curve</a:t>
            </a:r>
            <a:r>
              <a:rPr sz="1800" spc="-5" dirty="0">
                <a:latin typeface="Calibri"/>
                <a:cs typeface="Calibri"/>
              </a:rPr>
              <a:t>: </a:t>
            </a:r>
            <a:r>
              <a:rPr sz="1800" dirty="0">
                <a:latin typeface="Calibri"/>
                <a:cs typeface="Calibri"/>
              </a:rPr>
              <a:t>It is a </a:t>
            </a:r>
            <a:r>
              <a:rPr sz="1800" spc="-5" dirty="0">
                <a:latin typeface="Calibri"/>
                <a:cs typeface="Calibri"/>
              </a:rPr>
              <a:t>strip of </a:t>
            </a:r>
            <a:r>
              <a:rPr sz="1800" dirty="0">
                <a:latin typeface="Calibri"/>
                <a:cs typeface="Calibri"/>
              </a:rPr>
              <a:t>Balsha </a:t>
            </a:r>
            <a:r>
              <a:rPr sz="1800" spc="-10" dirty="0">
                <a:latin typeface="Calibri"/>
                <a:cs typeface="Calibri"/>
              </a:rPr>
              <a:t>tree  </a:t>
            </a:r>
            <a:r>
              <a:rPr sz="1800" spc="-5" dirty="0">
                <a:latin typeface="Calibri"/>
                <a:cs typeface="Calibri"/>
              </a:rPr>
              <a:t>used </a:t>
            </a:r>
            <a:r>
              <a:rPr sz="1800" spc="-1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design a </a:t>
            </a:r>
            <a:r>
              <a:rPr sz="1800" spc="-5" dirty="0">
                <a:latin typeface="Calibri"/>
                <a:cs typeface="Calibri"/>
              </a:rPr>
              <a:t>ship using ducks. </a:t>
            </a:r>
            <a:r>
              <a:rPr sz="1800" dirty="0">
                <a:latin typeface="Calibri"/>
                <a:cs typeface="Calibri"/>
              </a:rPr>
              <a:t>It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a  type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curve in which </a:t>
            </a:r>
            <a:r>
              <a:rPr sz="1800" spc="-10" dirty="0">
                <a:latin typeface="Calibri"/>
                <a:cs typeface="Calibri"/>
              </a:rPr>
              <a:t>control </a:t>
            </a:r>
            <a:r>
              <a:rPr sz="1800" spc="-5" dirty="0">
                <a:latin typeface="Calibri"/>
                <a:cs typeface="Calibri"/>
              </a:rPr>
              <a:t>points  </a:t>
            </a:r>
            <a:r>
              <a:rPr sz="1800" spc="-15" dirty="0">
                <a:latin typeface="Calibri"/>
                <a:cs typeface="Calibri"/>
              </a:rPr>
              <a:t>control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shape of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curve.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3646932"/>
            <a:ext cx="553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ypes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3921252"/>
            <a:ext cx="4032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1. </a:t>
            </a:r>
            <a:r>
              <a:rPr sz="1800" b="1" spc="-10" dirty="0">
                <a:latin typeface="Calibri"/>
                <a:cs typeface="Calibri"/>
              </a:rPr>
              <a:t>Interpolation </a:t>
            </a:r>
            <a:r>
              <a:rPr sz="1800" b="1" spc="-5" dirty="0">
                <a:latin typeface="Calibri"/>
                <a:cs typeface="Calibri"/>
              </a:rPr>
              <a:t>Spline Curve</a:t>
            </a:r>
            <a:r>
              <a:rPr sz="1800" spc="-5" dirty="0">
                <a:latin typeface="Calibri"/>
                <a:cs typeface="Calibri"/>
              </a:rPr>
              <a:t>: </a:t>
            </a:r>
            <a:r>
              <a:rPr sz="1800" dirty="0">
                <a:latin typeface="Calibri"/>
                <a:cs typeface="Calibri"/>
              </a:rPr>
              <a:t>It </a:t>
            </a:r>
            <a:r>
              <a:rPr sz="1800" spc="-5" dirty="0">
                <a:latin typeface="Calibri"/>
                <a:cs typeface="Calibri"/>
              </a:rPr>
              <a:t>passes  </a:t>
            </a:r>
            <a:r>
              <a:rPr sz="1800" spc="-10" dirty="0">
                <a:latin typeface="Calibri"/>
                <a:cs typeface="Calibri"/>
              </a:rPr>
              <a:t>through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control </a:t>
            </a:r>
            <a:r>
              <a:rPr sz="1800" spc="-5" dirty="0">
                <a:latin typeface="Calibri"/>
                <a:cs typeface="Calibri"/>
              </a:rPr>
              <a:t>points. </a:t>
            </a:r>
            <a:r>
              <a:rPr sz="1800" spc="-10" dirty="0">
                <a:latin typeface="Calibri"/>
                <a:cs typeface="Calibri"/>
              </a:rPr>
              <a:t>Example </a:t>
            </a:r>
            <a:r>
              <a:rPr sz="1800" spc="-5" dirty="0">
                <a:latin typeface="Calibri"/>
                <a:cs typeface="Calibri"/>
              </a:rPr>
              <a:t>of  </a:t>
            </a:r>
            <a:r>
              <a:rPr sz="1800" dirty="0">
                <a:latin typeface="Calibri"/>
                <a:cs typeface="Calibri"/>
              </a:rPr>
              <a:t>this type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curve is </a:t>
            </a:r>
            <a:r>
              <a:rPr sz="1800" spc="-5" dirty="0">
                <a:latin typeface="Calibri"/>
                <a:cs typeface="Calibri"/>
              </a:rPr>
              <a:t>HERMIT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curve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5094985"/>
            <a:ext cx="403352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2. </a:t>
            </a:r>
            <a:r>
              <a:rPr sz="1800" b="1" spc="-10" dirty="0">
                <a:latin typeface="Calibri"/>
                <a:cs typeface="Calibri"/>
              </a:rPr>
              <a:t>Approximation </a:t>
            </a:r>
            <a:r>
              <a:rPr sz="1800" b="1" dirty="0">
                <a:latin typeface="Calibri"/>
                <a:cs typeface="Calibri"/>
              </a:rPr>
              <a:t>Spline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Curve</a:t>
            </a:r>
            <a:endParaRPr sz="1800">
              <a:latin typeface="Calibri"/>
              <a:cs typeface="Calibri"/>
            </a:endParaRPr>
          </a:p>
          <a:p>
            <a:pPr marL="355600" marR="5080" algn="just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 curve </a:t>
            </a:r>
            <a:r>
              <a:rPr sz="1800" spc="-5" dirty="0">
                <a:latin typeface="Calibri"/>
                <a:cs typeface="Calibri"/>
              </a:rPr>
              <a:t>that passes </a:t>
            </a:r>
            <a:r>
              <a:rPr sz="1800" dirty="0">
                <a:latin typeface="Calibri"/>
                <a:cs typeface="Calibri"/>
              </a:rPr>
              <a:t>near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control  </a:t>
            </a:r>
            <a:r>
              <a:rPr sz="1800" spc="-5" dirty="0">
                <a:latin typeface="Calibri"/>
                <a:cs typeface="Calibri"/>
              </a:rPr>
              <a:t>points </a:t>
            </a:r>
            <a:r>
              <a:rPr sz="1800" dirty="0">
                <a:latin typeface="Calibri"/>
                <a:cs typeface="Calibri"/>
              </a:rPr>
              <a:t>but </a:t>
            </a:r>
            <a:r>
              <a:rPr sz="1800" spc="-5" dirty="0">
                <a:latin typeface="Calibri"/>
                <a:cs typeface="Calibri"/>
              </a:rPr>
              <a:t>not </a:t>
            </a:r>
            <a:r>
              <a:rPr sz="1800" dirty="0">
                <a:latin typeface="Calibri"/>
                <a:cs typeface="Calibri"/>
              </a:rPr>
              <a:t>necessarily </a:t>
            </a:r>
            <a:r>
              <a:rPr sz="1800" spc="-5" dirty="0">
                <a:latin typeface="Calibri"/>
                <a:cs typeface="Calibri"/>
              </a:rPr>
              <a:t>passes  </a:t>
            </a:r>
            <a:r>
              <a:rPr sz="1800" spc="-10" dirty="0">
                <a:latin typeface="Calibri"/>
                <a:cs typeface="Calibri"/>
              </a:rPr>
              <a:t>through </a:t>
            </a:r>
            <a:r>
              <a:rPr sz="1800" dirty="0">
                <a:latin typeface="Calibri"/>
                <a:cs typeface="Calibri"/>
              </a:rPr>
              <a:t>these </a:t>
            </a:r>
            <a:r>
              <a:rPr sz="1800" spc="-5" dirty="0">
                <a:latin typeface="Calibri"/>
                <a:cs typeface="Calibri"/>
              </a:rPr>
              <a:t>points. </a:t>
            </a:r>
            <a:r>
              <a:rPr sz="1800" spc="-10" dirty="0">
                <a:latin typeface="Calibri"/>
                <a:cs typeface="Calibri"/>
              </a:rPr>
              <a:t>Example Biezer  </a:t>
            </a:r>
            <a:r>
              <a:rPr sz="1800" spc="-5" dirty="0">
                <a:latin typeface="Calibri"/>
                <a:cs typeface="Calibri"/>
              </a:rPr>
              <a:t>Curve.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9183" y="5729732"/>
            <a:ext cx="483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P(t)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90463" y="5117210"/>
            <a:ext cx="1856105" cy="457200"/>
          </a:xfrm>
          <a:custGeom>
            <a:avLst/>
            <a:gdLst/>
            <a:ahLst/>
            <a:cxnLst/>
            <a:rect l="l" t="t" r="r" b="b"/>
            <a:pathLst>
              <a:path w="1856104" h="457200">
                <a:moveTo>
                  <a:pt x="0" y="457200"/>
                </a:moveTo>
                <a:lnTo>
                  <a:pt x="23475" y="405802"/>
                </a:lnTo>
                <a:lnTo>
                  <a:pt x="47130" y="354985"/>
                </a:lnTo>
                <a:lnTo>
                  <a:pt x="71142" y="305327"/>
                </a:lnTo>
                <a:lnTo>
                  <a:pt x="95689" y="257407"/>
                </a:lnTo>
                <a:lnTo>
                  <a:pt x="120952" y="211806"/>
                </a:lnTo>
                <a:lnTo>
                  <a:pt x="147107" y="169102"/>
                </a:lnTo>
                <a:lnTo>
                  <a:pt x="174334" y="129876"/>
                </a:lnTo>
                <a:lnTo>
                  <a:pt x="202811" y="94707"/>
                </a:lnTo>
                <a:lnTo>
                  <a:pt x="232717" y="64174"/>
                </a:lnTo>
                <a:lnTo>
                  <a:pt x="264231" y="38857"/>
                </a:lnTo>
                <a:lnTo>
                  <a:pt x="297531" y="19336"/>
                </a:lnTo>
                <a:lnTo>
                  <a:pt x="370204" y="0"/>
                </a:lnTo>
                <a:lnTo>
                  <a:pt x="400318" y="2026"/>
                </a:lnTo>
                <a:lnTo>
                  <a:pt x="464292" y="26897"/>
                </a:lnTo>
                <a:lnTo>
                  <a:pt x="497994" y="47895"/>
                </a:lnTo>
                <a:lnTo>
                  <a:pt x="532733" y="73368"/>
                </a:lnTo>
                <a:lnTo>
                  <a:pt x="568429" y="102393"/>
                </a:lnTo>
                <a:lnTo>
                  <a:pt x="605003" y="134047"/>
                </a:lnTo>
                <a:lnTo>
                  <a:pt x="642375" y="167405"/>
                </a:lnTo>
                <a:lnTo>
                  <a:pt x="680467" y="201545"/>
                </a:lnTo>
                <a:lnTo>
                  <a:pt x="719197" y="235541"/>
                </a:lnTo>
                <a:lnTo>
                  <a:pt x="758487" y="268471"/>
                </a:lnTo>
                <a:lnTo>
                  <a:pt x="798256" y="299411"/>
                </a:lnTo>
                <a:lnTo>
                  <a:pt x="838427" y="327437"/>
                </a:lnTo>
                <a:lnTo>
                  <a:pt x="878918" y="351624"/>
                </a:lnTo>
                <a:lnTo>
                  <a:pt x="919651" y="371050"/>
                </a:lnTo>
                <a:lnTo>
                  <a:pt x="960545" y="384790"/>
                </a:lnTo>
                <a:lnTo>
                  <a:pt x="1001521" y="391922"/>
                </a:lnTo>
                <a:lnTo>
                  <a:pt x="1044103" y="392820"/>
                </a:lnTo>
                <a:lnTo>
                  <a:pt x="1089524" y="388847"/>
                </a:lnTo>
                <a:lnTo>
                  <a:pt x="1137272" y="380554"/>
                </a:lnTo>
                <a:lnTo>
                  <a:pt x="1186836" y="368492"/>
                </a:lnTo>
                <a:lnTo>
                  <a:pt x="1237704" y="353213"/>
                </a:lnTo>
                <a:lnTo>
                  <a:pt x="1289364" y="335268"/>
                </a:lnTo>
                <a:lnTo>
                  <a:pt x="1341305" y="315211"/>
                </a:lnTo>
                <a:lnTo>
                  <a:pt x="1393014" y="293591"/>
                </a:lnTo>
                <a:lnTo>
                  <a:pt x="1443979" y="270961"/>
                </a:lnTo>
                <a:lnTo>
                  <a:pt x="1493689" y="247873"/>
                </a:lnTo>
                <a:lnTo>
                  <a:pt x="1541632" y="224878"/>
                </a:lnTo>
                <a:lnTo>
                  <a:pt x="1587297" y="202528"/>
                </a:lnTo>
                <a:lnTo>
                  <a:pt x="1630170" y="181375"/>
                </a:lnTo>
                <a:lnTo>
                  <a:pt x="1669742" y="161970"/>
                </a:lnTo>
                <a:lnTo>
                  <a:pt x="1705498" y="144864"/>
                </a:lnTo>
                <a:lnTo>
                  <a:pt x="1736929" y="130611"/>
                </a:lnTo>
                <a:lnTo>
                  <a:pt x="1763521" y="119760"/>
                </a:lnTo>
                <a:lnTo>
                  <a:pt x="1825332" y="95981"/>
                </a:lnTo>
                <a:lnTo>
                  <a:pt x="1853200" y="83693"/>
                </a:lnTo>
                <a:lnTo>
                  <a:pt x="1855611" y="80030"/>
                </a:lnTo>
                <a:lnTo>
                  <a:pt x="1841050" y="82128"/>
                </a:lnTo>
                <a:lnTo>
                  <a:pt x="1818005" y="8712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11900" y="4910709"/>
            <a:ext cx="101600" cy="1322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97700" y="5139309"/>
            <a:ext cx="101600" cy="1322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06563" y="5169915"/>
            <a:ext cx="101600" cy="1320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30900" y="5521578"/>
            <a:ext cx="101600" cy="13204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79183" y="4357878"/>
            <a:ext cx="483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P(t)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90463" y="3745610"/>
            <a:ext cx="1856105" cy="457200"/>
          </a:xfrm>
          <a:custGeom>
            <a:avLst/>
            <a:gdLst/>
            <a:ahLst/>
            <a:cxnLst/>
            <a:rect l="l" t="t" r="r" b="b"/>
            <a:pathLst>
              <a:path w="1856104" h="457200">
                <a:moveTo>
                  <a:pt x="0" y="457200"/>
                </a:moveTo>
                <a:lnTo>
                  <a:pt x="23475" y="405802"/>
                </a:lnTo>
                <a:lnTo>
                  <a:pt x="47130" y="354985"/>
                </a:lnTo>
                <a:lnTo>
                  <a:pt x="71142" y="305327"/>
                </a:lnTo>
                <a:lnTo>
                  <a:pt x="95689" y="257407"/>
                </a:lnTo>
                <a:lnTo>
                  <a:pt x="120952" y="211806"/>
                </a:lnTo>
                <a:lnTo>
                  <a:pt x="147107" y="169102"/>
                </a:lnTo>
                <a:lnTo>
                  <a:pt x="174334" y="129876"/>
                </a:lnTo>
                <a:lnTo>
                  <a:pt x="202811" y="94707"/>
                </a:lnTo>
                <a:lnTo>
                  <a:pt x="232717" y="64174"/>
                </a:lnTo>
                <a:lnTo>
                  <a:pt x="264231" y="38857"/>
                </a:lnTo>
                <a:lnTo>
                  <a:pt x="297531" y="19336"/>
                </a:lnTo>
                <a:lnTo>
                  <a:pt x="370204" y="0"/>
                </a:lnTo>
                <a:lnTo>
                  <a:pt x="400318" y="2026"/>
                </a:lnTo>
                <a:lnTo>
                  <a:pt x="464292" y="26897"/>
                </a:lnTo>
                <a:lnTo>
                  <a:pt x="497994" y="47895"/>
                </a:lnTo>
                <a:lnTo>
                  <a:pt x="532733" y="73368"/>
                </a:lnTo>
                <a:lnTo>
                  <a:pt x="568429" y="102393"/>
                </a:lnTo>
                <a:lnTo>
                  <a:pt x="605003" y="134047"/>
                </a:lnTo>
                <a:lnTo>
                  <a:pt x="642375" y="167405"/>
                </a:lnTo>
                <a:lnTo>
                  <a:pt x="680467" y="201545"/>
                </a:lnTo>
                <a:lnTo>
                  <a:pt x="719197" y="235541"/>
                </a:lnTo>
                <a:lnTo>
                  <a:pt x="758487" y="268471"/>
                </a:lnTo>
                <a:lnTo>
                  <a:pt x="798256" y="299411"/>
                </a:lnTo>
                <a:lnTo>
                  <a:pt x="838427" y="327437"/>
                </a:lnTo>
                <a:lnTo>
                  <a:pt x="878918" y="351624"/>
                </a:lnTo>
                <a:lnTo>
                  <a:pt x="919651" y="371050"/>
                </a:lnTo>
                <a:lnTo>
                  <a:pt x="960545" y="384790"/>
                </a:lnTo>
                <a:lnTo>
                  <a:pt x="1001521" y="391921"/>
                </a:lnTo>
                <a:lnTo>
                  <a:pt x="1044103" y="392820"/>
                </a:lnTo>
                <a:lnTo>
                  <a:pt x="1089524" y="388847"/>
                </a:lnTo>
                <a:lnTo>
                  <a:pt x="1137272" y="380554"/>
                </a:lnTo>
                <a:lnTo>
                  <a:pt x="1186836" y="368492"/>
                </a:lnTo>
                <a:lnTo>
                  <a:pt x="1237704" y="353213"/>
                </a:lnTo>
                <a:lnTo>
                  <a:pt x="1289364" y="335268"/>
                </a:lnTo>
                <a:lnTo>
                  <a:pt x="1341305" y="315211"/>
                </a:lnTo>
                <a:lnTo>
                  <a:pt x="1393014" y="293591"/>
                </a:lnTo>
                <a:lnTo>
                  <a:pt x="1443979" y="270961"/>
                </a:lnTo>
                <a:lnTo>
                  <a:pt x="1493689" y="247873"/>
                </a:lnTo>
                <a:lnTo>
                  <a:pt x="1541632" y="224878"/>
                </a:lnTo>
                <a:lnTo>
                  <a:pt x="1587297" y="202528"/>
                </a:lnTo>
                <a:lnTo>
                  <a:pt x="1630170" y="181375"/>
                </a:lnTo>
                <a:lnTo>
                  <a:pt x="1669742" y="161970"/>
                </a:lnTo>
                <a:lnTo>
                  <a:pt x="1705498" y="144864"/>
                </a:lnTo>
                <a:lnTo>
                  <a:pt x="1736929" y="130611"/>
                </a:lnTo>
                <a:lnTo>
                  <a:pt x="1763521" y="119761"/>
                </a:lnTo>
                <a:lnTo>
                  <a:pt x="1825332" y="95981"/>
                </a:lnTo>
                <a:lnTo>
                  <a:pt x="1853200" y="83693"/>
                </a:lnTo>
                <a:lnTo>
                  <a:pt x="1855611" y="80030"/>
                </a:lnTo>
                <a:lnTo>
                  <a:pt x="1841050" y="82128"/>
                </a:lnTo>
                <a:lnTo>
                  <a:pt x="1818005" y="8712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55284" y="4192015"/>
            <a:ext cx="76200" cy="45720"/>
          </a:xfrm>
          <a:custGeom>
            <a:avLst/>
            <a:gdLst/>
            <a:ahLst/>
            <a:cxnLst/>
            <a:rect l="l" t="t" r="r" b="b"/>
            <a:pathLst>
              <a:path w="76200" h="45720">
                <a:moveTo>
                  <a:pt x="38100" y="0"/>
                </a:moveTo>
                <a:lnTo>
                  <a:pt x="23306" y="1783"/>
                </a:lnTo>
                <a:lnTo>
                  <a:pt x="11191" y="6651"/>
                </a:lnTo>
                <a:lnTo>
                  <a:pt x="3006" y="13876"/>
                </a:lnTo>
                <a:lnTo>
                  <a:pt x="0" y="22732"/>
                </a:lnTo>
                <a:lnTo>
                  <a:pt x="3006" y="31682"/>
                </a:lnTo>
                <a:lnTo>
                  <a:pt x="11191" y="38988"/>
                </a:lnTo>
                <a:lnTo>
                  <a:pt x="23306" y="43914"/>
                </a:lnTo>
                <a:lnTo>
                  <a:pt x="38100" y="45719"/>
                </a:lnTo>
                <a:lnTo>
                  <a:pt x="52947" y="43914"/>
                </a:lnTo>
                <a:lnTo>
                  <a:pt x="65055" y="38988"/>
                </a:lnTo>
                <a:lnTo>
                  <a:pt x="73211" y="31682"/>
                </a:lnTo>
                <a:lnTo>
                  <a:pt x="76200" y="22732"/>
                </a:lnTo>
                <a:lnTo>
                  <a:pt x="73211" y="13876"/>
                </a:lnTo>
                <a:lnTo>
                  <a:pt x="65055" y="6651"/>
                </a:lnTo>
                <a:lnTo>
                  <a:pt x="52947" y="1783"/>
                </a:lnTo>
                <a:lnTo>
                  <a:pt x="38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55284" y="4192015"/>
            <a:ext cx="76200" cy="45720"/>
          </a:xfrm>
          <a:custGeom>
            <a:avLst/>
            <a:gdLst/>
            <a:ahLst/>
            <a:cxnLst/>
            <a:rect l="l" t="t" r="r" b="b"/>
            <a:pathLst>
              <a:path w="76200" h="45720">
                <a:moveTo>
                  <a:pt x="0" y="22732"/>
                </a:moveTo>
                <a:lnTo>
                  <a:pt x="3006" y="13876"/>
                </a:lnTo>
                <a:lnTo>
                  <a:pt x="11191" y="6651"/>
                </a:lnTo>
                <a:lnTo>
                  <a:pt x="23306" y="1783"/>
                </a:lnTo>
                <a:lnTo>
                  <a:pt x="38100" y="0"/>
                </a:lnTo>
                <a:lnTo>
                  <a:pt x="52947" y="1783"/>
                </a:lnTo>
                <a:lnTo>
                  <a:pt x="65055" y="6651"/>
                </a:lnTo>
                <a:lnTo>
                  <a:pt x="73211" y="13876"/>
                </a:lnTo>
                <a:lnTo>
                  <a:pt x="76200" y="22732"/>
                </a:lnTo>
                <a:lnTo>
                  <a:pt x="73211" y="31682"/>
                </a:lnTo>
                <a:lnTo>
                  <a:pt x="65055" y="38988"/>
                </a:lnTo>
                <a:lnTo>
                  <a:pt x="52947" y="43914"/>
                </a:lnTo>
                <a:lnTo>
                  <a:pt x="38100" y="45719"/>
                </a:lnTo>
                <a:lnTo>
                  <a:pt x="23306" y="43914"/>
                </a:lnTo>
                <a:lnTo>
                  <a:pt x="11191" y="38988"/>
                </a:lnTo>
                <a:lnTo>
                  <a:pt x="3006" y="31682"/>
                </a:lnTo>
                <a:lnTo>
                  <a:pt x="0" y="22732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58763" y="3691509"/>
            <a:ext cx="101600" cy="1322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68363" y="4061967"/>
            <a:ext cx="101600" cy="1320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806563" y="3798315"/>
            <a:ext cx="101600" cy="1320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43600" y="4162678"/>
            <a:ext cx="76200" cy="106680"/>
          </a:xfrm>
          <a:custGeom>
            <a:avLst/>
            <a:gdLst/>
            <a:ahLst/>
            <a:cxnLst/>
            <a:rect l="l" t="t" r="r" b="b"/>
            <a:pathLst>
              <a:path w="76200" h="106679">
                <a:moveTo>
                  <a:pt x="38100" y="0"/>
                </a:moveTo>
                <a:lnTo>
                  <a:pt x="23252" y="4191"/>
                </a:lnTo>
                <a:lnTo>
                  <a:pt x="11144" y="15621"/>
                </a:lnTo>
                <a:lnTo>
                  <a:pt x="2988" y="32575"/>
                </a:lnTo>
                <a:lnTo>
                  <a:pt x="0" y="53340"/>
                </a:lnTo>
                <a:lnTo>
                  <a:pt x="2988" y="74104"/>
                </a:lnTo>
                <a:lnTo>
                  <a:pt x="11144" y="91059"/>
                </a:lnTo>
                <a:lnTo>
                  <a:pt x="23252" y="102489"/>
                </a:lnTo>
                <a:lnTo>
                  <a:pt x="38100" y="106680"/>
                </a:lnTo>
                <a:lnTo>
                  <a:pt x="52947" y="102489"/>
                </a:lnTo>
                <a:lnTo>
                  <a:pt x="65055" y="91059"/>
                </a:lnTo>
                <a:lnTo>
                  <a:pt x="73211" y="74104"/>
                </a:lnTo>
                <a:lnTo>
                  <a:pt x="76200" y="53340"/>
                </a:lnTo>
                <a:lnTo>
                  <a:pt x="73211" y="32575"/>
                </a:lnTo>
                <a:lnTo>
                  <a:pt x="65055" y="15621"/>
                </a:lnTo>
                <a:lnTo>
                  <a:pt x="52947" y="4191"/>
                </a:lnTo>
                <a:lnTo>
                  <a:pt x="38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943600" y="4162678"/>
            <a:ext cx="76200" cy="106680"/>
          </a:xfrm>
          <a:custGeom>
            <a:avLst/>
            <a:gdLst/>
            <a:ahLst/>
            <a:cxnLst/>
            <a:rect l="l" t="t" r="r" b="b"/>
            <a:pathLst>
              <a:path w="76200" h="106679">
                <a:moveTo>
                  <a:pt x="0" y="53340"/>
                </a:moveTo>
                <a:lnTo>
                  <a:pt x="2988" y="74104"/>
                </a:lnTo>
                <a:lnTo>
                  <a:pt x="11144" y="91059"/>
                </a:lnTo>
                <a:lnTo>
                  <a:pt x="23252" y="102489"/>
                </a:lnTo>
                <a:lnTo>
                  <a:pt x="38100" y="106680"/>
                </a:lnTo>
                <a:lnTo>
                  <a:pt x="52947" y="102488"/>
                </a:lnTo>
                <a:lnTo>
                  <a:pt x="65055" y="91058"/>
                </a:lnTo>
                <a:lnTo>
                  <a:pt x="73211" y="74104"/>
                </a:lnTo>
                <a:lnTo>
                  <a:pt x="76200" y="53340"/>
                </a:lnTo>
                <a:lnTo>
                  <a:pt x="73211" y="32575"/>
                </a:lnTo>
                <a:lnTo>
                  <a:pt x="65055" y="15621"/>
                </a:lnTo>
                <a:lnTo>
                  <a:pt x="52947" y="4191"/>
                </a:lnTo>
                <a:lnTo>
                  <a:pt x="38100" y="0"/>
                </a:lnTo>
                <a:lnTo>
                  <a:pt x="23252" y="4191"/>
                </a:lnTo>
                <a:lnTo>
                  <a:pt x="11144" y="15621"/>
                </a:lnTo>
                <a:lnTo>
                  <a:pt x="2988" y="32575"/>
                </a:lnTo>
                <a:lnTo>
                  <a:pt x="0" y="5334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48200" y="1066800"/>
            <a:ext cx="4156075" cy="2067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7455" y="164591"/>
            <a:ext cx="51485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Hermite </a:t>
            </a:r>
            <a:r>
              <a:rPr b="1" spc="-5" dirty="0">
                <a:latin typeface="Calibri"/>
                <a:cs typeface="Calibri"/>
              </a:rPr>
              <a:t>Spline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Curves</a:t>
            </a:r>
          </a:p>
        </p:txBody>
      </p:sp>
      <p:sp>
        <p:nvSpPr>
          <p:cNvPr id="3" name="object 3"/>
          <p:cNvSpPr/>
          <p:nvPr/>
        </p:nvSpPr>
        <p:spPr>
          <a:xfrm>
            <a:off x="152400" y="1066800"/>
            <a:ext cx="5638800" cy="1754505"/>
          </a:xfrm>
          <a:custGeom>
            <a:avLst/>
            <a:gdLst/>
            <a:ahLst/>
            <a:cxnLst/>
            <a:rect l="l" t="t" r="r" b="b"/>
            <a:pathLst>
              <a:path w="5638800" h="1754505">
                <a:moveTo>
                  <a:pt x="0" y="1754377"/>
                </a:moveTo>
                <a:lnTo>
                  <a:pt x="5638800" y="1754377"/>
                </a:lnTo>
                <a:lnTo>
                  <a:pt x="5638800" y="0"/>
                </a:lnTo>
                <a:lnTo>
                  <a:pt x="0" y="0"/>
                </a:lnTo>
                <a:lnTo>
                  <a:pt x="0" y="1754377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3840" y="1085341"/>
            <a:ext cx="2077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Hermite </a:t>
            </a:r>
            <a:r>
              <a:rPr sz="1800" b="1" dirty="0">
                <a:latin typeface="Calibri"/>
                <a:cs typeface="Calibri"/>
              </a:rPr>
              <a:t>Spline</a:t>
            </a:r>
            <a:r>
              <a:rPr sz="1800" b="1" spc="-10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Curve</a:t>
            </a:r>
            <a:r>
              <a:rPr sz="1800" spc="-5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1040" y="1359915"/>
            <a:ext cx="501015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42265" algn="l"/>
                <a:tab pos="342900" algn="l"/>
              </a:tabLst>
            </a:pPr>
            <a:r>
              <a:rPr sz="1800" dirty="0">
                <a:latin typeface="Calibri"/>
                <a:cs typeface="Calibri"/>
              </a:rPr>
              <a:t>It is </a:t>
            </a:r>
            <a:r>
              <a:rPr sz="1800" spc="-5" dirty="0">
                <a:latin typeface="Calibri"/>
                <a:cs typeface="Calibri"/>
              </a:rPr>
              <a:t>Interpolation spline</a:t>
            </a:r>
            <a:r>
              <a:rPr sz="1800" dirty="0">
                <a:latin typeface="Calibri"/>
                <a:cs typeface="Calibri"/>
              </a:rPr>
              <a:t> curve</a:t>
            </a:r>
            <a:endParaRPr sz="18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buFont typeface="Arial"/>
              <a:buChar char="•"/>
              <a:tabLst>
                <a:tab pos="342265" algn="l"/>
                <a:tab pos="342900" algn="l"/>
              </a:tabLst>
            </a:pPr>
            <a:r>
              <a:rPr sz="1800" dirty="0">
                <a:latin typeface="Calibri"/>
                <a:cs typeface="Calibri"/>
              </a:rPr>
              <a:t>It </a:t>
            </a:r>
            <a:r>
              <a:rPr sz="1800" spc="-5" dirty="0">
                <a:latin typeface="Calibri"/>
                <a:cs typeface="Calibri"/>
              </a:rPr>
              <a:t>uses </a:t>
            </a:r>
            <a:r>
              <a:rPr sz="1800" dirty="0">
                <a:latin typeface="Calibri"/>
                <a:cs typeface="Calibri"/>
              </a:rPr>
              <a:t>cubic </a:t>
            </a:r>
            <a:r>
              <a:rPr sz="1800" spc="-5" dirty="0">
                <a:latin typeface="Calibri"/>
                <a:cs typeface="Calibri"/>
              </a:rPr>
              <a:t>polynomial function (uses </a:t>
            </a:r>
            <a:r>
              <a:rPr sz="1800" dirty="0">
                <a:latin typeface="Calibri"/>
                <a:cs typeface="Calibri"/>
              </a:rPr>
              <a:t>4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points)</a:t>
            </a:r>
            <a:endParaRPr sz="18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buFont typeface="Arial"/>
              <a:buChar char="•"/>
              <a:tabLst>
                <a:tab pos="342265" algn="l"/>
                <a:tab pos="342900" algn="l"/>
              </a:tabLst>
            </a:pPr>
            <a:r>
              <a:rPr sz="1800" dirty="0">
                <a:latin typeface="Calibri"/>
                <a:cs typeface="Calibri"/>
              </a:rPr>
              <a:t>It </a:t>
            </a:r>
            <a:r>
              <a:rPr sz="1800" spc="-5" dirty="0">
                <a:latin typeface="Calibri"/>
                <a:cs typeface="Calibri"/>
              </a:rPr>
              <a:t>uses </a:t>
            </a:r>
            <a:r>
              <a:rPr sz="1800" spc="-10" dirty="0">
                <a:latin typeface="Calibri"/>
                <a:cs typeface="Calibri"/>
              </a:rPr>
              <a:t>two </a:t>
            </a:r>
            <a:r>
              <a:rPr sz="1800" spc="-5" dirty="0">
                <a:latin typeface="Calibri"/>
                <a:cs typeface="Calibri"/>
              </a:rPr>
              <a:t>position </a:t>
            </a:r>
            <a:r>
              <a:rPr sz="1800" spc="-10" dirty="0">
                <a:latin typeface="Calibri"/>
                <a:cs typeface="Calibri"/>
              </a:rPr>
              <a:t>vector </a:t>
            </a:r>
            <a:r>
              <a:rPr sz="1800" spc="-5" dirty="0">
                <a:latin typeface="Calibri"/>
                <a:cs typeface="Calibri"/>
              </a:rPr>
              <a:t>(end-points), </a:t>
            </a:r>
            <a:r>
              <a:rPr sz="1800" dirty="0">
                <a:latin typeface="Calibri"/>
                <a:cs typeface="Calibri"/>
              </a:rPr>
              <a:t>P1 &amp;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P2</a:t>
            </a:r>
            <a:endParaRPr sz="1800">
              <a:latin typeface="Calibri"/>
              <a:cs typeface="Calibri"/>
            </a:endParaRPr>
          </a:p>
          <a:p>
            <a:pPr marL="342265" marR="5080" indent="-342265">
              <a:lnSpc>
                <a:spcPct val="100000"/>
              </a:lnSpc>
              <a:buFont typeface="Arial"/>
              <a:buChar char="•"/>
              <a:tabLst>
                <a:tab pos="342265" algn="l"/>
                <a:tab pos="342900" algn="l"/>
                <a:tab pos="1144270" algn="l"/>
                <a:tab pos="1631314" algn="l"/>
                <a:tab pos="2478405" algn="l"/>
                <a:tab pos="3192780" algn="l"/>
                <a:tab pos="3562985" algn="l"/>
                <a:tab pos="4244975" algn="l"/>
              </a:tabLst>
            </a:pPr>
            <a:r>
              <a:rPr sz="1800" dirty="0">
                <a:latin typeface="Calibri"/>
                <a:cs typeface="Calibri"/>
              </a:rPr>
              <a:t>It </a:t>
            </a:r>
            <a:r>
              <a:rPr sz="1800" spc="18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use</a:t>
            </a:r>
            <a:r>
              <a:rPr sz="1800" dirty="0">
                <a:latin typeface="Calibri"/>
                <a:cs typeface="Calibri"/>
              </a:rPr>
              <a:t>s	t</a:t>
            </a:r>
            <a:r>
              <a:rPr sz="1800" spc="-20" dirty="0">
                <a:latin typeface="Calibri"/>
                <a:cs typeface="Calibri"/>
              </a:rPr>
              <a:t>w</a:t>
            </a:r>
            <a:r>
              <a:rPr sz="1800" dirty="0">
                <a:latin typeface="Calibri"/>
                <a:cs typeface="Calibri"/>
              </a:rPr>
              <a:t>o	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10" dirty="0">
                <a:latin typeface="Calibri"/>
                <a:cs typeface="Calibri"/>
              </a:rPr>
              <a:t>g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10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t	</a:t>
            </a:r>
            <a:r>
              <a:rPr sz="1800" spc="-20" dirty="0">
                <a:latin typeface="Calibri"/>
                <a:cs typeface="Calibri"/>
              </a:rPr>
              <a:t>v</a:t>
            </a:r>
            <a:r>
              <a:rPr sz="1800" dirty="0">
                <a:latin typeface="Calibri"/>
                <a:cs typeface="Calibri"/>
              </a:rPr>
              <a:t>ec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r	(in	which	</a:t>
            </a:r>
            <a:r>
              <a:rPr sz="1800" spc="-5" dirty="0">
                <a:latin typeface="Calibri"/>
                <a:cs typeface="Calibri"/>
              </a:rPr>
              <a:t>position  </a:t>
            </a:r>
            <a:r>
              <a:rPr sz="1800" dirty="0">
                <a:latin typeface="Calibri"/>
                <a:cs typeface="Calibri"/>
              </a:rPr>
              <a:t>curve is moving) </a:t>
            </a:r>
            <a:r>
              <a:rPr sz="1800" spc="-10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end </a:t>
            </a:r>
            <a:r>
              <a:rPr sz="1800" spc="-5" dirty="0">
                <a:latin typeface="Calibri"/>
                <a:cs typeface="Calibri"/>
              </a:rPr>
              <a:t>points, </a:t>
            </a:r>
            <a:r>
              <a:rPr sz="1800" dirty="0">
                <a:latin typeface="Calibri"/>
                <a:cs typeface="Calibri"/>
              </a:rPr>
              <a:t>R1 &amp;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50759" y="2406141"/>
            <a:ext cx="483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P(t)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33768" y="1794001"/>
            <a:ext cx="2245995" cy="457200"/>
          </a:xfrm>
          <a:custGeom>
            <a:avLst/>
            <a:gdLst/>
            <a:ahLst/>
            <a:cxnLst/>
            <a:rect l="l" t="t" r="r" b="b"/>
            <a:pathLst>
              <a:path w="2245995" h="457200">
                <a:moveTo>
                  <a:pt x="0" y="457200"/>
                </a:moveTo>
                <a:lnTo>
                  <a:pt x="26372" y="409460"/>
                </a:lnTo>
                <a:lnTo>
                  <a:pt x="52917" y="362181"/>
                </a:lnTo>
                <a:lnTo>
                  <a:pt x="79808" y="315827"/>
                </a:lnTo>
                <a:lnTo>
                  <a:pt x="107219" y="270865"/>
                </a:lnTo>
                <a:lnTo>
                  <a:pt x="135321" y="227758"/>
                </a:lnTo>
                <a:lnTo>
                  <a:pt x="164288" y="186972"/>
                </a:lnTo>
                <a:lnTo>
                  <a:pt x="194294" y="148971"/>
                </a:lnTo>
                <a:lnTo>
                  <a:pt x="225510" y="114220"/>
                </a:lnTo>
                <a:lnTo>
                  <a:pt x="258110" y="83184"/>
                </a:lnTo>
                <a:lnTo>
                  <a:pt x="292268" y="56328"/>
                </a:lnTo>
                <a:lnTo>
                  <a:pt x="328156" y="34116"/>
                </a:lnTo>
                <a:lnTo>
                  <a:pt x="365946" y="17015"/>
                </a:lnTo>
                <a:lnTo>
                  <a:pt x="405813" y="5487"/>
                </a:lnTo>
                <a:lnTo>
                  <a:pt x="447928" y="0"/>
                </a:lnTo>
                <a:lnTo>
                  <a:pt x="480458" y="1436"/>
                </a:lnTo>
                <a:lnTo>
                  <a:pt x="549186" y="21294"/>
                </a:lnTo>
                <a:lnTo>
                  <a:pt x="585245" y="38390"/>
                </a:lnTo>
                <a:lnTo>
                  <a:pt x="622343" y="59383"/>
                </a:lnTo>
                <a:lnTo>
                  <a:pt x="660410" y="83611"/>
                </a:lnTo>
                <a:lnTo>
                  <a:pt x="699376" y="110411"/>
                </a:lnTo>
                <a:lnTo>
                  <a:pt x="739173" y="139122"/>
                </a:lnTo>
                <a:lnTo>
                  <a:pt x="779731" y="169082"/>
                </a:lnTo>
                <a:lnTo>
                  <a:pt x="820982" y="199630"/>
                </a:lnTo>
                <a:lnTo>
                  <a:pt x="862855" y="230103"/>
                </a:lnTo>
                <a:lnTo>
                  <a:pt x="905282" y="259840"/>
                </a:lnTo>
                <a:lnTo>
                  <a:pt x="948193" y="288179"/>
                </a:lnTo>
                <a:lnTo>
                  <a:pt x="991520" y="314458"/>
                </a:lnTo>
                <a:lnTo>
                  <a:pt x="1035193" y="338016"/>
                </a:lnTo>
                <a:lnTo>
                  <a:pt x="1079143" y="358190"/>
                </a:lnTo>
                <a:lnTo>
                  <a:pt x="1123300" y="374319"/>
                </a:lnTo>
                <a:lnTo>
                  <a:pt x="1167596" y="385741"/>
                </a:lnTo>
                <a:lnTo>
                  <a:pt x="1211960" y="391795"/>
                </a:lnTo>
                <a:lnTo>
                  <a:pt x="1257887" y="392857"/>
                </a:lnTo>
                <a:lnTo>
                  <a:pt x="1306619" y="389970"/>
                </a:lnTo>
                <a:lnTo>
                  <a:pt x="1357711" y="383530"/>
                </a:lnTo>
                <a:lnTo>
                  <a:pt x="1410720" y="373932"/>
                </a:lnTo>
                <a:lnTo>
                  <a:pt x="1465203" y="361571"/>
                </a:lnTo>
                <a:lnTo>
                  <a:pt x="1520715" y="346842"/>
                </a:lnTo>
                <a:lnTo>
                  <a:pt x="1576813" y="330140"/>
                </a:lnTo>
                <a:lnTo>
                  <a:pt x="1633052" y="311862"/>
                </a:lnTo>
                <a:lnTo>
                  <a:pt x="1688989" y="292402"/>
                </a:lnTo>
                <a:lnTo>
                  <a:pt x="1744181" y="272155"/>
                </a:lnTo>
                <a:lnTo>
                  <a:pt x="1798183" y="251517"/>
                </a:lnTo>
                <a:lnTo>
                  <a:pt x="1850551" y="230883"/>
                </a:lnTo>
                <a:lnTo>
                  <a:pt x="1900842" y="210649"/>
                </a:lnTo>
                <a:lnTo>
                  <a:pt x="1948611" y="191208"/>
                </a:lnTo>
                <a:lnTo>
                  <a:pt x="1993416" y="172958"/>
                </a:lnTo>
                <a:lnTo>
                  <a:pt x="2034811" y="156293"/>
                </a:lnTo>
                <a:lnTo>
                  <a:pt x="2072355" y="141608"/>
                </a:lnTo>
                <a:lnTo>
                  <a:pt x="2105601" y="129299"/>
                </a:lnTo>
                <a:lnTo>
                  <a:pt x="2134107" y="119761"/>
                </a:lnTo>
                <a:lnTo>
                  <a:pt x="2208957" y="95980"/>
                </a:lnTo>
                <a:lnTo>
                  <a:pt x="2242696" y="83684"/>
                </a:lnTo>
                <a:lnTo>
                  <a:pt x="2245600" y="80002"/>
                </a:lnTo>
                <a:lnTo>
                  <a:pt x="2227949" y="82063"/>
                </a:lnTo>
                <a:lnTo>
                  <a:pt x="2200021" y="86995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91223" y="2240279"/>
            <a:ext cx="92710" cy="45720"/>
          </a:xfrm>
          <a:custGeom>
            <a:avLst/>
            <a:gdLst/>
            <a:ahLst/>
            <a:cxnLst/>
            <a:rect l="l" t="t" r="r" b="b"/>
            <a:pathLst>
              <a:path w="92709" h="45719">
                <a:moveTo>
                  <a:pt x="46100" y="0"/>
                </a:moveTo>
                <a:lnTo>
                  <a:pt x="28128" y="1803"/>
                </a:lnTo>
                <a:lnTo>
                  <a:pt x="13477" y="6715"/>
                </a:lnTo>
                <a:lnTo>
                  <a:pt x="3613" y="13983"/>
                </a:lnTo>
                <a:lnTo>
                  <a:pt x="0" y="22860"/>
                </a:lnTo>
                <a:lnTo>
                  <a:pt x="3613" y="31736"/>
                </a:lnTo>
                <a:lnTo>
                  <a:pt x="13477" y="39004"/>
                </a:lnTo>
                <a:lnTo>
                  <a:pt x="28128" y="43916"/>
                </a:lnTo>
                <a:lnTo>
                  <a:pt x="46100" y="45720"/>
                </a:lnTo>
                <a:lnTo>
                  <a:pt x="64019" y="43916"/>
                </a:lnTo>
                <a:lnTo>
                  <a:pt x="78676" y="39004"/>
                </a:lnTo>
                <a:lnTo>
                  <a:pt x="88570" y="31736"/>
                </a:lnTo>
                <a:lnTo>
                  <a:pt x="92201" y="22860"/>
                </a:lnTo>
                <a:lnTo>
                  <a:pt x="88570" y="13983"/>
                </a:lnTo>
                <a:lnTo>
                  <a:pt x="78676" y="6715"/>
                </a:lnTo>
                <a:lnTo>
                  <a:pt x="64019" y="1803"/>
                </a:lnTo>
                <a:lnTo>
                  <a:pt x="46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91223" y="2240279"/>
            <a:ext cx="92710" cy="45720"/>
          </a:xfrm>
          <a:custGeom>
            <a:avLst/>
            <a:gdLst/>
            <a:ahLst/>
            <a:cxnLst/>
            <a:rect l="l" t="t" r="r" b="b"/>
            <a:pathLst>
              <a:path w="92709" h="45719">
                <a:moveTo>
                  <a:pt x="0" y="22860"/>
                </a:moveTo>
                <a:lnTo>
                  <a:pt x="3613" y="13983"/>
                </a:lnTo>
                <a:lnTo>
                  <a:pt x="13477" y="6715"/>
                </a:lnTo>
                <a:lnTo>
                  <a:pt x="28128" y="1803"/>
                </a:lnTo>
                <a:lnTo>
                  <a:pt x="46100" y="0"/>
                </a:lnTo>
                <a:lnTo>
                  <a:pt x="64019" y="1803"/>
                </a:lnTo>
                <a:lnTo>
                  <a:pt x="78676" y="6715"/>
                </a:lnTo>
                <a:lnTo>
                  <a:pt x="88570" y="13983"/>
                </a:lnTo>
                <a:lnTo>
                  <a:pt x="92201" y="22860"/>
                </a:lnTo>
                <a:lnTo>
                  <a:pt x="88570" y="31736"/>
                </a:lnTo>
                <a:lnTo>
                  <a:pt x="78676" y="39004"/>
                </a:lnTo>
                <a:lnTo>
                  <a:pt x="64019" y="43916"/>
                </a:lnTo>
                <a:lnTo>
                  <a:pt x="46100" y="45720"/>
                </a:lnTo>
                <a:lnTo>
                  <a:pt x="28128" y="43916"/>
                </a:lnTo>
                <a:lnTo>
                  <a:pt x="13477" y="39004"/>
                </a:lnTo>
                <a:lnTo>
                  <a:pt x="3613" y="31736"/>
                </a:lnTo>
                <a:lnTo>
                  <a:pt x="0" y="2286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82206" y="1739900"/>
            <a:ext cx="117601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19821" y="2110358"/>
            <a:ext cx="117728" cy="1320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34297" y="1846579"/>
            <a:ext cx="117601" cy="1320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77000" y="2210942"/>
            <a:ext cx="92710" cy="106680"/>
          </a:xfrm>
          <a:custGeom>
            <a:avLst/>
            <a:gdLst/>
            <a:ahLst/>
            <a:cxnLst/>
            <a:rect l="l" t="t" r="r" b="b"/>
            <a:pathLst>
              <a:path w="92709" h="106680">
                <a:moveTo>
                  <a:pt x="46100" y="0"/>
                </a:moveTo>
                <a:lnTo>
                  <a:pt x="28182" y="4190"/>
                </a:lnTo>
                <a:lnTo>
                  <a:pt x="13525" y="15621"/>
                </a:lnTo>
                <a:lnTo>
                  <a:pt x="3631" y="32575"/>
                </a:lnTo>
                <a:lnTo>
                  <a:pt x="0" y="53340"/>
                </a:lnTo>
                <a:lnTo>
                  <a:pt x="3631" y="74104"/>
                </a:lnTo>
                <a:lnTo>
                  <a:pt x="13525" y="91059"/>
                </a:lnTo>
                <a:lnTo>
                  <a:pt x="28182" y="102489"/>
                </a:lnTo>
                <a:lnTo>
                  <a:pt x="46100" y="106680"/>
                </a:lnTo>
                <a:lnTo>
                  <a:pt x="64073" y="102489"/>
                </a:lnTo>
                <a:lnTo>
                  <a:pt x="78724" y="91059"/>
                </a:lnTo>
                <a:lnTo>
                  <a:pt x="88588" y="74104"/>
                </a:lnTo>
                <a:lnTo>
                  <a:pt x="92201" y="53340"/>
                </a:lnTo>
                <a:lnTo>
                  <a:pt x="88588" y="32575"/>
                </a:lnTo>
                <a:lnTo>
                  <a:pt x="78724" y="15621"/>
                </a:lnTo>
                <a:lnTo>
                  <a:pt x="64073" y="4190"/>
                </a:lnTo>
                <a:lnTo>
                  <a:pt x="46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77000" y="2210942"/>
            <a:ext cx="92710" cy="106680"/>
          </a:xfrm>
          <a:custGeom>
            <a:avLst/>
            <a:gdLst/>
            <a:ahLst/>
            <a:cxnLst/>
            <a:rect l="l" t="t" r="r" b="b"/>
            <a:pathLst>
              <a:path w="92709" h="106680">
                <a:moveTo>
                  <a:pt x="0" y="53340"/>
                </a:moveTo>
                <a:lnTo>
                  <a:pt x="3631" y="74104"/>
                </a:lnTo>
                <a:lnTo>
                  <a:pt x="13525" y="91059"/>
                </a:lnTo>
                <a:lnTo>
                  <a:pt x="28182" y="102488"/>
                </a:lnTo>
                <a:lnTo>
                  <a:pt x="46100" y="106680"/>
                </a:lnTo>
                <a:lnTo>
                  <a:pt x="64073" y="102489"/>
                </a:lnTo>
                <a:lnTo>
                  <a:pt x="78724" y="91059"/>
                </a:lnTo>
                <a:lnTo>
                  <a:pt x="88588" y="74104"/>
                </a:lnTo>
                <a:lnTo>
                  <a:pt x="92201" y="53340"/>
                </a:lnTo>
                <a:lnTo>
                  <a:pt x="88588" y="32575"/>
                </a:lnTo>
                <a:lnTo>
                  <a:pt x="78724" y="15621"/>
                </a:lnTo>
                <a:lnTo>
                  <a:pt x="64073" y="4190"/>
                </a:lnTo>
                <a:lnTo>
                  <a:pt x="46100" y="0"/>
                </a:lnTo>
                <a:lnTo>
                  <a:pt x="28182" y="4190"/>
                </a:lnTo>
                <a:lnTo>
                  <a:pt x="13525" y="15621"/>
                </a:lnTo>
                <a:lnTo>
                  <a:pt x="3631" y="32575"/>
                </a:lnTo>
                <a:lnTo>
                  <a:pt x="0" y="5334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395720" y="1905000"/>
            <a:ext cx="233679" cy="308610"/>
          </a:xfrm>
          <a:custGeom>
            <a:avLst/>
            <a:gdLst/>
            <a:ahLst/>
            <a:cxnLst/>
            <a:rect l="l" t="t" r="r" b="b"/>
            <a:pathLst>
              <a:path w="233679" h="308610">
                <a:moveTo>
                  <a:pt x="218581" y="20101"/>
                </a:moveTo>
                <a:lnTo>
                  <a:pt x="207046" y="24967"/>
                </a:lnTo>
                <a:lnTo>
                  <a:pt x="0" y="300989"/>
                </a:lnTo>
                <a:lnTo>
                  <a:pt x="10159" y="308610"/>
                </a:lnTo>
                <a:lnTo>
                  <a:pt x="217120" y="32702"/>
                </a:lnTo>
                <a:lnTo>
                  <a:pt x="218581" y="20101"/>
                </a:lnTo>
                <a:close/>
              </a:path>
              <a:path w="233679" h="308610">
                <a:moveTo>
                  <a:pt x="232957" y="6223"/>
                </a:moveTo>
                <a:lnTo>
                  <a:pt x="221106" y="6223"/>
                </a:lnTo>
                <a:lnTo>
                  <a:pt x="231266" y="13842"/>
                </a:lnTo>
                <a:lnTo>
                  <a:pt x="217120" y="32702"/>
                </a:lnTo>
                <a:lnTo>
                  <a:pt x="209676" y="96900"/>
                </a:lnTo>
                <a:lnTo>
                  <a:pt x="209296" y="100457"/>
                </a:lnTo>
                <a:lnTo>
                  <a:pt x="211708" y="103632"/>
                </a:lnTo>
                <a:lnTo>
                  <a:pt x="218694" y="104394"/>
                </a:lnTo>
                <a:lnTo>
                  <a:pt x="221869" y="101853"/>
                </a:lnTo>
                <a:lnTo>
                  <a:pt x="222250" y="98425"/>
                </a:lnTo>
                <a:lnTo>
                  <a:pt x="232957" y="6223"/>
                </a:lnTo>
                <a:close/>
              </a:path>
              <a:path w="233679" h="308610">
                <a:moveTo>
                  <a:pt x="233679" y="0"/>
                </a:moveTo>
                <a:lnTo>
                  <a:pt x="142366" y="38480"/>
                </a:lnTo>
                <a:lnTo>
                  <a:pt x="139191" y="39877"/>
                </a:lnTo>
                <a:lnTo>
                  <a:pt x="137668" y="43561"/>
                </a:lnTo>
                <a:lnTo>
                  <a:pt x="139064" y="46862"/>
                </a:lnTo>
                <a:lnTo>
                  <a:pt x="140334" y="50037"/>
                </a:lnTo>
                <a:lnTo>
                  <a:pt x="144145" y="51562"/>
                </a:lnTo>
                <a:lnTo>
                  <a:pt x="147320" y="50164"/>
                </a:lnTo>
                <a:lnTo>
                  <a:pt x="207046" y="24967"/>
                </a:lnTo>
                <a:lnTo>
                  <a:pt x="221106" y="6223"/>
                </a:lnTo>
                <a:lnTo>
                  <a:pt x="232957" y="6223"/>
                </a:lnTo>
                <a:lnTo>
                  <a:pt x="233679" y="0"/>
                </a:lnTo>
                <a:close/>
              </a:path>
              <a:path w="233679" h="308610">
                <a:moveTo>
                  <a:pt x="225171" y="9271"/>
                </a:moveTo>
                <a:lnTo>
                  <a:pt x="219836" y="9271"/>
                </a:lnTo>
                <a:lnTo>
                  <a:pt x="228600" y="15875"/>
                </a:lnTo>
                <a:lnTo>
                  <a:pt x="218581" y="20101"/>
                </a:lnTo>
                <a:lnTo>
                  <a:pt x="217120" y="32702"/>
                </a:lnTo>
                <a:lnTo>
                  <a:pt x="231266" y="13842"/>
                </a:lnTo>
                <a:lnTo>
                  <a:pt x="225171" y="9271"/>
                </a:lnTo>
                <a:close/>
              </a:path>
              <a:path w="233679" h="308610">
                <a:moveTo>
                  <a:pt x="221106" y="6223"/>
                </a:moveTo>
                <a:lnTo>
                  <a:pt x="207046" y="24967"/>
                </a:lnTo>
                <a:lnTo>
                  <a:pt x="218581" y="20101"/>
                </a:lnTo>
                <a:lnTo>
                  <a:pt x="219836" y="9271"/>
                </a:lnTo>
                <a:lnTo>
                  <a:pt x="225171" y="9271"/>
                </a:lnTo>
                <a:lnTo>
                  <a:pt x="221106" y="6223"/>
                </a:lnTo>
                <a:close/>
              </a:path>
              <a:path w="233679" h="308610">
                <a:moveTo>
                  <a:pt x="219836" y="9271"/>
                </a:moveTo>
                <a:lnTo>
                  <a:pt x="218581" y="20101"/>
                </a:lnTo>
                <a:lnTo>
                  <a:pt x="228600" y="15875"/>
                </a:lnTo>
                <a:lnTo>
                  <a:pt x="219836" y="9271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609076" y="1723898"/>
            <a:ext cx="306705" cy="111125"/>
          </a:xfrm>
          <a:custGeom>
            <a:avLst/>
            <a:gdLst/>
            <a:ahLst/>
            <a:cxnLst/>
            <a:rect l="l" t="t" r="r" b="b"/>
            <a:pathLst>
              <a:path w="306704" h="111125">
                <a:moveTo>
                  <a:pt x="269694" y="31255"/>
                </a:moveTo>
                <a:lnTo>
                  <a:pt x="0" y="98678"/>
                </a:lnTo>
                <a:lnTo>
                  <a:pt x="3048" y="111125"/>
                </a:lnTo>
                <a:lnTo>
                  <a:pt x="272759" y="43697"/>
                </a:lnTo>
                <a:lnTo>
                  <a:pt x="281877" y="34798"/>
                </a:lnTo>
                <a:lnTo>
                  <a:pt x="269694" y="31255"/>
                </a:lnTo>
                <a:close/>
              </a:path>
              <a:path w="306704" h="111125">
                <a:moveTo>
                  <a:pt x="295415" y="25526"/>
                </a:moveTo>
                <a:lnTo>
                  <a:pt x="292607" y="25526"/>
                </a:lnTo>
                <a:lnTo>
                  <a:pt x="295655" y="37973"/>
                </a:lnTo>
                <a:lnTo>
                  <a:pt x="272759" y="43697"/>
                </a:lnTo>
                <a:lnTo>
                  <a:pt x="226568" y="88773"/>
                </a:lnTo>
                <a:lnTo>
                  <a:pt x="224027" y="91312"/>
                </a:lnTo>
                <a:lnTo>
                  <a:pt x="224027" y="95250"/>
                </a:lnTo>
                <a:lnTo>
                  <a:pt x="228853" y="100329"/>
                </a:lnTo>
                <a:lnTo>
                  <a:pt x="232918" y="100329"/>
                </a:lnTo>
                <a:lnTo>
                  <a:pt x="235457" y="97916"/>
                </a:lnTo>
                <a:lnTo>
                  <a:pt x="306324" y="28701"/>
                </a:lnTo>
                <a:lnTo>
                  <a:pt x="295415" y="25526"/>
                </a:lnTo>
                <a:close/>
              </a:path>
              <a:path w="306704" h="111125">
                <a:moveTo>
                  <a:pt x="281877" y="34798"/>
                </a:moveTo>
                <a:lnTo>
                  <a:pt x="272759" y="43697"/>
                </a:lnTo>
                <a:lnTo>
                  <a:pt x="295655" y="37973"/>
                </a:lnTo>
                <a:lnTo>
                  <a:pt x="292353" y="37846"/>
                </a:lnTo>
                <a:lnTo>
                  <a:pt x="281877" y="34798"/>
                </a:lnTo>
                <a:close/>
              </a:path>
              <a:path w="306704" h="111125">
                <a:moveTo>
                  <a:pt x="289687" y="27177"/>
                </a:moveTo>
                <a:lnTo>
                  <a:pt x="281877" y="34798"/>
                </a:lnTo>
                <a:lnTo>
                  <a:pt x="292353" y="37846"/>
                </a:lnTo>
                <a:lnTo>
                  <a:pt x="289687" y="27177"/>
                </a:lnTo>
                <a:close/>
              </a:path>
              <a:path w="306704" h="111125">
                <a:moveTo>
                  <a:pt x="293012" y="27177"/>
                </a:moveTo>
                <a:lnTo>
                  <a:pt x="289687" y="27177"/>
                </a:lnTo>
                <a:lnTo>
                  <a:pt x="292353" y="37846"/>
                </a:lnTo>
                <a:lnTo>
                  <a:pt x="295624" y="37846"/>
                </a:lnTo>
                <a:lnTo>
                  <a:pt x="293012" y="27177"/>
                </a:lnTo>
                <a:close/>
              </a:path>
              <a:path w="306704" h="111125">
                <a:moveTo>
                  <a:pt x="292607" y="25526"/>
                </a:moveTo>
                <a:lnTo>
                  <a:pt x="269694" y="31255"/>
                </a:lnTo>
                <a:lnTo>
                  <a:pt x="281877" y="34798"/>
                </a:lnTo>
                <a:lnTo>
                  <a:pt x="289687" y="27177"/>
                </a:lnTo>
                <a:lnTo>
                  <a:pt x="293012" y="27177"/>
                </a:lnTo>
                <a:lnTo>
                  <a:pt x="292607" y="25526"/>
                </a:lnTo>
                <a:close/>
              </a:path>
              <a:path w="306704" h="111125">
                <a:moveTo>
                  <a:pt x="207772" y="0"/>
                </a:moveTo>
                <a:lnTo>
                  <a:pt x="204343" y="1904"/>
                </a:lnTo>
                <a:lnTo>
                  <a:pt x="202310" y="8762"/>
                </a:lnTo>
                <a:lnTo>
                  <a:pt x="204216" y="12191"/>
                </a:lnTo>
                <a:lnTo>
                  <a:pt x="269694" y="31255"/>
                </a:lnTo>
                <a:lnTo>
                  <a:pt x="292607" y="25526"/>
                </a:lnTo>
                <a:lnTo>
                  <a:pt x="295415" y="25526"/>
                </a:lnTo>
                <a:lnTo>
                  <a:pt x="207772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613647" y="1999996"/>
            <a:ext cx="14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31757" y="213258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99247" y="1771396"/>
            <a:ext cx="14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17357" y="190398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11847" y="1390396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2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12047" y="1390396"/>
            <a:ext cx="278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baseline="-20833" dirty="0">
                <a:latin typeface="Calibri"/>
                <a:cs typeface="Calibri"/>
              </a:rPr>
              <a:t>2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73647" y="1817116"/>
            <a:ext cx="576580" cy="8636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baseline="-20833" dirty="0"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  <a:p>
            <a:pPr marL="38100">
              <a:lnSpc>
                <a:spcPts val="1980"/>
              </a:lnSpc>
              <a:spcBef>
                <a:spcPts val="240"/>
              </a:spcBef>
            </a:pPr>
            <a:r>
              <a:rPr sz="1800" spc="-5" dirty="0">
                <a:latin typeface="Calibri"/>
                <a:cs typeface="Calibri"/>
              </a:rPr>
              <a:t>t=0</a:t>
            </a:r>
            <a:endParaRPr sz="1800">
              <a:latin typeface="Calibri"/>
              <a:cs typeface="Calibri"/>
            </a:endParaRPr>
          </a:p>
          <a:p>
            <a:pPr marL="342900">
              <a:lnSpc>
                <a:spcPts val="1980"/>
              </a:lnSpc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13647" y="2304796"/>
            <a:ext cx="33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t=1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9600" y="3699316"/>
            <a:ext cx="2881678" cy="2367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33400" y="4214495"/>
            <a:ext cx="2765483" cy="2235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33400" y="4595240"/>
            <a:ext cx="2782105" cy="2556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33400" y="4977037"/>
            <a:ext cx="2764980" cy="22835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09600" y="5596066"/>
            <a:ext cx="1706268" cy="20080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438400" y="5353878"/>
            <a:ext cx="1440280" cy="85476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62000" y="6142852"/>
            <a:ext cx="1390017" cy="26549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91000" y="3352800"/>
            <a:ext cx="1905" cy="2971800"/>
          </a:xfrm>
          <a:custGeom>
            <a:avLst/>
            <a:gdLst/>
            <a:ahLst/>
            <a:cxnLst/>
            <a:rect l="l" t="t" r="r" b="b"/>
            <a:pathLst>
              <a:path w="1904" h="2971800">
                <a:moveTo>
                  <a:pt x="1650" y="0"/>
                </a:moveTo>
                <a:lnTo>
                  <a:pt x="0" y="2971800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495800" y="3314700"/>
            <a:ext cx="1130300" cy="2159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95800" y="4632959"/>
            <a:ext cx="1291354" cy="19507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572000" y="4986535"/>
            <a:ext cx="3788103" cy="20105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572000" y="5290528"/>
            <a:ext cx="3788166" cy="19652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572000" y="5595257"/>
            <a:ext cx="3788228" cy="19594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572000" y="5899403"/>
            <a:ext cx="3788228" cy="19202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70840" y="2990596"/>
            <a:ext cx="8229600" cy="1824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423799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Let </a:t>
            </a:r>
            <a:r>
              <a:rPr sz="1800" dirty="0">
                <a:latin typeface="Calibri"/>
                <a:cs typeface="Calibri"/>
              </a:rPr>
              <a:t>Q(t) is the curve </a:t>
            </a:r>
            <a:r>
              <a:rPr sz="1800" spc="-10" dirty="0">
                <a:latin typeface="Calibri"/>
                <a:cs typeface="Calibri"/>
              </a:rPr>
              <a:t>at point </a:t>
            </a:r>
            <a:r>
              <a:rPr sz="1800" dirty="0">
                <a:latin typeface="Calibri"/>
                <a:cs typeface="Calibri"/>
              </a:rPr>
              <a:t>[x(t), </a:t>
            </a:r>
            <a:r>
              <a:rPr sz="1800" spc="-5" dirty="0">
                <a:latin typeface="Calibri"/>
                <a:cs typeface="Calibri"/>
              </a:rPr>
              <a:t>y(t), </a:t>
            </a:r>
            <a:r>
              <a:rPr sz="1800" dirty="0">
                <a:latin typeface="Calibri"/>
                <a:cs typeface="Calibri"/>
              </a:rPr>
              <a:t>z(t)]  </a:t>
            </a:r>
            <a:r>
              <a:rPr sz="1800" spc="-5" dirty="0">
                <a:latin typeface="Calibri"/>
                <a:cs typeface="Calibri"/>
              </a:rPr>
              <a:t>Then </a:t>
            </a:r>
            <a:r>
              <a:rPr sz="1800" spc="-15" dirty="0">
                <a:latin typeface="Calibri"/>
                <a:cs typeface="Calibri"/>
              </a:rPr>
              <a:t>we </a:t>
            </a:r>
            <a:r>
              <a:rPr sz="1800" spc="-10" dirty="0">
                <a:latin typeface="Calibri"/>
                <a:cs typeface="Calibri"/>
              </a:rPr>
              <a:t>can </a:t>
            </a:r>
            <a:r>
              <a:rPr sz="1800" spc="-5" dirty="0">
                <a:latin typeface="Calibri"/>
                <a:cs typeface="Calibri"/>
              </a:rPr>
              <a:t>write </a:t>
            </a:r>
            <a:r>
              <a:rPr sz="1800" dirty="0">
                <a:latin typeface="Calibri"/>
                <a:cs typeface="Calibri"/>
              </a:rPr>
              <a:t>in </a:t>
            </a:r>
            <a:r>
              <a:rPr sz="1800" spc="-5" dirty="0">
                <a:latin typeface="Calibri"/>
                <a:cs typeface="Calibri"/>
              </a:rPr>
              <a:t>matrix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form</a:t>
            </a:r>
            <a:endParaRPr sz="1800" dirty="0">
              <a:latin typeface="Calibri"/>
              <a:cs typeface="Calibri"/>
            </a:endParaRPr>
          </a:p>
          <a:p>
            <a:pPr marL="1111885" algn="ctr">
              <a:lnSpc>
                <a:spcPct val="100000"/>
              </a:lnSpc>
              <a:spcBef>
                <a:spcPts val="480"/>
              </a:spcBef>
            </a:pPr>
            <a:r>
              <a:rPr sz="1800" spc="-10" dirty="0">
                <a:latin typeface="Calibri"/>
                <a:cs typeface="Calibri"/>
              </a:rPr>
              <a:t>Here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C=M.G</a:t>
            </a:r>
            <a:endParaRPr sz="1800" dirty="0">
              <a:latin typeface="Calibri"/>
              <a:cs typeface="Calibri"/>
            </a:endParaRPr>
          </a:p>
          <a:p>
            <a:pPr marL="4422140">
              <a:lnSpc>
                <a:spcPct val="100000"/>
              </a:lnSpc>
            </a:pPr>
            <a:r>
              <a:rPr sz="1600" i="1" dirty="0">
                <a:latin typeface="Calibri"/>
                <a:cs typeface="Calibri"/>
              </a:rPr>
              <a:t>where </a:t>
            </a:r>
            <a:r>
              <a:rPr sz="1800" i="1" dirty="0">
                <a:latin typeface="Calibri"/>
                <a:cs typeface="Calibri"/>
              </a:rPr>
              <a:t>M</a:t>
            </a:r>
            <a:r>
              <a:rPr sz="1600" i="1" dirty="0">
                <a:latin typeface="Calibri"/>
                <a:cs typeface="Calibri"/>
              </a:rPr>
              <a:t>: Basis </a:t>
            </a:r>
            <a:r>
              <a:rPr sz="1600" i="1" spc="-5" dirty="0">
                <a:latin typeface="Calibri"/>
                <a:cs typeface="Calibri"/>
              </a:rPr>
              <a:t>M(confirms </a:t>
            </a:r>
            <a:r>
              <a:rPr sz="1600" i="1" spc="5" dirty="0">
                <a:latin typeface="Calibri"/>
                <a:cs typeface="Calibri"/>
              </a:rPr>
              <a:t>C</a:t>
            </a:r>
            <a:r>
              <a:rPr sz="1575" i="1" spc="7" baseline="26455" dirty="0">
                <a:latin typeface="Calibri"/>
                <a:cs typeface="Calibri"/>
              </a:rPr>
              <a:t>1 </a:t>
            </a:r>
            <a:r>
              <a:rPr sz="1600" i="1" dirty="0">
                <a:latin typeface="Calibri"/>
                <a:cs typeface="Calibri"/>
              </a:rPr>
              <a:t>&amp; </a:t>
            </a:r>
            <a:r>
              <a:rPr sz="1600" i="1" spc="5" dirty="0">
                <a:latin typeface="Calibri"/>
                <a:cs typeface="Calibri"/>
              </a:rPr>
              <a:t>C</a:t>
            </a:r>
            <a:r>
              <a:rPr sz="1575" i="1" spc="7" baseline="26455" dirty="0">
                <a:latin typeface="Calibri"/>
                <a:cs typeface="Calibri"/>
              </a:rPr>
              <a:t>2</a:t>
            </a:r>
            <a:r>
              <a:rPr sz="1575" i="1" spc="-82" baseline="2645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continuity</a:t>
            </a:r>
            <a:endParaRPr sz="1600" dirty="0">
              <a:latin typeface="Calibri"/>
              <a:cs typeface="Calibri"/>
            </a:endParaRPr>
          </a:p>
          <a:p>
            <a:pPr marL="5027930">
              <a:lnSpc>
                <a:spcPct val="100000"/>
              </a:lnSpc>
            </a:pPr>
            <a:r>
              <a:rPr sz="1800" i="1" spc="-5" dirty="0">
                <a:latin typeface="Calibri"/>
                <a:cs typeface="Calibri"/>
              </a:rPr>
              <a:t>G</a:t>
            </a:r>
            <a:r>
              <a:rPr sz="1600" i="1" spc="-5" dirty="0">
                <a:latin typeface="Calibri"/>
                <a:cs typeface="Calibri"/>
              </a:rPr>
              <a:t>: Geometric </a:t>
            </a:r>
            <a:r>
              <a:rPr sz="1600" i="1" spc="-20" dirty="0">
                <a:latin typeface="Calibri"/>
                <a:cs typeface="Calibri"/>
              </a:rPr>
              <a:t>Vector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Matrix</a:t>
            </a:r>
            <a:endParaRPr sz="1600" dirty="0">
              <a:latin typeface="Calibri"/>
              <a:cs typeface="Calibri"/>
            </a:endParaRPr>
          </a:p>
          <a:p>
            <a:pPr marL="5740400">
              <a:lnSpc>
                <a:spcPct val="100000"/>
              </a:lnSpc>
              <a:spcBef>
                <a:spcPts val="720"/>
              </a:spcBef>
              <a:tabLst>
                <a:tab pos="6883400" algn="l"/>
              </a:tabLst>
            </a:pPr>
            <a:r>
              <a:rPr sz="1800" spc="-5" dirty="0">
                <a:latin typeface="Calibri"/>
                <a:cs typeface="Calibri"/>
              </a:rPr>
              <a:t>R</a:t>
            </a:r>
            <a:r>
              <a:rPr sz="1800" spc="-7" baseline="-20833" dirty="0">
                <a:latin typeface="Calibri"/>
                <a:cs typeface="Calibri"/>
              </a:rPr>
              <a:t>1</a:t>
            </a:r>
            <a:r>
              <a:rPr sz="1800" spc="-5" dirty="0">
                <a:latin typeface="Calibri"/>
                <a:cs typeface="Calibri"/>
              </a:rPr>
              <a:t>(t=0)=P</a:t>
            </a:r>
            <a:r>
              <a:rPr sz="1800" spc="-7" baseline="-20833" dirty="0">
                <a:latin typeface="Calibri"/>
                <a:cs typeface="Calibri"/>
              </a:rPr>
              <a:t>1</a:t>
            </a:r>
            <a:r>
              <a:rPr sz="1800" spc="-5" dirty="0">
                <a:latin typeface="Calibri"/>
                <a:cs typeface="Calibri"/>
              </a:rPr>
              <a:t>’	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</a:t>
            </a:r>
            <a:r>
              <a:rPr sz="1800" spc="-7" baseline="-20833" dirty="0">
                <a:latin typeface="Calibri"/>
                <a:cs typeface="Calibri"/>
              </a:rPr>
              <a:t>2</a:t>
            </a:r>
            <a:r>
              <a:rPr sz="1800" spc="-5" dirty="0">
                <a:latin typeface="Calibri"/>
                <a:cs typeface="Calibri"/>
              </a:rPr>
              <a:t>(t=1)=P</a:t>
            </a:r>
            <a:r>
              <a:rPr sz="1800" spc="-7" baseline="-20833" dirty="0">
                <a:latin typeface="Calibri"/>
                <a:cs typeface="Calibri"/>
              </a:rPr>
              <a:t>2</a:t>
            </a:r>
            <a:r>
              <a:rPr sz="1800" spc="-5" dirty="0">
                <a:latin typeface="Calibri"/>
                <a:cs typeface="Calibri"/>
              </a:rPr>
              <a:t>’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7455" y="164591"/>
            <a:ext cx="51485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Hermite </a:t>
            </a:r>
            <a:r>
              <a:rPr b="1" spc="-5" dirty="0">
                <a:latin typeface="Calibri"/>
                <a:cs typeface="Calibri"/>
              </a:rPr>
              <a:t>Spline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Curves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50759" y="2406141"/>
            <a:ext cx="483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P(t)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33768" y="1794001"/>
            <a:ext cx="2245995" cy="457200"/>
          </a:xfrm>
          <a:custGeom>
            <a:avLst/>
            <a:gdLst/>
            <a:ahLst/>
            <a:cxnLst/>
            <a:rect l="l" t="t" r="r" b="b"/>
            <a:pathLst>
              <a:path w="2245995" h="457200">
                <a:moveTo>
                  <a:pt x="0" y="457200"/>
                </a:moveTo>
                <a:lnTo>
                  <a:pt x="26372" y="409460"/>
                </a:lnTo>
                <a:lnTo>
                  <a:pt x="52917" y="362181"/>
                </a:lnTo>
                <a:lnTo>
                  <a:pt x="79808" y="315827"/>
                </a:lnTo>
                <a:lnTo>
                  <a:pt x="107219" y="270865"/>
                </a:lnTo>
                <a:lnTo>
                  <a:pt x="135321" y="227758"/>
                </a:lnTo>
                <a:lnTo>
                  <a:pt x="164288" y="186972"/>
                </a:lnTo>
                <a:lnTo>
                  <a:pt x="194294" y="148971"/>
                </a:lnTo>
                <a:lnTo>
                  <a:pt x="225510" y="114220"/>
                </a:lnTo>
                <a:lnTo>
                  <a:pt x="258110" y="83184"/>
                </a:lnTo>
                <a:lnTo>
                  <a:pt x="292268" y="56328"/>
                </a:lnTo>
                <a:lnTo>
                  <a:pt x="328156" y="34116"/>
                </a:lnTo>
                <a:lnTo>
                  <a:pt x="365946" y="17015"/>
                </a:lnTo>
                <a:lnTo>
                  <a:pt x="405813" y="5487"/>
                </a:lnTo>
                <a:lnTo>
                  <a:pt x="447928" y="0"/>
                </a:lnTo>
                <a:lnTo>
                  <a:pt x="480458" y="1436"/>
                </a:lnTo>
                <a:lnTo>
                  <a:pt x="549186" y="21294"/>
                </a:lnTo>
                <a:lnTo>
                  <a:pt x="585245" y="38390"/>
                </a:lnTo>
                <a:lnTo>
                  <a:pt x="622343" y="59383"/>
                </a:lnTo>
                <a:lnTo>
                  <a:pt x="660410" y="83611"/>
                </a:lnTo>
                <a:lnTo>
                  <a:pt x="699376" y="110411"/>
                </a:lnTo>
                <a:lnTo>
                  <a:pt x="739173" y="139122"/>
                </a:lnTo>
                <a:lnTo>
                  <a:pt x="779731" y="169082"/>
                </a:lnTo>
                <a:lnTo>
                  <a:pt x="820982" y="199630"/>
                </a:lnTo>
                <a:lnTo>
                  <a:pt x="862855" y="230103"/>
                </a:lnTo>
                <a:lnTo>
                  <a:pt x="905282" y="259840"/>
                </a:lnTo>
                <a:lnTo>
                  <a:pt x="948193" y="288179"/>
                </a:lnTo>
                <a:lnTo>
                  <a:pt x="991520" y="314458"/>
                </a:lnTo>
                <a:lnTo>
                  <a:pt x="1035193" y="338016"/>
                </a:lnTo>
                <a:lnTo>
                  <a:pt x="1079143" y="358190"/>
                </a:lnTo>
                <a:lnTo>
                  <a:pt x="1123300" y="374319"/>
                </a:lnTo>
                <a:lnTo>
                  <a:pt x="1167596" y="385741"/>
                </a:lnTo>
                <a:lnTo>
                  <a:pt x="1211960" y="391795"/>
                </a:lnTo>
                <a:lnTo>
                  <a:pt x="1257887" y="392857"/>
                </a:lnTo>
                <a:lnTo>
                  <a:pt x="1306619" y="389970"/>
                </a:lnTo>
                <a:lnTo>
                  <a:pt x="1357711" y="383530"/>
                </a:lnTo>
                <a:lnTo>
                  <a:pt x="1410720" y="373932"/>
                </a:lnTo>
                <a:lnTo>
                  <a:pt x="1465203" y="361571"/>
                </a:lnTo>
                <a:lnTo>
                  <a:pt x="1520715" y="346842"/>
                </a:lnTo>
                <a:lnTo>
                  <a:pt x="1576813" y="330140"/>
                </a:lnTo>
                <a:lnTo>
                  <a:pt x="1633052" y="311862"/>
                </a:lnTo>
                <a:lnTo>
                  <a:pt x="1688989" y="292402"/>
                </a:lnTo>
                <a:lnTo>
                  <a:pt x="1744181" y="272155"/>
                </a:lnTo>
                <a:lnTo>
                  <a:pt x="1798183" y="251517"/>
                </a:lnTo>
                <a:lnTo>
                  <a:pt x="1850551" y="230883"/>
                </a:lnTo>
                <a:lnTo>
                  <a:pt x="1900842" y="210649"/>
                </a:lnTo>
                <a:lnTo>
                  <a:pt x="1948611" y="191208"/>
                </a:lnTo>
                <a:lnTo>
                  <a:pt x="1993416" y="172958"/>
                </a:lnTo>
                <a:lnTo>
                  <a:pt x="2034811" y="156293"/>
                </a:lnTo>
                <a:lnTo>
                  <a:pt x="2072355" y="141608"/>
                </a:lnTo>
                <a:lnTo>
                  <a:pt x="2105601" y="129299"/>
                </a:lnTo>
                <a:lnTo>
                  <a:pt x="2134107" y="119761"/>
                </a:lnTo>
                <a:lnTo>
                  <a:pt x="2208957" y="95980"/>
                </a:lnTo>
                <a:lnTo>
                  <a:pt x="2242696" y="83684"/>
                </a:lnTo>
                <a:lnTo>
                  <a:pt x="2245600" y="80002"/>
                </a:lnTo>
                <a:lnTo>
                  <a:pt x="2227949" y="82063"/>
                </a:lnTo>
                <a:lnTo>
                  <a:pt x="2200021" y="86995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91223" y="2240279"/>
            <a:ext cx="92710" cy="45720"/>
          </a:xfrm>
          <a:custGeom>
            <a:avLst/>
            <a:gdLst/>
            <a:ahLst/>
            <a:cxnLst/>
            <a:rect l="l" t="t" r="r" b="b"/>
            <a:pathLst>
              <a:path w="92709" h="45719">
                <a:moveTo>
                  <a:pt x="46100" y="0"/>
                </a:moveTo>
                <a:lnTo>
                  <a:pt x="28128" y="1803"/>
                </a:lnTo>
                <a:lnTo>
                  <a:pt x="13477" y="6715"/>
                </a:lnTo>
                <a:lnTo>
                  <a:pt x="3613" y="13983"/>
                </a:lnTo>
                <a:lnTo>
                  <a:pt x="0" y="22860"/>
                </a:lnTo>
                <a:lnTo>
                  <a:pt x="3613" y="31736"/>
                </a:lnTo>
                <a:lnTo>
                  <a:pt x="13477" y="39004"/>
                </a:lnTo>
                <a:lnTo>
                  <a:pt x="28128" y="43916"/>
                </a:lnTo>
                <a:lnTo>
                  <a:pt x="46100" y="45720"/>
                </a:lnTo>
                <a:lnTo>
                  <a:pt x="64019" y="43916"/>
                </a:lnTo>
                <a:lnTo>
                  <a:pt x="78676" y="39004"/>
                </a:lnTo>
                <a:lnTo>
                  <a:pt x="88570" y="31736"/>
                </a:lnTo>
                <a:lnTo>
                  <a:pt x="92201" y="22860"/>
                </a:lnTo>
                <a:lnTo>
                  <a:pt x="88570" y="13983"/>
                </a:lnTo>
                <a:lnTo>
                  <a:pt x="78676" y="6715"/>
                </a:lnTo>
                <a:lnTo>
                  <a:pt x="64019" y="1803"/>
                </a:lnTo>
                <a:lnTo>
                  <a:pt x="46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91223" y="2240279"/>
            <a:ext cx="92710" cy="45720"/>
          </a:xfrm>
          <a:custGeom>
            <a:avLst/>
            <a:gdLst/>
            <a:ahLst/>
            <a:cxnLst/>
            <a:rect l="l" t="t" r="r" b="b"/>
            <a:pathLst>
              <a:path w="92709" h="45719">
                <a:moveTo>
                  <a:pt x="0" y="22860"/>
                </a:moveTo>
                <a:lnTo>
                  <a:pt x="3613" y="13983"/>
                </a:lnTo>
                <a:lnTo>
                  <a:pt x="13477" y="6715"/>
                </a:lnTo>
                <a:lnTo>
                  <a:pt x="28128" y="1803"/>
                </a:lnTo>
                <a:lnTo>
                  <a:pt x="46100" y="0"/>
                </a:lnTo>
                <a:lnTo>
                  <a:pt x="64019" y="1803"/>
                </a:lnTo>
                <a:lnTo>
                  <a:pt x="78676" y="6715"/>
                </a:lnTo>
                <a:lnTo>
                  <a:pt x="88570" y="13983"/>
                </a:lnTo>
                <a:lnTo>
                  <a:pt x="92201" y="22860"/>
                </a:lnTo>
                <a:lnTo>
                  <a:pt x="88570" y="31736"/>
                </a:lnTo>
                <a:lnTo>
                  <a:pt x="78676" y="39004"/>
                </a:lnTo>
                <a:lnTo>
                  <a:pt x="64019" y="43916"/>
                </a:lnTo>
                <a:lnTo>
                  <a:pt x="46100" y="45720"/>
                </a:lnTo>
                <a:lnTo>
                  <a:pt x="28128" y="43916"/>
                </a:lnTo>
                <a:lnTo>
                  <a:pt x="13477" y="39004"/>
                </a:lnTo>
                <a:lnTo>
                  <a:pt x="3613" y="31736"/>
                </a:lnTo>
                <a:lnTo>
                  <a:pt x="0" y="2286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982206" y="1739900"/>
            <a:ext cx="117601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19821" y="2110358"/>
            <a:ext cx="117728" cy="1320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34297" y="1846579"/>
            <a:ext cx="117601" cy="1320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477000" y="2210942"/>
            <a:ext cx="92710" cy="106680"/>
          </a:xfrm>
          <a:custGeom>
            <a:avLst/>
            <a:gdLst/>
            <a:ahLst/>
            <a:cxnLst/>
            <a:rect l="l" t="t" r="r" b="b"/>
            <a:pathLst>
              <a:path w="92709" h="106680">
                <a:moveTo>
                  <a:pt x="46100" y="0"/>
                </a:moveTo>
                <a:lnTo>
                  <a:pt x="28182" y="4190"/>
                </a:lnTo>
                <a:lnTo>
                  <a:pt x="13525" y="15621"/>
                </a:lnTo>
                <a:lnTo>
                  <a:pt x="3631" y="32575"/>
                </a:lnTo>
                <a:lnTo>
                  <a:pt x="0" y="53340"/>
                </a:lnTo>
                <a:lnTo>
                  <a:pt x="3631" y="74104"/>
                </a:lnTo>
                <a:lnTo>
                  <a:pt x="13525" y="91059"/>
                </a:lnTo>
                <a:lnTo>
                  <a:pt x="28182" y="102489"/>
                </a:lnTo>
                <a:lnTo>
                  <a:pt x="46100" y="106680"/>
                </a:lnTo>
                <a:lnTo>
                  <a:pt x="64073" y="102489"/>
                </a:lnTo>
                <a:lnTo>
                  <a:pt x="78724" y="91059"/>
                </a:lnTo>
                <a:lnTo>
                  <a:pt x="88588" y="74104"/>
                </a:lnTo>
                <a:lnTo>
                  <a:pt x="92201" y="53340"/>
                </a:lnTo>
                <a:lnTo>
                  <a:pt x="88588" y="32575"/>
                </a:lnTo>
                <a:lnTo>
                  <a:pt x="78724" y="15621"/>
                </a:lnTo>
                <a:lnTo>
                  <a:pt x="64073" y="4190"/>
                </a:lnTo>
                <a:lnTo>
                  <a:pt x="46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477000" y="2210942"/>
            <a:ext cx="92710" cy="106680"/>
          </a:xfrm>
          <a:custGeom>
            <a:avLst/>
            <a:gdLst/>
            <a:ahLst/>
            <a:cxnLst/>
            <a:rect l="l" t="t" r="r" b="b"/>
            <a:pathLst>
              <a:path w="92709" h="106680">
                <a:moveTo>
                  <a:pt x="0" y="53340"/>
                </a:moveTo>
                <a:lnTo>
                  <a:pt x="3631" y="74104"/>
                </a:lnTo>
                <a:lnTo>
                  <a:pt x="13525" y="91059"/>
                </a:lnTo>
                <a:lnTo>
                  <a:pt x="28182" y="102488"/>
                </a:lnTo>
                <a:lnTo>
                  <a:pt x="46100" y="106680"/>
                </a:lnTo>
                <a:lnTo>
                  <a:pt x="64073" y="102489"/>
                </a:lnTo>
                <a:lnTo>
                  <a:pt x="78724" y="91059"/>
                </a:lnTo>
                <a:lnTo>
                  <a:pt x="88588" y="74104"/>
                </a:lnTo>
                <a:lnTo>
                  <a:pt x="92201" y="53340"/>
                </a:lnTo>
                <a:lnTo>
                  <a:pt x="88588" y="32575"/>
                </a:lnTo>
                <a:lnTo>
                  <a:pt x="78724" y="15621"/>
                </a:lnTo>
                <a:lnTo>
                  <a:pt x="64073" y="4190"/>
                </a:lnTo>
                <a:lnTo>
                  <a:pt x="46100" y="0"/>
                </a:lnTo>
                <a:lnTo>
                  <a:pt x="28182" y="4190"/>
                </a:lnTo>
                <a:lnTo>
                  <a:pt x="13525" y="15621"/>
                </a:lnTo>
                <a:lnTo>
                  <a:pt x="3631" y="32575"/>
                </a:lnTo>
                <a:lnTo>
                  <a:pt x="0" y="5334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95720" y="1905000"/>
            <a:ext cx="233679" cy="308610"/>
          </a:xfrm>
          <a:custGeom>
            <a:avLst/>
            <a:gdLst/>
            <a:ahLst/>
            <a:cxnLst/>
            <a:rect l="l" t="t" r="r" b="b"/>
            <a:pathLst>
              <a:path w="233679" h="308610">
                <a:moveTo>
                  <a:pt x="218581" y="20101"/>
                </a:moveTo>
                <a:lnTo>
                  <a:pt x="207046" y="24967"/>
                </a:lnTo>
                <a:lnTo>
                  <a:pt x="0" y="300989"/>
                </a:lnTo>
                <a:lnTo>
                  <a:pt x="10159" y="308610"/>
                </a:lnTo>
                <a:lnTo>
                  <a:pt x="217120" y="32702"/>
                </a:lnTo>
                <a:lnTo>
                  <a:pt x="218581" y="20101"/>
                </a:lnTo>
                <a:close/>
              </a:path>
              <a:path w="233679" h="308610">
                <a:moveTo>
                  <a:pt x="232957" y="6223"/>
                </a:moveTo>
                <a:lnTo>
                  <a:pt x="221106" y="6223"/>
                </a:lnTo>
                <a:lnTo>
                  <a:pt x="231266" y="13842"/>
                </a:lnTo>
                <a:lnTo>
                  <a:pt x="217120" y="32702"/>
                </a:lnTo>
                <a:lnTo>
                  <a:pt x="209676" y="96900"/>
                </a:lnTo>
                <a:lnTo>
                  <a:pt x="209296" y="100457"/>
                </a:lnTo>
                <a:lnTo>
                  <a:pt x="211708" y="103632"/>
                </a:lnTo>
                <a:lnTo>
                  <a:pt x="218694" y="104394"/>
                </a:lnTo>
                <a:lnTo>
                  <a:pt x="221869" y="101853"/>
                </a:lnTo>
                <a:lnTo>
                  <a:pt x="222250" y="98425"/>
                </a:lnTo>
                <a:lnTo>
                  <a:pt x="232957" y="6223"/>
                </a:lnTo>
                <a:close/>
              </a:path>
              <a:path w="233679" h="308610">
                <a:moveTo>
                  <a:pt x="233679" y="0"/>
                </a:moveTo>
                <a:lnTo>
                  <a:pt x="142366" y="38480"/>
                </a:lnTo>
                <a:lnTo>
                  <a:pt x="139191" y="39877"/>
                </a:lnTo>
                <a:lnTo>
                  <a:pt x="137668" y="43561"/>
                </a:lnTo>
                <a:lnTo>
                  <a:pt x="139064" y="46862"/>
                </a:lnTo>
                <a:lnTo>
                  <a:pt x="140334" y="50037"/>
                </a:lnTo>
                <a:lnTo>
                  <a:pt x="144145" y="51562"/>
                </a:lnTo>
                <a:lnTo>
                  <a:pt x="147320" y="50164"/>
                </a:lnTo>
                <a:lnTo>
                  <a:pt x="207046" y="24967"/>
                </a:lnTo>
                <a:lnTo>
                  <a:pt x="221106" y="6223"/>
                </a:lnTo>
                <a:lnTo>
                  <a:pt x="232957" y="6223"/>
                </a:lnTo>
                <a:lnTo>
                  <a:pt x="233679" y="0"/>
                </a:lnTo>
                <a:close/>
              </a:path>
              <a:path w="233679" h="308610">
                <a:moveTo>
                  <a:pt x="225171" y="9271"/>
                </a:moveTo>
                <a:lnTo>
                  <a:pt x="219836" y="9271"/>
                </a:lnTo>
                <a:lnTo>
                  <a:pt x="228600" y="15875"/>
                </a:lnTo>
                <a:lnTo>
                  <a:pt x="218581" y="20101"/>
                </a:lnTo>
                <a:lnTo>
                  <a:pt x="217120" y="32702"/>
                </a:lnTo>
                <a:lnTo>
                  <a:pt x="231266" y="13842"/>
                </a:lnTo>
                <a:lnTo>
                  <a:pt x="225171" y="9271"/>
                </a:lnTo>
                <a:close/>
              </a:path>
              <a:path w="233679" h="308610">
                <a:moveTo>
                  <a:pt x="221106" y="6223"/>
                </a:moveTo>
                <a:lnTo>
                  <a:pt x="207046" y="24967"/>
                </a:lnTo>
                <a:lnTo>
                  <a:pt x="218581" y="20101"/>
                </a:lnTo>
                <a:lnTo>
                  <a:pt x="219836" y="9271"/>
                </a:lnTo>
                <a:lnTo>
                  <a:pt x="225171" y="9271"/>
                </a:lnTo>
                <a:lnTo>
                  <a:pt x="221106" y="6223"/>
                </a:lnTo>
                <a:close/>
              </a:path>
              <a:path w="233679" h="308610">
                <a:moveTo>
                  <a:pt x="219836" y="9271"/>
                </a:moveTo>
                <a:lnTo>
                  <a:pt x="218581" y="20101"/>
                </a:lnTo>
                <a:lnTo>
                  <a:pt x="228600" y="15875"/>
                </a:lnTo>
                <a:lnTo>
                  <a:pt x="219836" y="9271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609076" y="1723898"/>
            <a:ext cx="306705" cy="111125"/>
          </a:xfrm>
          <a:custGeom>
            <a:avLst/>
            <a:gdLst/>
            <a:ahLst/>
            <a:cxnLst/>
            <a:rect l="l" t="t" r="r" b="b"/>
            <a:pathLst>
              <a:path w="306704" h="111125">
                <a:moveTo>
                  <a:pt x="269694" y="31255"/>
                </a:moveTo>
                <a:lnTo>
                  <a:pt x="0" y="98678"/>
                </a:lnTo>
                <a:lnTo>
                  <a:pt x="3048" y="111125"/>
                </a:lnTo>
                <a:lnTo>
                  <a:pt x="272759" y="43697"/>
                </a:lnTo>
                <a:lnTo>
                  <a:pt x="281877" y="34798"/>
                </a:lnTo>
                <a:lnTo>
                  <a:pt x="269694" y="31255"/>
                </a:lnTo>
                <a:close/>
              </a:path>
              <a:path w="306704" h="111125">
                <a:moveTo>
                  <a:pt x="295415" y="25526"/>
                </a:moveTo>
                <a:lnTo>
                  <a:pt x="292607" y="25526"/>
                </a:lnTo>
                <a:lnTo>
                  <a:pt x="295655" y="37973"/>
                </a:lnTo>
                <a:lnTo>
                  <a:pt x="272759" y="43697"/>
                </a:lnTo>
                <a:lnTo>
                  <a:pt x="226568" y="88773"/>
                </a:lnTo>
                <a:lnTo>
                  <a:pt x="224027" y="91312"/>
                </a:lnTo>
                <a:lnTo>
                  <a:pt x="224027" y="95250"/>
                </a:lnTo>
                <a:lnTo>
                  <a:pt x="228853" y="100329"/>
                </a:lnTo>
                <a:lnTo>
                  <a:pt x="232918" y="100329"/>
                </a:lnTo>
                <a:lnTo>
                  <a:pt x="235457" y="97916"/>
                </a:lnTo>
                <a:lnTo>
                  <a:pt x="306324" y="28701"/>
                </a:lnTo>
                <a:lnTo>
                  <a:pt x="295415" y="25526"/>
                </a:lnTo>
                <a:close/>
              </a:path>
              <a:path w="306704" h="111125">
                <a:moveTo>
                  <a:pt x="281877" y="34798"/>
                </a:moveTo>
                <a:lnTo>
                  <a:pt x="272759" y="43697"/>
                </a:lnTo>
                <a:lnTo>
                  <a:pt x="295655" y="37973"/>
                </a:lnTo>
                <a:lnTo>
                  <a:pt x="292353" y="37846"/>
                </a:lnTo>
                <a:lnTo>
                  <a:pt x="281877" y="34798"/>
                </a:lnTo>
                <a:close/>
              </a:path>
              <a:path w="306704" h="111125">
                <a:moveTo>
                  <a:pt x="289687" y="27177"/>
                </a:moveTo>
                <a:lnTo>
                  <a:pt x="281877" y="34798"/>
                </a:lnTo>
                <a:lnTo>
                  <a:pt x="292353" y="37846"/>
                </a:lnTo>
                <a:lnTo>
                  <a:pt x="289687" y="27177"/>
                </a:lnTo>
                <a:close/>
              </a:path>
              <a:path w="306704" h="111125">
                <a:moveTo>
                  <a:pt x="293012" y="27177"/>
                </a:moveTo>
                <a:lnTo>
                  <a:pt x="289687" y="27177"/>
                </a:lnTo>
                <a:lnTo>
                  <a:pt x="292353" y="37846"/>
                </a:lnTo>
                <a:lnTo>
                  <a:pt x="295624" y="37846"/>
                </a:lnTo>
                <a:lnTo>
                  <a:pt x="293012" y="27177"/>
                </a:lnTo>
                <a:close/>
              </a:path>
              <a:path w="306704" h="111125">
                <a:moveTo>
                  <a:pt x="292607" y="25526"/>
                </a:moveTo>
                <a:lnTo>
                  <a:pt x="269694" y="31255"/>
                </a:lnTo>
                <a:lnTo>
                  <a:pt x="281877" y="34798"/>
                </a:lnTo>
                <a:lnTo>
                  <a:pt x="289687" y="27177"/>
                </a:lnTo>
                <a:lnTo>
                  <a:pt x="293012" y="27177"/>
                </a:lnTo>
                <a:lnTo>
                  <a:pt x="292607" y="25526"/>
                </a:lnTo>
                <a:close/>
              </a:path>
              <a:path w="306704" h="111125">
                <a:moveTo>
                  <a:pt x="207772" y="0"/>
                </a:moveTo>
                <a:lnTo>
                  <a:pt x="204343" y="1904"/>
                </a:lnTo>
                <a:lnTo>
                  <a:pt x="202310" y="8762"/>
                </a:lnTo>
                <a:lnTo>
                  <a:pt x="204216" y="12191"/>
                </a:lnTo>
                <a:lnTo>
                  <a:pt x="269694" y="31255"/>
                </a:lnTo>
                <a:lnTo>
                  <a:pt x="292607" y="25526"/>
                </a:lnTo>
                <a:lnTo>
                  <a:pt x="295415" y="25526"/>
                </a:lnTo>
                <a:lnTo>
                  <a:pt x="207772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673847" y="1771396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3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11847" y="1390396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2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12047" y="1390396"/>
            <a:ext cx="278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baseline="-20833" dirty="0">
                <a:latin typeface="Calibri"/>
                <a:cs typeface="Calibri"/>
              </a:rPr>
              <a:t>2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73647" y="1817116"/>
            <a:ext cx="576580" cy="8636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baseline="-20833" dirty="0"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  <a:p>
            <a:pPr marL="38100">
              <a:lnSpc>
                <a:spcPts val="1980"/>
              </a:lnSpc>
              <a:spcBef>
                <a:spcPts val="240"/>
              </a:spcBef>
            </a:pPr>
            <a:r>
              <a:rPr sz="1800" spc="-5" dirty="0">
                <a:latin typeface="Calibri"/>
                <a:cs typeface="Calibri"/>
              </a:rPr>
              <a:t>t=0</a:t>
            </a:r>
            <a:endParaRPr sz="1800">
              <a:latin typeface="Calibri"/>
              <a:cs typeface="Calibri"/>
            </a:endParaRPr>
          </a:p>
          <a:p>
            <a:pPr marL="342900">
              <a:lnSpc>
                <a:spcPts val="1980"/>
              </a:lnSpc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88247" y="1969516"/>
            <a:ext cx="381635" cy="6350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4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4</a:t>
            </a:r>
            <a:endParaRPr sz="1800" baseline="-20833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240"/>
              </a:spcBef>
            </a:pPr>
            <a:r>
              <a:rPr sz="1800" spc="-5" dirty="0">
                <a:latin typeface="Calibri"/>
                <a:cs typeface="Calibri"/>
              </a:rPr>
              <a:t>t=1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85800" y="1252667"/>
            <a:ext cx="1706268" cy="2008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514600" y="1010478"/>
            <a:ext cx="1440280" cy="85476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572000" y="1066800"/>
            <a:ext cx="1905" cy="4419600"/>
          </a:xfrm>
          <a:custGeom>
            <a:avLst/>
            <a:gdLst/>
            <a:ahLst/>
            <a:cxnLst/>
            <a:rect l="l" t="t" r="r" b="b"/>
            <a:pathLst>
              <a:path w="1904" h="4419600">
                <a:moveTo>
                  <a:pt x="1650" y="0"/>
                </a:moveTo>
                <a:lnTo>
                  <a:pt x="0" y="4419600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3400" y="1813560"/>
            <a:ext cx="1291354" cy="1950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9600" y="2167135"/>
            <a:ext cx="3788103" cy="20105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09600" y="2471128"/>
            <a:ext cx="3788166" cy="19652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9600" y="2775870"/>
            <a:ext cx="3788228" cy="19594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09600" y="3080004"/>
            <a:ext cx="3788228" cy="19202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59740" y="3447795"/>
            <a:ext cx="4044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The above </a:t>
            </a:r>
            <a:r>
              <a:rPr sz="1800" spc="-10" dirty="0">
                <a:latin typeface="Calibri"/>
                <a:cs typeface="Calibri"/>
              </a:rPr>
              <a:t>four </a:t>
            </a:r>
            <a:r>
              <a:rPr sz="1800" spc="-5" dirty="0">
                <a:latin typeface="Calibri"/>
                <a:cs typeface="Calibri"/>
              </a:rPr>
              <a:t>equations </a:t>
            </a:r>
            <a:r>
              <a:rPr sz="1800" spc="-10" dirty="0">
                <a:latin typeface="Calibri"/>
                <a:cs typeface="Calibri"/>
              </a:rPr>
              <a:t>can </a:t>
            </a:r>
            <a:r>
              <a:rPr sz="1800" spc="-5" dirty="0">
                <a:latin typeface="Calibri"/>
                <a:cs typeface="Calibri"/>
              </a:rPr>
              <a:t>be </a:t>
            </a:r>
            <a:r>
              <a:rPr sz="1800" spc="-10" dirty="0">
                <a:latin typeface="Calibri"/>
                <a:cs typeface="Calibri"/>
              </a:rPr>
              <a:t>written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81000" y="5810922"/>
            <a:ext cx="1744648" cy="76917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57400" y="5867400"/>
            <a:ext cx="1598422" cy="7620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96298" y="3831020"/>
            <a:ext cx="2530095" cy="86184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81000" y="4829175"/>
            <a:ext cx="2489187" cy="78105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886200" y="5810468"/>
            <a:ext cx="780046" cy="79002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724400" y="3295868"/>
            <a:ext cx="3773932" cy="79002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732020" y="4213859"/>
            <a:ext cx="4229353" cy="14477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876800" y="4608576"/>
            <a:ext cx="3426964" cy="20726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953000" y="4989576"/>
            <a:ext cx="2278893" cy="20726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489447" y="5276850"/>
            <a:ext cx="1905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H=Hermite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Blending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6610" y="7620"/>
            <a:ext cx="512445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latin typeface="Calibri"/>
                <a:cs typeface="Calibri"/>
              </a:rPr>
              <a:t>Hermite </a:t>
            </a:r>
            <a:r>
              <a:rPr sz="4000" b="1" spc="-5" dirty="0">
                <a:latin typeface="Calibri"/>
                <a:cs typeface="Calibri"/>
              </a:rPr>
              <a:t>Curve:</a:t>
            </a:r>
            <a:r>
              <a:rPr sz="4000" b="1" spc="-6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Example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3400" y="990600"/>
            <a:ext cx="8229600" cy="40803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3400" y="4999482"/>
            <a:ext cx="6324600" cy="18585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72200" y="5103621"/>
            <a:ext cx="2514600" cy="1754505"/>
          </a:xfrm>
          <a:custGeom>
            <a:avLst/>
            <a:gdLst/>
            <a:ahLst/>
            <a:cxnLst/>
            <a:rect l="l" t="t" r="r" b="b"/>
            <a:pathLst>
              <a:path w="2514600" h="1754504">
                <a:moveTo>
                  <a:pt x="0" y="1754377"/>
                </a:moveTo>
                <a:lnTo>
                  <a:pt x="2514600" y="1754377"/>
                </a:lnTo>
                <a:lnTo>
                  <a:pt x="2514600" y="0"/>
                </a:lnTo>
                <a:lnTo>
                  <a:pt x="0" y="0"/>
                </a:lnTo>
                <a:lnTo>
                  <a:pt x="0" y="1754377"/>
                </a:lnTo>
                <a:close/>
              </a:path>
            </a:pathLst>
          </a:custGeom>
          <a:solidFill>
            <a:srgbClr val="C4B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76238" y="5182361"/>
            <a:ext cx="1905" cy="1219835"/>
          </a:xfrm>
          <a:custGeom>
            <a:avLst/>
            <a:gdLst/>
            <a:ahLst/>
            <a:cxnLst/>
            <a:rect l="l" t="t" r="r" b="b"/>
            <a:pathLst>
              <a:path w="1904" h="1219835">
                <a:moveTo>
                  <a:pt x="1524" y="0"/>
                </a:moveTo>
                <a:lnTo>
                  <a:pt x="0" y="1219238"/>
                </a:lnTo>
              </a:path>
            </a:pathLst>
          </a:custGeom>
          <a:ln w="2857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77000" y="6400800"/>
            <a:ext cx="1600200" cy="1905"/>
          </a:xfrm>
          <a:custGeom>
            <a:avLst/>
            <a:gdLst/>
            <a:ahLst/>
            <a:cxnLst/>
            <a:rect l="l" t="t" r="r" b="b"/>
            <a:pathLst>
              <a:path w="1600200" h="1904">
                <a:moveTo>
                  <a:pt x="1600200" y="1587"/>
                </a:moveTo>
                <a:lnTo>
                  <a:pt x="0" y="0"/>
                </a:lnTo>
              </a:path>
            </a:pathLst>
          </a:custGeom>
          <a:ln w="2857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00850" y="5764926"/>
            <a:ext cx="923925" cy="655320"/>
          </a:xfrm>
          <a:custGeom>
            <a:avLst/>
            <a:gdLst/>
            <a:ahLst/>
            <a:cxnLst/>
            <a:rect l="l" t="t" r="r" b="b"/>
            <a:pathLst>
              <a:path w="923925" h="655320">
                <a:moveTo>
                  <a:pt x="0" y="266303"/>
                </a:moveTo>
                <a:lnTo>
                  <a:pt x="37910" y="226903"/>
                </a:lnTo>
                <a:lnTo>
                  <a:pt x="75829" y="188277"/>
                </a:lnTo>
                <a:lnTo>
                  <a:pt x="113764" y="151199"/>
                </a:lnTo>
                <a:lnTo>
                  <a:pt x="151722" y="116443"/>
                </a:lnTo>
                <a:lnTo>
                  <a:pt x="189712" y="84782"/>
                </a:lnTo>
                <a:lnTo>
                  <a:pt x="227742" y="56991"/>
                </a:lnTo>
                <a:lnTo>
                  <a:pt x="265820" y="33843"/>
                </a:lnTo>
                <a:lnTo>
                  <a:pt x="303953" y="16113"/>
                </a:lnTo>
                <a:lnTo>
                  <a:pt x="342149" y="4573"/>
                </a:lnTo>
                <a:lnTo>
                  <a:pt x="380417" y="0"/>
                </a:lnTo>
                <a:lnTo>
                  <a:pt x="418765" y="3165"/>
                </a:lnTo>
                <a:lnTo>
                  <a:pt x="457200" y="14843"/>
                </a:lnTo>
                <a:lnTo>
                  <a:pt x="595062" y="142180"/>
                </a:lnTo>
                <a:lnTo>
                  <a:pt x="748283" y="359171"/>
                </a:lnTo>
                <a:lnTo>
                  <a:pt x="872644" y="564018"/>
                </a:lnTo>
                <a:lnTo>
                  <a:pt x="923925" y="654923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89166" y="5410200"/>
            <a:ext cx="450215" cy="629285"/>
          </a:xfrm>
          <a:custGeom>
            <a:avLst/>
            <a:gdLst/>
            <a:ahLst/>
            <a:cxnLst/>
            <a:rect l="l" t="t" r="r" b="b"/>
            <a:pathLst>
              <a:path w="450215" h="629285">
                <a:moveTo>
                  <a:pt x="417127" y="46258"/>
                </a:moveTo>
                <a:lnTo>
                  <a:pt x="391460" y="57990"/>
                </a:lnTo>
                <a:lnTo>
                  <a:pt x="0" y="612787"/>
                </a:lnTo>
                <a:lnTo>
                  <a:pt x="23367" y="629259"/>
                </a:lnTo>
                <a:lnTo>
                  <a:pt x="414696" y="74517"/>
                </a:lnTo>
                <a:lnTo>
                  <a:pt x="417127" y="46258"/>
                </a:lnTo>
                <a:close/>
              </a:path>
              <a:path w="450215" h="629285">
                <a:moveTo>
                  <a:pt x="448547" y="14859"/>
                </a:moveTo>
                <a:lnTo>
                  <a:pt x="421893" y="14859"/>
                </a:lnTo>
                <a:lnTo>
                  <a:pt x="445134" y="31368"/>
                </a:lnTo>
                <a:lnTo>
                  <a:pt x="414696" y="74517"/>
                </a:lnTo>
                <a:lnTo>
                  <a:pt x="410717" y="120777"/>
                </a:lnTo>
                <a:lnTo>
                  <a:pt x="410082" y="128650"/>
                </a:lnTo>
                <a:lnTo>
                  <a:pt x="415925" y="135509"/>
                </a:lnTo>
                <a:lnTo>
                  <a:pt x="423672" y="136271"/>
                </a:lnTo>
                <a:lnTo>
                  <a:pt x="431545" y="136906"/>
                </a:lnTo>
                <a:lnTo>
                  <a:pt x="438530" y="131063"/>
                </a:lnTo>
                <a:lnTo>
                  <a:pt x="439165" y="123190"/>
                </a:lnTo>
                <a:lnTo>
                  <a:pt x="448547" y="14859"/>
                </a:lnTo>
                <a:close/>
              </a:path>
              <a:path w="450215" h="629285">
                <a:moveTo>
                  <a:pt x="449833" y="0"/>
                </a:moveTo>
                <a:lnTo>
                  <a:pt x="330073" y="54609"/>
                </a:lnTo>
                <a:lnTo>
                  <a:pt x="327025" y="63118"/>
                </a:lnTo>
                <a:lnTo>
                  <a:pt x="330200" y="70231"/>
                </a:lnTo>
                <a:lnTo>
                  <a:pt x="333501" y="77469"/>
                </a:lnTo>
                <a:lnTo>
                  <a:pt x="342010" y="80644"/>
                </a:lnTo>
                <a:lnTo>
                  <a:pt x="391460" y="57990"/>
                </a:lnTo>
                <a:lnTo>
                  <a:pt x="421893" y="14859"/>
                </a:lnTo>
                <a:lnTo>
                  <a:pt x="448547" y="14859"/>
                </a:lnTo>
                <a:lnTo>
                  <a:pt x="449833" y="0"/>
                </a:lnTo>
                <a:close/>
              </a:path>
              <a:path w="450215" h="629285">
                <a:moveTo>
                  <a:pt x="431726" y="21843"/>
                </a:moveTo>
                <a:lnTo>
                  <a:pt x="419226" y="21843"/>
                </a:lnTo>
                <a:lnTo>
                  <a:pt x="439419" y="36068"/>
                </a:lnTo>
                <a:lnTo>
                  <a:pt x="417127" y="46258"/>
                </a:lnTo>
                <a:lnTo>
                  <a:pt x="414696" y="74517"/>
                </a:lnTo>
                <a:lnTo>
                  <a:pt x="445134" y="31368"/>
                </a:lnTo>
                <a:lnTo>
                  <a:pt x="431726" y="21843"/>
                </a:lnTo>
                <a:close/>
              </a:path>
              <a:path w="450215" h="629285">
                <a:moveTo>
                  <a:pt x="421893" y="14859"/>
                </a:moveTo>
                <a:lnTo>
                  <a:pt x="391460" y="57990"/>
                </a:lnTo>
                <a:lnTo>
                  <a:pt x="417127" y="46258"/>
                </a:lnTo>
                <a:lnTo>
                  <a:pt x="419226" y="21843"/>
                </a:lnTo>
                <a:lnTo>
                  <a:pt x="431726" y="21843"/>
                </a:lnTo>
                <a:lnTo>
                  <a:pt x="421893" y="14859"/>
                </a:lnTo>
                <a:close/>
              </a:path>
              <a:path w="450215" h="629285">
                <a:moveTo>
                  <a:pt x="419226" y="21843"/>
                </a:moveTo>
                <a:lnTo>
                  <a:pt x="417127" y="46258"/>
                </a:lnTo>
                <a:lnTo>
                  <a:pt x="439419" y="36068"/>
                </a:lnTo>
                <a:lnTo>
                  <a:pt x="419226" y="218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66431" y="5486400"/>
            <a:ext cx="471170" cy="939800"/>
          </a:xfrm>
          <a:custGeom>
            <a:avLst/>
            <a:gdLst/>
            <a:ahLst/>
            <a:cxnLst/>
            <a:rect l="l" t="t" r="r" b="b"/>
            <a:pathLst>
              <a:path w="471170" h="939800">
                <a:moveTo>
                  <a:pt x="35112" y="51048"/>
                </a:moveTo>
                <a:lnTo>
                  <a:pt x="32837" y="79172"/>
                </a:lnTo>
                <a:lnTo>
                  <a:pt x="445516" y="939622"/>
                </a:lnTo>
                <a:lnTo>
                  <a:pt x="471170" y="927265"/>
                </a:lnTo>
                <a:lnTo>
                  <a:pt x="58687" y="67008"/>
                </a:lnTo>
                <a:lnTo>
                  <a:pt x="35112" y="51048"/>
                </a:lnTo>
                <a:close/>
              </a:path>
              <a:path w="471170" h="939800">
                <a:moveTo>
                  <a:pt x="10668" y="0"/>
                </a:moveTo>
                <a:lnTo>
                  <a:pt x="0" y="131140"/>
                </a:lnTo>
                <a:lnTo>
                  <a:pt x="5842" y="138023"/>
                </a:lnTo>
                <a:lnTo>
                  <a:pt x="21590" y="139306"/>
                </a:lnTo>
                <a:lnTo>
                  <a:pt x="28448" y="133451"/>
                </a:lnTo>
                <a:lnTo>
                  <a:pt x="32837" y="79172"/>
                </a:lnTo>
                <a:lnTo>
                  <a:pt x="10033" y="31622"/>
                </a:lnTo>
                <a:lnTo>
                  <a:pt x="35814" y="19303"/>
                </a:lnTo>
                <a:lnTo>
                  <a:pt x="39164" y="19303"/>
                </a:lnTo>
                <a:lnTo>
                  <a:pt x="10668" y="0"/>
                </a:lnTo>
                <a:close/>
              </a:path>
              <a:path w="471170" h="939800">
                <a:moveTo>
                  <a:pt x="39164" y="19303"/>
                </a:moveTo>
                <a:lnTo>
                  <a:pt x="35814" y="19303"/>
                </a:lnTo>
                <a:lnTo>
                  <a:pt x="58687" y="67008"/>
                </a:lnTo>
                <a:lnTo>
                  <a:pt x="103632" y="97409"/>
                </a:lnTo>
                <a:lnTo>
                  <a:pt x="112522" y="95758"/>
                </a:lnTo>
                <a:lnTo>
                  <a:pt x="116840" y="89153"/>
                </a:lnTo>
                <a:lnTo>
                  <a:pt x="121285" y="82677"/>
                </a:lnTo>
                <a:lnTo>
                  <a:pt x="119634" y="73787"/>
                </a:lnTo>
                <a:lnTo>
                  <a:pt x="39164" y="19303"/>
                </a:lnTo>
                <a:close/>
              </a:path>
              <a:path w="471170" h="939800">
                <a:moveTo>
                  <a:pt x="35814" y="19303"/>
                </a:moveTo>
                <a:lnTo>
                  <a:pt x="10033" y="31622"/>
                </a:lnTo>
                <a:lnTo>
                  <a:pt x="32837" y="79172"/>
                </a:lnTo>
                <a:lnTo>
                  <a:pt x="35112" y="51048"/>
                </a:lnTo>
                <a:lnTo>
                  <a:pt x="14859" y="37337"/>
                </a:lnTo>
                <a:lnTo>
                  <a:pt x="37084" y="26669"/>
                </a:lnTo>
                <a:lnTo>
                  <a:pt x="39345" y="26669"/>
                </a:lnTo>
                <a:lnTo>
                  <a:pt x="35814" y="19303"/>
                </a:lnTo>
                <a:close/>
              </a:path>
              <a:path w="471170" h="939800">
                <a:moveTo>
                  <a:pt x="39345" y="26669"/>
                </a:moveTo>
                <a:lnTo>
                  <a:pt x="37084" y="26669"/>
                </a:lnTo>
                <a:lnTo>
                  <a:pt x="35112" y="51048"/>
                </a:lnTo>
                <a:lnTo>
                  <a:pt x="58687" y="67008"/>
                </a:lnTo>
                <a:lnTo>
                  <a:pt x="39345" y="26669"/>
                </a:lnTo>
                <a:close/>
              </a:path>
              <a:path w="471170" h="939800">
                <a:moveTo>
                  <a:pt x="37084" y="26669"/>
                </a:moveTo>
                <a:lnTo>
                  <a:pt x="14859" y="37337"/>
                </a:lnTo>
                <a:lnTo>
                  <a:pt x="35112" y="51048"/>
                </a:lnTo>
                <a:lnTo>
                  <a:pt x="37084" y="266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70647" y="5279897"/>
            <a:ext cx="6292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Calibri"/>
                <a:cs typeface="Calibri"/>
              </a:rPr>
              <a:t>P2(14</a:t>
            </a:r>
            <a:r>
              <a:rPr sz="1400" spc="-10" dirty="0">
                <a:latin typeface="Calibri"/>
                <a:cs typeface="Calibri"/>
              </a:rPr>
              <a:t>,</a:t>
            </a:r>
            <a:r>
              <a:rPr sz="1400" spc="-5" dirty="0">
                <a:latin typeface="Calibri"/>
                <a:cs typeface="Calibri"/>
              </a:rPr>
              <a:t>8)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26300" y="5397500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480047" y="6041897"/>
            <a:ext cx="1619885" cy="707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Calibri"/>
                <a:cs typeface="Calibri"/>
              </a:rPr>
              <a:t>P1(3,1)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750">
              <a:latin typeface="Times New Roman"/>
              <a:cs typeface="Times New Roman"/>
            </a:endParaRPr>
          </a:p>
          <a:p>
            <a:pPr marL="1003300">
              <a:lnSpc>
                <a:spcPct val="100000"/>
              </a:lnSpc>
            </a:pPr>
            <a:r>
              <a:rPr sz="1400" spc="-5" dirty="0">
                <a:latin typeface="Calibri"/>
                <a:cs typeface="Calibri"/>
              </a:rPr>
              <a:t>P0(16</a:t>
            </a:r>
            <a:r>
              <a:rPr sz="1400" spc="-10" dirty="0">
                <a:latin typeface="Calibri"/>
                <a:cs typeface="Calibri"/>
              </a:rPr>
              <a:t>,</a:t>
            </a:r>
            <a:r>
              <a:rPr sz="1400" spc="-5" dirty="0">
                <a:latin typeface="Calibri"/>
                <a:cs typeface="Calibri"/>
              </a:rPr>
              <a:t>0)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Hermite </a:t>
            </a:r>
            <a:r>
              <a:rPr spc="-5" dirty="0"/>
              <a:t>Curve: </a:t>
            </a:r>
            <a:r>
              <a:rPr spc="-15" dirty="0"/>
              <a:t>Example</a:t>
            </a:r>
            <a:r>
              <a:rPr spc="5" dirty="0"/>
              <a:t> </a:t>
            </a:r>
            <a:r>
              <a:rPr spc="-30" dirty="0"/>
              <a:t>contd</a:t>
            </a:r>
          </a:p>
        </p:txBody>
      </p:sp>
      <p:sp>
        <p:nvSpPr>
          <p:cNvPr id="3" name="object 3"/>
          <p:cNvSpPr/>
          <p:nvPr/>
        </p:nvSpPr>
        <p:spPr>
          <a:xfrm>
            <a:off x="471487" y="894207"/>
            <a:ext cx="5868416" cy="17430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24600" y="884682"/>
            <a:ext cx="2514600" cy="1754505"/>
          </a:xfrm>
          <a:custGeom>
            <a:avLst/>
            <a:gdLst/>
            <a:ahLst/>
            <a:cxnLst/>
            <a:rect l="l" t="t" r="r" b="b"/>
            <a:pathLst>
              <a:path w="2514600" h="1754505">
                <a:moveTo>
                  <a:pt x="0" y="1754377"/>
                </a:moveTo>
                <a:lnTo>
                  <a:pt x="2514600" y="1754377"/>
                </a:lnTo>
                <a:lnTo>
                  <a:pt x="2514600" y="0"/>
                </a:lnTo>
                <a:lnTo>
                  <a:pt x="0" y="0"/>
                </a:lnTo>
                <a:lnTo>
                  <a:pt x="0" y="1754377"/>
                </a:lnTo>
                <a:close/>
              </a:path>
            </a:pathLst>
          </a:custGeom>
          <a:solidFill>
            <a:srgbClr val="C4B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28638" y="963422"/>
            <a:ext cx="1905" cy="1219200"/>
          </a:xfrm>
          <a:custGeom>
            <a:avLst/>
            <a:gdLst/>
            <a:ahLst/>
            <a:cxnLst/>
            <a:rect l="l" t="t" r="r" b="b"/>
            <a:pathLst>
              <a:path w="1904" h="1219200">
                <a:moveTo>
                  <a:pt x="1523" y="0"/>
                </a:moveTo>
                <a:lnTo>
                  <a:pt x="0" y="1219200"/>
                </a:lnTo>
              </a:path>
            </a:pathLst>
          </a:custGeom>
          <a:ln w="2857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29400" y="2181860"/>
            <a:ext cx="1600200" cy="1905"/>
          </a:xfrm>
          <a:custGeom>
            <a:avLst/>
            <a:gdLst/>
            <a:ahLst/>
            <a:cxnLst/>
            <a:rect l="l" t="t" r="r" b="b"/>
            <a:pathLst>
              <a:path w="1600200" h="1905">
                <a:moveTo>
                  <a:pt x="1600200" y="1524"/>
                </a:moveTo>
                <a:lnTo>
                  <a:pt x="0" y="0"/>
                </a:lnTo>
              </a:path>
            </a:pathLst>
          </a:custGeom>
          <a:ln w="2857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953250" y="1545986"/>
            <a:ext cx="923925" cy="655320"/>
          </a:xfrm>
          <a:custGeom>
            <a:avLst/>
            <a:gdLst/>
            <a:ahLst/>
            <a:cxnLst/>
            <a:rect l="l" t="t" r="r" b="b"/>
            <a:pathLst>
              <a:path w="923925" h="655319">
                <a:moveTo>
                  <a:pt x="0" y="266303"/>
                </a:moveTo>
                <a:lnTo>
                  <a:pt x="37910" y="226903"/>
                </a:lnTo>
                <a:lnTo>
                  <a:pt x="75829" y="188277"/>
                </a:lnTo>
                <a:lnTo>
                  <a:pt x="113764" y="151199"/>
                </a:lnTo>
                <a:lnTo>
                  <a:pt x="151722" y="116443"/>
                </a:lnTo>
                <a:lnTo>
                  <a:pt x="189712" y="84782"/>
                </a:lnTo>
                <a:lnTo>
                  <a:pt x="227742" y="56991"/>
                </a:lnTo>
                <a:lnTo>
                  <a:pt x="265820" y="33843"/>
                </a:lnTo>
                <a:lnTo>
                  <a:pt x="303953" y="16113"/>
                </a:lnTo>
                <a:lnTo>
                  <a:pt x="342149" y="4573"/>
                </a:lnTo>
                <a:lnTo>
                  <a:pt x="380417" y="0"/>
                </a:lnTo>
                <a:lnTo>
                  <a:pt x="418765" y="3165"/>
                </a:lnTo>
                <a:lnTo>
                  <a:pt x="457200" y="14843"/>
                </a:lnTo>
                <a:lnTo>
                  <a:pt x="595062" y="142180"/>
                </a:lnTo>
                <a:lnTo>
                  <a:pt x="748283" y="359171"/>
                </a:lnTo>
                <a:lnTo>
                  <a:pt x="872644" y="564018"/>
                </a:lnTo>
                <a:lnTo>
                  <a:pt x="923925" y="654923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41566" y="1191260"/>
            <a:ext cx="450215" cy="629285"/>
          </a:xfrm>
          <a:custGeom>
            <a:avLst/>
            <a:gdLst/>
            <a:ahLst/>
            <a:cxnLst/>
            <a:rect l="l" t="t" r="r" b="b"/>
            <a:pathLst>
              <a:path w="450215" h="629285">
                <a:moveTo>
                  <a:pt x="417127" y="46258"/>
                </a:moveTo>
                <a:lnTo>
                  <a:pt x="391459" y="57990"/>
                </a:lnTo>
                <a:lnTo>
                  <a:pt x="0" y="612775"/>
                </a:lnTo>
                <a:lnTo>
                  <a:pt x="23367" y="629285"/>
                </a:lnTo>
                <a:lnTo>
                  <a:pt x="414696" y="74520"/>
                </a:lnTo>
                <a:lnTo>
                  <a:pt x="417127" y="46258"/>
                </a:lnTo>
                <a:close/>
              </a:path>
              <a:path w="450215" h="629285">
                <a:moveTo>
                  <a:pt x="448547" y="14859"/>
                </a:moveTo>
                <a:lnTo>
                  <a:pt x="421893" y="14859"/>
                </a:lnTo>
                <a:lnTo>
                  <a:pt x="445134" y="31368"/>
                </a:lnTo>
                <a:lnTo>
                  <a:pt x="414696" y="74520"/>
                </a:lnTo>
                <a:lnTo>
                  <a:pt x="410717" y="120776"/>
                </a:lnTo>
                <a:lnTo>
                  <a:pt x="410082" y="128650"/>
                </a:lnTo>
                <a:lnTo>
                  <a:pt x="415925" y="135509"/>
                </a:lnTo>
                <a:lnTo>
                  <a:pt x="423672" y="136270"/>
                </a:lnTo>
                <a:lnTo>
                  <a:pt x="431545" y="136905"/>
                </a:lnTo>
                <a:lnTo>
                  <a:pt x="438530" y="131063"/>
                </a:lnTo>
                <a:lnTo>
                  <a:pt x="439165" y="123189"/>
                </a:lnTo>
                <a:lnTo>
                  <a:pt x="448547" y="14859"/>
                </a:lnTo>
                <a:close/>
              </a:path>
              <a:path w="450215" h="629285">
                <a:moveTo>
                  <a:pt x="449833" y="0"/>
                </a:moveTo>
                <a:lnTo>
                  <a:pt x="330073" y="54610"/>
                </a:lnTo>
                <a:lnTo>
                  <a:pt x="327025" y="63118"/>
                </a:lnTo>
                <a:lnTo>
                  <a:pt x="330200" y="70230"/>
                </a:lnTo>
                <a:lnTo>
                  <a:pt x="333501" y="77469"/>
                </a:lnTo>
                <a:lnTo>
                  <a:pt x="342010" y="80644"/>
                </a:lnTo>
                <a:lnTo>
                  <a:pt x="391459" y="57990"/>
                </a:lnTo>
                <a:lnTo>
                  <a:pt x="421893" y="14859"/>
                </a:lnTo>
                <a:lnTo>
                  <a:pt x="448547" y="14859"/>
                </a:lnTo>
                <a:lnTo>
                  <a:pt x="449833" y="0"/>
                </a:lnTo>
                <a:close/>
              </a:path>
              <a:path w="450215" h="629285">
                <a:moveTo>
                  <a:pt x="431726" y="21843"/>
                </a:moveTo>
                <a:lnTo>
                  <a:pt x="419226" y="21843"/>
                </a:lnTo>
                <a:lnTo>
                  <a:pt x="439419" y="36067"/>
                </a:lnTo>
                <a:lnTo>
                  <a:pt x="417127" y="46258"/>
                </a:lnTo>
                <a:lnTo>
                  <a:pt x="414696" y="74520"/>
                </a:lnTo>
                <a:lnTo>
                  <a:pt x="445134" y="31368"/>
                </a:lnTo>
                <a:lnTo>
                  <a:pt x="431726" y="21843"/>
                </a:lnTo>
                <a:close/>
              </a:path>
              <a:path w="450215" h="629285">
                <a:moveTo>
                  <a:pt x="421893" y="14859"/>
                </a:moveTo>
                <a:lnTo>
                  <a:pt x="391459" y="57990"/>
                </a:lnTo>
                <a:lnTo>
                  <a:pt x="417127" y="46258"/>
                </a:lnTo>
                <a:lnTo>
                  <a:pt x="419226" y="21843"/>
                </a:lnTo>
                <a:lnTo>
                  <a:pt x="431726" y="21843"/>
                </a:lnTo>
                <a:lnTo>
                  <a:pt x="421893" y="14859"/>
                </a:lnTo>
                <a:close/>
              </a:path>
              <a:path w="450215" h="629285">
                <a:moveTo>
                  <a:pt x="419226" y="21843"/>
                </a:moveTo>
                <a:lnTo>
                  <a:pt x="417127" y="46258"/>
                </a:lnTo>
                <a:lnTo>
                  <a:pt x="439419" y="36067"/>
                </a:lnTo>
                <a:lnTo>
                  <a:pt x="419226" y="218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18831" y="1267333"/>
            <a:ext cx="471170" cy="939800"/>
          </a:xfrm>
          <a:custGeom>
            <a:avLst/>
            <a:gdLst/>
            <a:ahLst/>
            <a:cxnLst/>
            <a:rect l="l" t="t" r="r" b="b"/>
            <a:pathLst>
              <a:path w="471170" h="939800">
                <a:moveTo>
                  <a:pt x="35112" y="51176"/>
                </a:moveTo>
                <a:lnTo>
                  <a:pt x="32838" y="79303"/>
                </a:lnTo>
                <a:lnTo>
                  <a:pt x="445516" y="939800"/>
                </a:lnTo>
                <a:lnTo>
                  <a:pt x="471170" y="927353"/>
                </a:lnTo>
                <a:lnTo>
                  <a:pt x="58689" y="67136"/>
                </a:lnTo>
                <a:lnTo>
                  <a:pt x="35112" y="51176"/>
                </a:lnTo>
                <a:close/>
              </a:path>
              <a:path w="471170" h="939800">
                <a:moveTo>
                  <a:pt x="10668" y="0"/>
                </a:moveTo>
                <a:lnTo>
                  <a:pt x="0" y="131317"/>
                </a:lnTo>
                <a:lnTo>
                  <a:pt x="5842" y="138175"/>
                </a:lnTo>
                <a:lnTo>
                  <a:pt x="21590" y="139445"/>
                </a:lnTo>
                <a:lnTo>
                  <a:pt x="28448" y="133603"/>
                </a:lnTo>
                <a:lnTo>
                  <a:pt x="32838" y="79303"/>
                </a:lnTo>
                <a:lnTo>
                  <a:pt x="10033" y="31750"/>
                </a:lnTo>
                <a:lnTo>
                  <a:pt x="35814" y="19430"/>
                </a:lnTo>
                <a:lnTo>
                  <a:pt x="39299" y="19430"/>
                </a:lnTo>
                <a:lnTo>
                  <a:pt x="10668" y="0"/>
                </a:lnTo>
                <a:close/>
              </a:path>
              <a:path w="471170" h="939800">
                <a:moveTo>
                  <a:pt x="39299" y="19430"/>
                </a:moveTo>
                <a:lnTo>
                  <a:pt x="35814" y="19430"/>
                </a:lnTo>
                <a:lnTo>
                  <a:pt x="58689" y="67136"/>
                </a:lnTo>
                <a:lnTo>
                  <a:pt x="103632" y="97536"/>
                </a:lnTo>
                <a:lnTo>
                  <a:pt x="112522" y="95884"/>
                </a:lnTo>
                <a:lnTo>
                  <a:pt x="116840" y="89280"/>
                </a:lnTo>
                <a:lnTo>
                  <a:pt x="121285" y="82803"/>
                </a:lnTo>
                <a:lnTo>
                  <a:pt x="119634" y="73913"/>
                </a:lnTo>
                <a:lnTo>
                  <a:pt x="39299" y="19430"/>
                </a:lnTo>
                <a:close/>
              </a:path>
              <a:path w="471170" h="939800">
                <a:moveTo>
                  <a:pt x="35814" y="19430"/>
                </a:moveTo>
                <a:lnTo>
                  <a:pt x="10033" y="31750"/>
                </a:lnTo>
                <a:lnTo>
                  <a:pt x="32838" y="79303"/>
                </a:lnTo>
                <a:lnTo>
                  <a:pt x="35112" y="51176"/>
                </a:lnTo>
                <a:lnTo>
                  <a:pt x="14859" y="37464"/>
                </a:lnTo>
                <a:lnTo>
                  <a:pt x="37084" y="26796"/>
                </a:lnTo>
                <a:lnTo>
                  <a:pt x="39346" y="26796"/>
                </a:lnTo>
                <a:lnTo>
                  <a:pt x="35814" y="19430"/>
                </a:lnTo>
                <a:close/>
              </a:path>
              <a:path w="471170" h="939800">
                <a:moveTo>
                  <a:pt x="39346" y="26796"/>
                </a:moveTo>
                <a:lnTo>
                  <a:pt x="37084" y="26796"/>
                </a:lnTo>
                <a:lnTo>
                  <a:pt x="35112" y="51176"/>
                </a:lnTo>
                <a:lnTo>
                  <a:pt x="58689" y="67136"/>
                </a:lnTo>
                <a:lnTo>
                  <a:pt x="39346" y="26796"/>
                </a:lnTo>
                <a:close/>
              </a:path>
              <a:path w="471170" h="939800">
                <a:moveTo>
                  <a:pt x="37084" y="26796"/>
                </a:moveTo>
                <a:lnTo>
                  <a:pt x="14859" y="37464"/>
                </a:lnTo>
                <a:lnTo>
                  <a:pt x="35112" y="51176"/>
                </a:lnTo>
                <a:lnTo>
                  <a:pt x="37084" y="267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378700" y="1178560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24600" y="1060450"/>
            <a:ext cx="2514600" cy="1470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1064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Calibri"/>
                <a:cs typeface="Calibri"/>
              </a:rPr>
              <a:t>P2(14,8)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320040">
              <a:lnSpc>
                <a:spcPct val="100000"/>
              </a:lnSpc>
              <a:spcBef>
                <a:spcPts val="1105"/>
              </a:spcBef>
            </a:pPr>
            <a:r>
              <a:rPr sz="1400" spc="-5" dirty="0">
                <a:latin typeface="Calibri"/>
                <a:cs typeface="Calibri"/>
              </a:rPr>
              <a:t>P1(3,1)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>
              <a:latin typeface="Times New Roman"/>
              <a:cs typeface="Times New Roman"/>
            </a:endParaRPr>
          </a:p>
          <a:p>
            <a:pPr marL="1310640">
              <a:lnSpc>
                <a:spcPct val="100000"/>
              </a:lnSpc>
            </a:pPr>
            <a:r>
              <a:rPr sz="1400" spc="-5" dirty="0">
                <a:latin typeface="Calibri"/>
                <a:cs typeface="Calibri"/>
              </a:rPr>
              <a:t>P0(16,0)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0372" y="2648254"/>
            <a:ext cx="5910199" cy="37271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10200" y="4419600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457200"/>
                </a:moveTo>
                <a:lnTo>
                  <a:pt x="533400" y="457200"/>
                </a:lnTo>
                <a:lnTo>
                  <a:pt x="5334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7200" y="6324600"/>
            <a:ext cx="5867400" cy="5333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324600" y="4953000"/>
            <a:ext cx="2514600" cy="1140056"/>
          </a:xfrm>
          <a:prstGeom prst="rect">
            <a:avLst/>
          </a:prstGeom>
          <a:solidFill>
            <a:srgbClr val="D99593"/>
          </a:solidFill>
        </p:spPr>
        <p:txBody>
          <a:bodyPr vert="horz" wrap="square" lIns="0" tIns="3175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/>
                <a:cs typeface="Calibri"/>
              </a:rPr>
              <a:t>P0=(16.0)</a:t>
            </a:r>
          </a:p>
          <a:p>
            <a:pPr marL="5486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P1=(3,1)</a:t>
            </a:r>
          </a:p>
          <a:p>
            <a:pPr marL="5486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P’0=(</a:t>
            </a:r>
            <a:r>
              <a:rPr lang="en-US" dirty="0">
                <a:latin typeface="Calibri"/>
                <a:cs typeface="Calibri"/>
              </a:rPr>
              <a:t>-2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lang="en-US" sz="1800" dirty="0">
                <a:latin typeface="Calibri"/>
                <a:cs typeface="Calibri"/>
              </a:rPr>
              <a:t>8</a:t>
            </a:r>
            <a:r>
              <a:rPr sz="1800" dirty="0">
                <a:latin typeface="Calibri"/>
                <a:cs typeface="Calibri"/>
              </a:rPr>
              <a:t>)</a:t>
            </a:r>
          </a:p>
          <a:p>
            <a:pPr marL="5486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P’1=(-11,7)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Hermite </a:t>
            </a:r>
            <a:r>
              <a:rPr spc="-5" dirty="0"/>
              <a:t>Curve: </a:t>
            </a:r>
            <a:r>
              <a:rPr spc="-15" dirty="0"/>
              <a:t>Example</a:t>
            </a:r>
            <a:r>
              <a:rPr spc="5" dirty="0"/>
              <a:t> </a:t>
            </a:r>
            <a:r>
              <a:rPr spc="-30" dirty="0"/>
              <a:t>contd</a:t>
            </a:r>
          </a:p>
        </p:txBody>
      </p:sp>
      <p:sp>
        <p:nvSpPr>
          <p:cNvPr id="3" name="object 3"/>
          <p:cNvSpPr/>
          <p:nvPr/>
        </p:nvSpPr>
        <p:spPr>
          <a:xfrm>
            <a:off x="6324600" y="1371600"/>
            <a:ext cx="2514600" cy="1754505"/>
          </a:xfrm>
          <a:custGeom>
            <a:avLst/>
            <a:gdLst/>
            <a:ahLst/>
            <a:cxnLst/>
            <a:rect l="l" t="t" r="r" b="b"/>
            <a:pathLst>
              <a:path w="2514600" h="1754505">
                <a:moveTo>
                  <a:pt x="0" y="1754377"/>
                </a:moveTo>
                <a:lnTo>
                  <a:pt x="2514600" y="1754377"/>
                </a:lnTo>
                <a:lnTo>
                  <a:pt x="2514600" y="0"/>
                </a:lnTo>
                <a:lnTo>
                  <a:pt x="0" y="0"/>
                </a:lnTo>
                <a:lnTo>
                  <a:pt x="0" y="1754377"/>
                </a:lnTo>
                <a:close/>
              </a:path>
            </a:pathLst>
          </a:custGeom>
          <a:solidFill>
            <a:srgbClr val="C4B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28638" y="1450339"/>
            <a:ext cx="1905" cy="1219200"/>
          </a:xfrm>
          <a:custGeom>
            <a:avLst/>
            <a:gdLst/>
            <a:ahLst/>
            <a:cxnLst/>
            <a:rect l="l" t="t" r="r" b="b"/>
            <a:pathLst>
              <a:path w="1904" h="1219200">
                <a:moveTo>
                  <a:pt x="1523" y="0"/>
                </a:moveTo>
                <a:lnTo>
                  <a:pt x="0" y="1219200"/>
                </a:lnTo>
              </a:path>
            </a:pathLst>
          </a:custGeom>
          <a:ln w="2857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29400" y="2668777"/>
            <a:ext cx="1600200" cy="1905"/>
          </a:xfrm>
          <a:custGeom>
            <a:avLst/>
            <a:gdLst/>
            <a:ahLst/>
            <a:cxnLst/>
            <a:rect l="l" t="t" r="r" b="b"/>
            <a:pathLst>
              <a:path w="1600200" h="1905">
                <a:moveTo>
                  <a:pt x="1600200" y="1524"/>
                </a:moveTo>
                <a:lnTo>
                  <a:pt x="0" y="0"/>
                </a:lnTo>
              </a:path>
            </a:pathLst>
          </a:custGeom>
          <a:ln w="2857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53250" y="2032904"/>
            <a:ext cx="923925" cy="655320"/>
          </a:xfrm>
          <a:custGeom>
            <a:avLst/>
            <a:gdLst/>
            <a:ahLst/>
            <a:cxnLst/>
            <a:rect l="l" t="t" r="r" b="b"/>
            <a:pathLst>
              <a:path w="923925" h="655319">
                <a:moveTo>
                  <a:pt x="0" y="266303"/>
                </a:moveTo>
                <a:lnTo>
                  <a:pt x="37910" y="226903"/>
                </a:lnTo>
                <a:lnTo>
                  <a:pt x="75829" y="188277"/>
                </a:lnTo>
                <a:lnTo>
                  <a:pt x="113764" y="151199"/>
                </a:lnTo>
                <a:lnTo>
                  <a:pt x="151722" y="116443"/>
                </a:lnTo>
                <a:lnTo>
                  <a:pt x="189712" y="84782"/>
                </a:lnTo>
                <a:lnTo>
                  <a:pt x="227742" y="56991"/>
                </a:lnTo>
                <a:lnTo>
                  <a:pt x="265820" y="33843"/>
                </a:lnTo>
                <a:lnTo>
                  <a:pt x="303953" y="16113"/>
                </a:lnTo>
                <a:lnTo>
                  <a:pt x="342149" y="4573"/>
                </a:lnTo>
                <a:lnTo>
                  <a:pt x="380417" y="0"/>
                </a:lnTo>
                <a:lnTo>
                  <a:pt x="418765" y="3165"/>
                </a:lnTo>
                <a:lnTo>
                  <a:pt x="457200" y="14843"/>
                </a:lnTo>
                <a:lnTo>
                  <a:pt x="595062" y="142180"/>
                </a:lnTo>
                <a:lnTo>
                  <a:pt x="748283" y="359171"/>
                </a:lnTo>
                <a:lnTo>
                  <a:pt x="872644" y="564018"/>
                </a:lnTo>
                <a:lnTo>
                  <a:pt x="923925" y="654923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941566" y="1678051"/>
            <a:ext cx="450215" cy="629285"/>
          </a:xfrm>
          <a:custGeom>
            <a:avLst/>
            <a:gdLst/>
            <a:ahLst/>
            <a:cxnLst/>
            <a:rect l="l" t="t" r="r" b="b"/>
            <a:pathLst>
              <a:path w="450215" h="629285">
                <a:moveTo>
                  <a:pt x="417127" y="46353"/>
                </a:moveTo>
                <a:lnTo>
                  <a:pt x="391530" y="58018"/>
                </a:lnTo>
                <a:lnTo>
                  <a:pt x="0" y="612901"/>
                </a:lnTo>
                <a:lnTo>
                  <a:pt x="23367" y="629285"/>
                </a:lnTo>
                <a:lnTo>
                  <a:pt x="414702" y="74511"/>
                </a:lnTo>
                <a:lnTo>
                  <a:pt x="417127" y="46353"/>
                </a:lnTo>
                <a:close/>
              </a:path>
              <a:path w="450215" h="629285">
                <a:moveTo>
                  <a:pt x="448537" y="14986"/>
                </a:moveTo>
                <a:lnTo>
                  <a:pt x="421893" y="14986"/>
                </a:lnTo>
                <a:lnTo>
                  <a:pt x="445134" y="31369"/>
                </a:lnTo>
                <a:lnTo>
                  <a:pt x="414702" y="74511"/>
                </a:lnTo>
                <a:lnTo>
                  <a:pt x="410717" y="120776"/>
                </a:lnTo>
                <a:lnTo>
                  <a:pt x="410082" y="128650"/>
                </a:lnTo>
                <a:lnTo>
                  <a:pt x="415925" y="135636"/>
                </a:lnTo>
                <a:lnTo>
                  <a:pt x="423672" y="136271"/>
                </a:lnTo>
                <a:lnTo>
                  <a:pt x="431545" y="137033"/>
                </a:lnTo>
                <a:lnTo>
                  <a:pt x="438530" y="131190"/>
                </a:lnTo>
                <a:lnTo>
                  <a:pt x="439165" y="123316"/>
                </a:lnTo>
                <a:lnTo>
                  <a:pt x="448537" y="14986"/>
                </a:lnTo>
                <a:close/>
              </a:path>
              <a:path w="450215" h="629285">
                <a:moveTo>
                  <a:pt x="449833" y="0"/>
                </a:moveTo>
                <a:lnTo>
                  <a:pt x="330073" y="54737"/>
                </a:lnTo>
                <a:lnTo>
                  <a:pt x="327025" y="63119"/>
                </a:lnTo>
                <a:lnTo>
                  <a:pt x="330200" y="70358"/>
                </a:lnTo>
                <a:lnTo>
                  <a:pt x="333501" y="77470"/>
                </a:lnTo>
                <a:lnTo>
                  <a:pt x="342010" y="80645"/>
                </a:lnTo>
                <a:lnTo>
                  <a:pt x="391530" y="58018"/>
                </a:lnTo>
                <a:lnTo>
                  <a:pt x="421893" y="14986"/>
                </a:lnTo>
                <a:lnTo>
                  <a:pt x="448537" y="14986"/>
                </a:lnTo>
                <a:lnTo>
                  <a:pt x="449833" y="0"/>
                </a:lnTo>
                <a:close/>
              </a:path>
              <a:path w="450215" h="629285">
                <a:moveTo>
                  <a:pt x="431802" y="21971"/>
                </a:moveTo>
                <a:lnTo>
                  <a:pt x="419226" y="21971"/>
                </a:lnTo>
                <a:lnTo>
                  <a:pt x="439419" y="36195"/>
                </a:lnTo>
                <a:lnTo>
                  <a:pt x="417127" y="46353"/>
                </a:lnTo>
                <a:lnTo>
                  <a:pt x="414702" y="74511"/>
                </a:lnTo>
                <a:lnTo>
                  <a:pt x="445134" y="31369"/>
                </a:lnTo>
                <a:lnTo>
                  <a:pt x="431802" y="21971"/>
                </a:lnTo>
                <a:close/>
              </a:path>
              <a:path w="450215" h="629285">
                <a:moveTo>
                  <a:pt x="421893" y="14986"/>
                </a:moveTo>
                <a:lnTo>
                  <a:pt x="391530" y="58018"/>
                </a:lnTo>
                <a:lnTo>
                  <a:pt x="417127" y="46353"/>
                </a:lnTo>
                <a:lnTo>
                  <a:pt x="419226" y="21971"/>
                </a:lnTo>
                <a:lnTo>
                  <a:pt x="431802" y="21971"/>
                </a:lnTo>
                <a:lnTo>
                  <a:pt x="421893" y="14986"/>
                </a:lnTo>
                <a:close/>
              </a:path>
              <a:path w="450215" h="629285">
                <a:moveTo>
                  <a:pt x="419226" y="21971"/>
                </a:moveTo>
                <a:lnTo>
                  <a:pt x="417127" y="46353"/>
                </a:lnTo>
                <a:lnTo>
                  <a:pt x="439419" y="36195"/>
                </a:lnTo>
                <a:lnTo>
                  <a:pt x="419226" y="219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418831" y="1754251"/>
            <a:ext cx="471170" cy="939800"/>
          </a:xfrm>
          <a:custGeom>
            <a:avLst/>
            <a:gdLst/>
            <a:ahLst/>
            <a:cxnLst/>
            <a:rect l="l" t="t" r="r" b="b"/>
            <a:pathLst>
              <a:path w="471170" h="939800">
                <a:moveTo>
                  <a:pt x="35110" y="51174"/>
                </a:moveTo>
                <a:lnTo>
                  <a:pt x="32834" y="79288"/>
                </a:lnTo>
                <a:lnTo>
                  <a:pt x="445516" y="939673"/>
                </a:lnTo>
                <a:lnTo>
                  <a:pt x="471170" y="927353"/>
                </a:lnTo>
                <a:lnTo>
                  <a:pt x="58689" y="67136"/>
                </a:lnTo>
                <a:lnTo>
                  <a:pt x="35110" y="51174"/>
                </a:lnTo>
                <a:close/>
              </a:path>
              <a:path w="471170" h="939800">
                <a:moveTo>
                  <a:pt x="10668" y="0"/>
                </a:moveTo>
                <a:lnTo>
                  <a:pt x="0" y="131190"/>
                </a:lnTo>
                <a:lnTo>
                  <a:pt x="5842" y="138049"/>
                </a:lnTo>
                <a:lnTo>
                  <a:pt x="21590" y="139319"/>
                </a:lnTo>
                <a:lnTo>
                  <a:pt x="28448" y="133476"/>
                </a:lnTo>
                <a:lnTo>
                  <a:pt x="32834" y="79288"/>
                </a:lnTo>
                <a:lnTo>
                  <a:pt x="10033" y="31750"/>
                </a:lnTo>
                <a:lnTo>
                  <a:pt x="35814" y="19431"/>
                </a:lnTo>
                <a:lnTo>
                  <a:pt x="39299" y="19431"/>
                </a:lnTo>
                <a:lnTo>
                  <a:pt x="10668" y="0"/>
                </a:lnTo>
                <a:close/>
              </a:path>
              <a:path w="471170" h="939800">
                <a:moveTo>
                  <a:pt x="39299" y="19431"/>
                </a:moveTo>
                <a:lnTo>
                  <a:pt x="35814" y="19431"/>
                </a:lnTo>
                <a:lnTo>
                  <a:pt x="58689" y="67136"/>
                </a:lnTo>
                <a:lnTo>
                  <a:pt x="103632" y="97536"/>
                </a:lnTo>
                <a:lnTo>
                  <a:pt x="112522" y="95758"/>
                </a:lnTo>
                <a:lnTo>
                  <a:pt x="116840" y="89281"/>
                </a:lnTo>
                <a:lnTo>
                  <a:pt x="121285" y="82676"/>
                </a:lnTo>
                <a:lnTo>
                  <a:pt x="119634" y="73913"/>
                </a:lnTo>
                <a:lnTo>
                  <a:pt x="39299" y="19431"/>
                </a:lnTo>
                <a:close/>
              </a:path>
              <a:path w="471170" h="939800">
                <a:moveTo>
                  <a:pt x="35814" y="19431"/>
                </a:moveTo>
                <a:lnTo>
                  <a:pt x="10033" y="31750"/>
                </a:lnTo>
                <a:lnTo>
                  <a:pt x="32834" y="79288"/>
                </a:lnTo>
                <a:lnTo>
                  <a:pt x="35110" y="51174"/>
                </a:lnTo>
                <a:lnTo>
                  <a:pt x="14859" y="37464"/>
                </a:lnTo>
                <a:lnTo>
                  <a:pt x="37084" y="26797"/>
                </a:lnTo>
                <a:lnTo>
                  <a:pt x="39346" y="26797"/>
                </a:lnTo>
                <a:lnTo>
                  <a:pt x="35814" y="19431"/>
                </a:lnTo>
                <a:close/>
              </a:path>
              <a:path w="471170" h="939800">
                <a:moveTo>
                  <a:pt x="39346" y="26797"/>
                </a:moveTo>
                <a:lnTo>
                  <a:pt x="37084" y="26797"/>
                </a:lnTo>
                <a:lnTo>
                  <a:pt x="35110" y="51174"/>
                </a:lnTo>
                <a:lnTo>
                  <a:pt x="58689" y="67136"/>
                </a:lnTo>
                <a:lnTo>
                  <a:pt x="39346" y="26797"/>
                </a:lnTo>
                <a:close/>
              </a:path>
              <a:path w="471170" h="939800">
                <a:moveTo>
                  <a:pt x="37084" y="26797"/>
                </a:moveTo>
                <a:lnTo>
                  <a:pt x="14859" y="37464"/>
                </a:lnTo>
                <a:lnTo>
                  <a:pt x="35110" y="51174"/>
                </a:lnTo>
                <a:lnTo>
                  <a:pt x="37084" y="267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78700" y="1665477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324600" y="1547368"/>
            <a:ext cx="2514600" cy="1470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1064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Calibri"/>
                <a:cs typeface="Calibri"/>
              </a:rPr>
              <a:t>P2(14,8)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320040">
              <a:lnSpc>
                <a:spcPct val="100000"/>
              </a:lnSpc>
              <a:spcBef>
                <a:spcPts val="1105"/>
              </a:spcBef>
            </a:pPr>
            <a:r>
              <a:rPr sz="1400" spc="-5" dirty="0">
                <a:latin typeface="Calibri"/>
                <a:cs typeface="Calibri"/>
              </a:rPr>
              <a:t>P1(3,1)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>
              <a:latin typeface="Times New Roman"/>
              <a:cs typeface="Times New Roman"/>
            </a:endParaRPr>
          </a:p>
          <a:p>
            <a:pPr marL="1310640">
              <a:lnSpc>
                <a:spcPct val="100000"/>
              </a:lnSpc>
            </a:pPr>
            <a:r>
              <a:rPr sz="1400" spc="-5" dirty="0">
                <a:latin typeface="Calibri"/>
                <a:cs typeface="Calibri"/>
              </a:rPr>
              <a:t>P0(16,0)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8600" y="990600"/>
            <a:ext cx="6096000" cy="44189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90600" y="4343400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457200"/>
                </a:moveTo>
                <a:lnTo>
                  <a:pt x="533400" y="457200"/>
                </a:lnTo>
                <a:lnTo>
                  <a:pt x="5334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3552" y="5433948"/>
            <a:ext cx="6096000" cy="12716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BCE1A2E-E519-9FA7-B3E6-D88A714F2B08}"/>
              </a:ext>
            </a:extLst>
          </p:cNvPr>
          <p:cNvSpPr txBox="1"/>
          <p:nvPr/>
        </p:nvSpPr>
        <p:spPr>
          <a:xfrm>
            <a:off x="6428772" y="3507105"/>
            <a:ext cx="2514600" cy="1140056"/>
          </a:xfrm>
          <a:prstGeom prst="rect">
            <a:avLst/>
          </a:prstGeom>
          <a:solidFill>
            <a:srgbClr val="D99593"/>
          </a:solidFill>
        </p:spPr>
        <p:txBody>
          <a:bodyPr vert="horz" wrap="square" lIns="0" tIns="3175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/>
                <a:cs typeface="Calibri"/>
              </a:rPr>
              <a:t>P0=(16.0)</a:t>
            </a:r>
          </a:p>
          <a:p>
            <a:pPr marL="5486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P1=(3,1)</a:t>
            </a:r>
          </a:p>
          <a:p>
            <a:pPr marL="5486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P’0=(</a:t>
            </a:r>
            <a:r>
              <a:rPr lang="en-US" dirty="0">
                <a:latin typeface="Calibri"/>
                <a:cs typeface="Calibri"/>
              </a:rPr>
              <a:t>-2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lang="en-US" sz="1800" dirty="0">
                <a:latin typeface="Calibri"/>
                <a:cs typeface="Calibri"/>
              </a:rPr>
              <a:t>8</a:t>
            </a:r>
            <a:r>
              <a:rPr sz="1800" dirty="0">
                <a:latin typeface="Calibri"/>
                <a:cs typeface="Calibri"/>
              </a:rPr>
              <a:t>)</a:t>
            </a:r>
          </a:p>
          <a:p>
            <a:pPr marL="5486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P’1=(-11,7)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1772" y="164591"/>
            <a:ext cx="31388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Bezier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Curves</a:t>
            </a:r>
          </a:p>
        </p:txBody>
      </p:sp>
      <p:sp>
        <p:nvSpPr>
          <p:cNvPr id="3" name="object 3"/>
          <p:cNvSpPr/>
          <p:nvPr/>
        </p:nvSpPr>
        <p:spPr>
          <a:xfrm>
            <a:off x="5702300" y="1130300"/>
            <a:ext cx="117601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378700" y="1054100"/>
            <a:ext cx="117601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59700" y="2120900"/>
            <a:ext cx="117601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97500" y="2120900"/>
            <a:ext cx="117601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87847" y="1009141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82794" y="2076196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0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21447" y="856741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2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36794" y="2380996"/>
            <a:ext cx="33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t=0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00600" y="990600"/>
            <a:ext cx="1905" cy="4419600"/>
          </a:xfrm>
          <a:custGeom>
            <a:avLst/>
            <a:gdLst/>
            <a:ahLst/>
            <a:cxnLst/>
            <a:rect l="l" t="t" r="r" b="b"/>
            <a:pathLst>
              <a:path w="1904" h="4419600">
                <a:moveTo>
                  <a:pt x="1650" y="0"/>
                </a:moveTo>
                <a:lnTo>
                  <a:pt x="0" y="4419600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3540" y="1009141"/>
            <a:ext cx="2489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Properties of </a:t>
            </a:r>
            <a:r>
              <a:rPr sz="1800" b="1" spc="-10" dirty="0">
                <a:latin typeface="Calibri"/>
                <a:cs typeface="Calibri"/>
              </a:rPr>
              <a:t>Bezier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Curve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540" y="1283715"/>
            <a:ext cx="4344670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It </a:t>
            </a:r>
            <a:r>
              <a:rPr sz="1800" spc="-5" dirty="0">
                <a:latin typeface="Calibri"/>
                <a:cs typeface="Calibri"/>
              </a:rPr>
              <a:t>passes </a:t>
            </a:r>
            <a:r>
              <a:rPr sz="1800" spc="-10" dirty="0">
                <a:latin typeface="Calibri"/>
                <a:cs typeface="Calibri"/>
              </a:rPr>
              <a:t>first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last</a:t>
            </a:r>
            <a:r>
              <a:rPr sz="1800" spc="-10" dirty="0">
                <a:latin typeface="Calibri"/>
                <a:cs typeface="Calibri"/>
              </a:rPr>
              <a:t> points</a:t>
            </a:r>
            <a:endParaRPr sz="18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curve </a:t>
            </a:r>
            <a:r>
              <a:rPr sz="1800" spc="-5" dirty="0">
                <a:latin typeface="Calibri"/>
                <a:cs typeface="Calibri"/>
              </a:rPr>
              <a:t>must be </a:t>
            </a:r>
            <a:r>
              <a:rPr sz="1800" spc="-10" dirty="0">
                <a:latin typeface="Calibri"/>
                <a:cs typeface="Calibri"/>
              </a:rPr>
              <a:t>contained </a:t>
            </a:r>
            <a:r>
              <a:rPr sz="1800" dirty="0">
                <a:latin typeface="Calibri"/>
                <a:cs typeface="Calibri"/>
              </a:rPr>
              <a:t>in the </a:t>
            </a:r>
            <a:r>
              <a:rPr sz="1800" spc="-20" dirty="0">
                <a:latin typeface="Calibri"/>
                <a:cs typeface="Calibri"/>
              </a:rPr>
              <a:t>convex  </a:t>
            </a:r>
            <a:r>
              <a:rPr sz="1800" spc="-5" dirty="0">
                <a:latin typeface="Calibri"/>
                <a:cs typeface="Calibri"/>
              </a:rPr>
              <a:t>hull </a:t>
            </a:r>
            <a:r>
              <a:rPr sz="1800" spc="-10" dirty="0">
                <a:latin typeface="Calibri"/>
                <a:cs typeface="Calibri"/>
              </a:rPr>
              <a:t>(connecting </a:t>
            </a:r>
            <a:r>
              <a:rPr sz="1800" spc="-15" dirty="0">
                <a:latin typeface="Calibri"/>
                <a:cs typeface="Calibri"/>
              </a:rPr>
              <a:t>control </a:t>
            </a:r>
            <a:r>
              <a:rPr sz="1800" spc="-5" dirty="0">
                <a:latin typeface="Calibri"/>
                <a:cs typeface="Calibri"/>
              </a:rPr>
              <a:t>points) of </a:t>
            </a:r>
            <a:r>
              <a:rPr sz="1800" dirty="0">
                <a:latin typeface="Calibri"/>
                <a:cs typeface="Calibri"/>
              </a:rPr>
              <a:t>the  </a:t>
            </a:r>
            <a:r>
              <a:rPr sz="1800" spc="-15" dirty="0">
                <a:latin typeface="Calibri"/>
                <a:cs typeface="Calibri"/>
              </a:rPr>
              <a:t>control</a:t>
            </a:r>
            <a:r>
              <a:rPr sz="1800" spc="-5" dirty="0">
                <a:latin typeface="Calibri"/>
                <a:cs typeface="Calibri"/>
              </a:rPr>
              <a:t> points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control </a:t>
            </a:r>
            <a:r>
              <a:rPr sz="1800" spc="-5" dirty="0">
                <a:latin typeface="Calibri"/>
                <a:cs typeface="Calibri"/>
              </a:rPr>
              <a:t>points </a:t>
            </a:r>
            <a:r>
              <a:rPr sz="1800" spc="-15" dirty="0">
                <a:latin typeface="Calibri"/>
                <a:cs typeface="Calibri"/>
              </a:rPr>
              <a:t>control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shape</a:t>
            </a:r>
            <a:endParaRPr sz="1800">
              <a:latin typeface="Calibri"/>
              <a:cs typeface="Calibri"/>
            </a:endParaRPr>
          </a:p>
          <a:p>
            <a:pPr marL="354965" marR="130810" indent="-354965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degree </a:t>
            </a:r>
            <a:r>
              <a:rPr sz="1800" spc="-5" dirty="0">
                <a:latin typeface="Calibri"/>
                <a:cs typeface="Calibri"/>
              </a:rPr>
              <a:t>of polynomial </a:t>
            </a:r>
            <a:r>
              <a:rPr sz="1800" dirty="0">
                <a:latin typeface="Calibri"/>
                <a:cs typeface="Calibri"/>
              </a:rPr>
              <a:t>is </a:t>
            </a:r>
            <a:r>
              <a:rPr sz="1800" spc="-5" dirty="0">
                <a:latin typeface="Calibri"/>
                <a:cs typeface="Calibri"/>
              </a:rPr>
              <a:t>one </a:t>
            </a:r>
            <a:r>
              <a:rPr sz="1800" dirty="0">
                <a:latin typeface="Calibri"/>
                <a:cs typeface="Calibri"/>
              </a:rPr>
              <a:t>less than  </a:t>
            </a:r>
            <a:r>
              <a:rPr sz="1800" spc="-10" dirty="0">
                <a:latin typeface="Calibri"/>
                <a:cs typeface="Calibri"/>
              </a:rPr>
              <a:t>Control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points.</a:t>
            </a:r>
            <a:endParaRPr sz="1800">
              <a:latin typeface="Calibri"/>
              <a:cs typeface="Calibri"/>
            </a:endParaRPr>
          </a:p>
          <a:p>
            <a:pPr marL="355600" marR="76835" indent="-342900">
              <a:lnSpc>
                <a:spcPct val="100000"/>
              </a:lnSpc>
              <a:buFont typeface="Calibri"/>
              <a:buAutoNum type="arabicPeriod"/>
              <a:tabLst>
                <a:tab pos="407670" algn="l"/>
                <a:tab pos="408305" algn="l"/>
              </a:tabLst>
            </a:pPr>
            <a:r>
              <a:rPr dirty="0"/>
              <a:t>	</a:t>
            </a:r>
            <a:r>
              <a:rPr sz="1800" dirty="0">
                <a:latin typeface="Calibri"/>
                <a:cs typeface="Calibri"/>
              </a:rPr>
              <a:t>It </a:t>
            </a:r>
            <a:r>
              <a:rPr sz="1800" spc="-10" dirty="0">
                <a:latin typeface="Calibri"/>
                <a:cs typeface="Calibri"/>
              </a:rPr>
              <a:t>exhibits </a:t>
            </a:r>
            <a:r>
              <a:rPr sz="1800" dirty="0">
                <a:latin typeface="Calibri"/>
                <a:cs typeface="Calibri"/>
              </a:rPr>
              <a:t>global </a:t>
            </a:r>
            <a:r>
              <a:rPr sz="1800" spc="-15" dirty="0">
                <a:latin typeface="Calibri"/>
                <a:cs typeface="Calibri"/>
              </a:rPr>
              <a:t>control </a:t>
            </a:r>
            <a:r>
              <a:rPr sz="1800" dirty="0">
                <a:latin typeface="Calibri"/>
                <a:cs typeface="Calibri"/>
              </a:rPr>
              <a:t>means if </a:t>
            </a:r>
            <a:r>
              <a:rPr sz="1800" spc="-15" dirty="0">
                <a:latin typeface="Calibri"/>
                <a:cs typeface="Calibri"/>
              </a:rPr>
              <a:t>any  control </a:t>
            </a:r>
            <a:r>
              <a:rPr sz="1800" spc="-5" dirty="0">
                <a:latin typeface="Calibri"/>
                <a:cs typeface="Calibri"/>
              </a:rPr>
              <a:t>points moves </a:t>
            </a:r>
            <a:r>
              <a:rPr sz="1800" dirty="0">
                <a:latin typeface="Calibri"/>
                <a:cs typeface="Calibri"/>
              </a:rPr>
              <a:t>then whole </a:t>
            </a:r>
            <a:r>
              <a:rPr sz="1800" spc="-5" dirty="0">
                <a:latin typeface="Calibri"/>
                <a:cs typeface="Calibri"/>
              </a:rPr>
              <a:t>shape of  </a:t>
            </a:r>
            <a:r>
              <a:rPr sz="1800" dirty="0">
                <a:latin typeface="Calibri"/>
                <a:cs typeface="Calibri"/>
              </a:rPr>
              <a:t>the curve </a:t>
            </a:r>
            <a:r>
              <a:rPr sz="1800" spc="-5" dirty="0">
                <a:latin typeface="Calibri"/>
                <a:cs typeface="Calibri"/>
              </a:rPr>
              <a:t>changed.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69509" y="1270000"/>
            <a:ext cx="2336800" cy="914400"/>
          </a:xfrm>
          <a:custGeom>
            <a:avLst/>
            <a:gdLst/>
            <a:ahLst/>
            <a:cxnLst/>
            <a:rect l="l" t="t" r="r" b="b"/>
            <a:pathLst>
              <a:path w="2336800" h="914400">
                <a:moveTo>
                  <a:pt x="0" y="914400"/>
                </a:moveTo>
                <a:lnTo>
                  <a:pt x="14003" y="863630"/>
                </a:lnTo>
                <a:lnTo>
                  <a:pt x="28205" y="813040"/>
                </a:lnTo>
                <a:lnTo>
                  <a:pt x="42807" y="762812"/>
                </a:lnTo>
                <a:lnTo>
                  <a:pt x="58006" y="713126"/>
                </a:lnTo>
                <a:lnTo>
                  <a:pt x="74003" y="664162"/>
                </a:lnTo>
                <a:lnTo>
                  <a:pt x="90997" y="616102"/>
                </a:lnTo>
                <a:lnTo>
                  <a:pt x="109186" y="569125"/>
                </a:lnTo>
                <a:lnTo>
                  <a:pt x="128772" y="523413"/>
                </a:lnTo>
                <a:lnTo>
                  <a:pt x="149952" y="479145"/>
                </a:lnTo>
                <a:lnTo>
                  <a:pt x="172926" y="436503"/>
                </a:lnTo>
                <a:lnTo>
                  <a:pt x="197895" y="395668"/>
                </a:lnTo>
                <a:lnTo>
                  <a:pt x="225056" y="356819"/>
                </a:lnTo>
                <a:lnTo>
                  <a:pt x="254609" y="320137"/>
                </a:lnTo>
                <a:lnTo>
                  <a:pt x="286754" y="285804"/>
                </a:lnTo>
                <a:lnTo>
                  <a:pt x="321690" y="254000"/>
                </a:lnTo>
                <a:lnTo>
                  <a:pt x="355149" y="227643"/>
                </a:lnTo>
                <a:lnTo>
                  <a:pt x="391151" y="202403"/>
                </a:lnTo>
                <a:lnTo>
                  <a:pt x="429484" y="178342"/>
                </a:lnTo>
                <a:lnTo>
                  <a:pt x="469936" y="155522"/>
                </a:lnTo>
                <a:lnTo>
                  <a:pt x="512295" y="134005"/>
                </a:lnTo>
                <a:lnTo>
                  <a:pt x="556350" y="113852"/>
                </a:lnTo>
                <a:lnTo>
                  <a:pt x="601888" y="95127"/>
                </a:lnTo>
                <a:lnTo>
                  <a:pt x="648697" y="77890"/>
                </a:lnTo>
                <a:lnTo>
                  <a:pt x="696565" y="62204"/>
                </a:lnTo>
                <a:lnTo>
                  <a:pt x="745281" y="48132"/>
                </a:lnTo>
                <a:lnTo>
                  <a:pt x="794631" y="35734"/>
                </a:lnTo>
                <a:lnTo>
                  <a:pt x="844405" y="25074"/>
                </a:lnTo>
                <a:lnTo>
                  <a:pt x="894390" y="16212"/>
                </a:lnTo>
                <a:lnTo>
                  <a:pt x="944374" y="9212"/>
                </a:lnTo>
                <a:lnTo>
                  <a:pt x="994145" y="4135"/>
                </a:lnTo>
                <a:lnTo>
                  <a:pt x="1043491" y="1044"/>
                </a:lnTo>
                <a:lnTo>
                  <a:pt x="1092199" y="0"/>
                </a:lnTo>
                <a:lnTo>
                  <a:pt x="1138847" y="944"/>
                </a:lnTo>
                <a:lnTo>
                  <a:pt x="1187357" y="3739"/>
                </a:lnTo>
                <a:lnTo>
                  <a:pt x="1237418" y="8328"/>
                </a:lnTo>
                <a:lnTo>
                  <a:pt x="1288722" y="14655"/>
                </a:lnTo>
                <a:lnTo>
                  <a:pt x="1340959" y="22663"/>
                </a:lnTo>
                <a:lnTo>
                  <a:pt x="1393820" y="32295"/>
                </a:lnTo>
                <a:lnTo>
                  <a:pt x="1446995" y="43495"/>
                </a:lnTo>
                <a:lnTo>
                  <a:pt x="1500175" y="56207"/>
                </a:lnTo>
                <a:lnTo>
                  <a:pt x="1553051" y="70373"/>
                </a:lnTo>
                <a:lnTo>
                  <a:pt x="1605313" y="85938"/>
                </a:lnTo>
                <a:lnTo>
                  <a:pt x="1656651" y="102844"/>
                </a:lnTo>
                <a:lnTo>
                  <a:pt x="1706757" y="121035"/>
                </a:lnTo>
                <a:lnTo>
                  <a:pt x="1755321" y="140455"/>
                </a:lnTo>
                <a:lnTo>
                  <a:pt x="1802034" y="161046"/>
                </a:lnTo>
                <a:lnTo>
                  <a:pt x="1846585" y="182753"/>
                </a:lnTo>
                <a:lnTo>
                  <a:pt x="1888667" y="205519"/>
                </a:lnTo>
                <a:lnTo>
                  <a:pt x="1927969" y="229286"/>
                </a:lnTo>
                <a:lnTo>
                  <a:pt x="1964182" y="254000"/>
                </a:lnTo>
                <a:lnTo>
                  <a:pt x="2001742" y="285089"/>
                </a:lnTo>
                <a:lnTo>
                  <a:pt x="2036705" y="321198"/>
                </a:lnTo>
                <a:lnTo>
                  <a:pt x="2069218" y="361526"/>
                </a:lnTo>
                <a:lnTo>
                  <a:pt x="2099431" y="405274"/>
                </a:lnTo>
                <a:lnTo>
                  <a:pt x="2127492" y="451643"/>
                </a:lnTo>
                <a:lnTo>
                  <a:pt x="2153551" y="499832"/>
                </a:lnTo>
                <a:lnTo>
                  <a:pt x="2177757" y="549041"/>
                </a:lnTo>
                <a:lnTo>
                  <a:pt x="2200259" y="598471"/>
                </a:lnTo>
                <a:lnTo>
                  <a:pt x="2221205" y="647322"/>
                </a:lnTo>
                <a:lnTo>
                  <a:pt x="2240745" y="694795"/>
                </a:lnTo>
                <a:lnTo>
                  <a:pt x="2259028" y="740089"/>
                </a:lnTo>
                <a:lnTo>
                  <a:pt x="2276203" y="782405"/>
                </a:lnTo>
                <a:lnTo>
                  <a:pt x="2292418" y="820943"/>
                </a:lnTo>
                <a:lnTo>
                  <a:pt x="2307823" y="854903"/>
                </a:lnTo>
                <a:lnTo>
                  <a:pt x="2322568" y="883485"/>
                </a:lnTo>
                <a:lnTo>
                  <a:pt x="2336799" y="905890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23661" y="1234058"/>
            <a:ext cx="304800" cy="915669"/>
          </a:xfrm>
          <a:custGeom>
            <a:avLst/>
            <a:gdLst/>
            <a:ahLst/>
            <a:cxnLst/>
            <a:rect l="l" t="t" r="r" b="b"/>
            <a:pathLst>
              <a:path w="304800" h="915669">
                <a:moveTo>
                  <a:pt x="0" y="915162"/>
                </a:moveTo>
                <a:lnTo>
                  <a:pt x="30480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07202" y="1120139"/>
            <a:ext cx="1584325" cy="76200"/>
          </a:xfrm>
          <a:custGeom>
            <a:avLst/>
            <a:gdLst/>
            <a:ahLst/>
            <a:cxnLst/>
            <a:rect l="l" t="t" r="r" b="b"/>
            <a:pathLst>
              <a:path w="1584325" h="76200">
                <a:moveTo>
                  <a:pt x="0" y="76200"/>
                </a:moveTo>
                <a:lnTo>
                  <a:pt x="1584198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467600" y="1143000"/>
            <a:ext cx="339090" cy="1033144"/>
          </a:xfrm>
          <a:custGeom>
            <a:avLst/>
            <a:gdLst/>
            <a:ahLst/>
            <a:cxnLst/>
            <a:rect l="l" t="t" r="r" b="b"/>
            <a:pathLst>
              <a:path w="339090" h="1033144">
                <a:moveTo>
                  <a:pt x="338708" y="103289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86400" y="2186939"/>
            <a:ext cx="2286000" cy="22860"/>
          </a:xfrm>
          <a:custGeom>
            <a:avLst/>
            <a:gdLst/>
            <a:ahLst/>
            <a:cxnLst/>
            <a:rect l="l" t="t" r="r" b="b"/>
            <a:pathLst>
              <a:path w="2286000" h="22860">
                <a:moveTo>
                  <a:pt x="0" y="22860"/>
                </a:moveTo>
                <a:lnTo>
                  <a:pt x="228600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067547" y="934466"/>
            <a:ext cx="9912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Calibri"/>
                <a:cs typeface="Calibri"/>
              </a:rPr>
              <a:t>Convex-hull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696200" y="1213485"/>
            <a:ext cx="612775" cy="317500"/>
          </a:xfrm>
          <a:custGeom>
            <a:avLst/>
            <a:gdLst/>
            <a:ahLst/>
            <a:cxnLst/>
            <a:rect l="l" t="t" r="r" b="b"/>
            <a:pathLst>
              <a:path w="612775" h="317500">
                <a:moveTo>
                  <a:pt x="60071" y="223774"/>
                </a:moveTo>
                <a:lnTo>
                  <a:pt x="56133" y="224662"/>
                </a:lnTo>
                <a:lnTo>
                  <a:pt x="0" y="310514"/>
                </a:lnTo>
                <a:lnTo>
                  <a:pt x="102361" y="317118"/>
                </a:lnTo>
                <a:lnTo>
                  <a:pt x="105409" y="314451"/>
                </a:lnTo>
                <a:lnTo>
                  <a:pt x="105664" y="311023"/>
                </a:lnTo>
                <a:lnTo>
                  <a:pt x="105682" y="310514"/>
                </a:lnTo>
                <a:lnTo>
                  <a:pt x="14097" y="310514"/>
                </a:lnTo>
                <a:lnTo>
                  <a:pt x="8381" y="299212"/>
                </a:lnTo>
                <a:lnTo>
                  <a:pt x="29392" y="288706"/>
                </a:lnTo>
                <a:lnTo>
                  <a:pt x="66801" y="231648"/>
                </a:lnTo>
                <a:lnTo>
                  <a:pt x="65913" y="227711"/>
                </a:lnTo>
                <a:lnTo>
                  <a:pt x="62992" y="225678"/>
                </a:lnTo>
                <a:lnTo>
                  <a:pt x="60071" y="223774"/>
                </a:lnTo>
                <a:close/>
              </a:path>
              <a:path w="612775" h="317500">
                <a:moveTo>
                  <a:pt x="29392" y="288706"/>
                </a:moveTo>
                <a:lnTo>
                  <a:pt x="8381" y="299212"/>
                </a:lnTo>
                <a:lnTo>
                  <a:pt x="14097" y="310514"/>
                </a:lnTo>
                <a:lnTo>
                  <a:pt x="18415" y="308355"/>
                </a:lnTo>
                <a:lnTo>
                  <a:pt x="16509" y="308355"/>
                </a:lnTo>
                <a:lnTo>
                  <a:pt x="11683" y="298576"/>
                </a:lnTo>
                <a:lnTo>
                  <a:pt x="22921" y="298576"/>
                </a:lnTo>
                <a:lnTo>
                  <a:pt x="29392" y="288706"/>
                </a:lnTo>
                <a:close/>
              </a:path>
              <a:path w="612775" h="317500">
                <a:moveTo>
                  <a:pt x="34955" y="300088"/>
                </a:moveTo>
                <a:lnTo>
                  <a:pt x="14097" y="310514"/>
                </a:lnTo>
                <a:lnTo>
                  <a:pt x="105682" y="310514"/>
                </a:lnTo>
                <a:lnTo>
                  <a:pt x="105791" y="307466"/>
                </a:lnTo>
                <a:lnTo>
                  <a:pt x="103124" y="304418"/>
                </a:lnTo>
                <a:lnTo>
                  <a:pt x="99695" y="304291"/>
                </a:lnTo>
                <a:lnTo>
                  <a:pt x="34955" y="300088"/>
                </a:lnTo>
                <a:close/>
              </a:path>
              <a:path w="612775" h="317500">
                <a:moveTo>
                  <a:pt x="11683" y="298576"/>
                </a:moveTo>
                <a:lnTo>
                  <a:pt x="16509" y="308355"/>
                </a:lnTo>
                <a:lnTo>
                  <a:pt x="22462" y="299276"/>
                </a:lnTo>
                <a:lnTo>
                  <a:pt x="11683" y="298576"/>
                </a:lnTo>
                <a:close/>
              </a:path>
              <a:path w="612775" h="317500">
                <a:moveTo>
                  <a:pt x="22462" y="299276"/>
                </a:moveTo>
                <a:lnTo>
                  <a:pt x="16509" y="308355"/>
                </a:lnTo>
                <a:lnTo>
                  <a:pt x="18415" y="308355"/>
                </a:lnTo>
                <a:lnTo>
                  <a:pt x="34955" y="300088"/>
                </a:lnTo>
                <a:lnTo>
                  <a:pt x="22462" y="299276"/>
                </a:lnTo>
                <a:close/>
              </a:path>
              <a:path w="612775" h="317500">
                <a:moveTo>
                  <a:pt x="606805" y="0"/>
                </a:moveTo>
                <a:lnTo>
                  <a:pt x="29392" y="288706"/>
                </a:lnTo>
                <a:lnTo>
                  <a:pt x="22462" y="299276"/>
                </a:lnTo>
                <a:lnTo>
                  <a:pt x="34955" y="300088"/>
                </a:lnTo>
                <a:lnTo>
                  <a:pt x="612394" y="11429"/>
                </a:lnTo>
                <a:lnTo>
                  <a:pt x="606805" y="0"/>
                </a:lnTo>
                <a:close/>
              </a:path>
              <a:path w="612775" h="317500">
                <a:moveTo>
                  <a:pt x="22921" y="298576"/>
                </a:moveTo>
                <a:lnTo>
                  <a:pt x="11683" y="298576"/>
                </a:lnTo>
                <a:lnTo>
                  <a:pt x="22462" y="299276"/>
                </a:lnTo>
                <a:lnTo>
                  <a:pt x="22921" y="298576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57200" y="4267174"/>
            <a:ext cx="3816985" cy="64643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 marR="123189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/>
                <a:cs typeface="Calibri"/>
              </a:rPr>
              <a:t>If </a:t>
            </a:r>
            <a:r>
              <a:rPr sz="1800" spc="-15" dirty="0">
                <a:latin typeface="Calibri"/>
                <a:cs typeface="Calibri"/>
              </a:rPr>
              <a:t>control </a:t>
            </a:r>
            <a:r>
              <a:rPr sz="1800" spc="-5" dirty="0">
                <a:latin typeface="Calibri"/>
                <a:cs typeface="Calibri"/>
              </a:rPr>
              <a:t>points=2 </a:t>
            </a:r>
            <a:r>
              <a:rPr sz="1800" dirty="0">
                <a:latin typeface="Calibri"/>
                <a:cs typeface="Calibri"/>
              </a:rPr>
              <a:t>then </a:t>
            </a:r>
            <a:r>
              <a:rPr sz="1800" spc="-10" dirty="0">
                <a:latin typeface="Calibri"/>
                <a:cs typeface="Calibri"/>
              </a:rPr>
              <a:t>degree=1 </a:t>
            </a:r>
            <a:r>
              <a:rPr sz="1800" dirty="0">
                <a:latin typeface="Calibri"/>
                <a:cs typeface="Calibri"/>
              </a:rPr>
              <a:t>then  </a:t>
            </a:r>
            <a:r>
              <a:rPr sz="1800" spc="-5" dirty="0">
                <a:latin typeface="Calibri"/>
                <a:cs typeface="Calibri"/>
              </a:rPr>
              <a:t>polynomial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linear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7200" y="4953000"/>
            <a:ext cx="4231640" cy="646430"/>
          </a:xfrm>
          <a:prstGeom prst="rect">
            <a:avLst/>
          </a:prstGeom>
          <a:solidFill>
            <a:srgbClr val="D6E3BC"/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 marR="127635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/>
                <a:cs typeface="Calibri"/>
              </a:rPr>
              <a:t>If </a:t>
            </a:r>
            <a:r>
              <a:rPr sz="1800" spc="-10" dirty="0">
                <a:latin typeface="Calibri"/>
                <a:cs typeface="Calibri"/>
              </a:rPr>
              <a:t>two </a:t>
            </a:r>
            <a:r>
              <a:rPr sz="1800" spc="-15" dirty="0">
                <a:latin typeface="Calibri"/>
                <a:cs typeface="Calibri"/>
              </a:rPr>
              <a:t>control </a:t>
            </a:r>
            <a:r>
              <a:rPr sz="1800" spc="-5" dirty="0">
                <a:latin typeface="Calibri"/>
                <a:cs typeface="Calibri"/>
              </a:rPr>
              <a:t>points=3 </a:t>
            </a:r>
            <a:r>
              <a:rPr sz="1800" dirty="0">
                <a:latin typeface="Calibri"/>
                <a:cs typeface="Calibri"/>
              </a:rPr>
              <a:t>then </a:t>
            </a:r>
            <a:r>
              <a:rPr sz="1800" spc="-10" dirty="0">
                <a:latin typeface="Calibri"/>
                <a:cs typeface="Calibri"/>
              </a:rPr>
              <a:t>degree=2 </a:t>
            </a:r>
            <a:r>
              <a:rPr sz="1800" dirty="0">
                <a:latin typeface="Calibri"/>
                <a:cs typeface="Calibri"/>
              </a:rPr>
              <a:t>then  </a:t>
            </a:r>
            <a:r>
              <a:rPr sz="1800" spc="-5" dirty="0">
                <a:latin typeface="Calibri"/>
                <a:cs typeface="Calibri"/>
              </a:rPr>
              <a:t>polynomial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quadratic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7200" y="5638800"/>
            <a:ext cx="4231640" cy="646430"/>
          </a:xfrm>
          <a:prstGeom prst="rect">
            <a:avLst/>
          </a:prstGeom>
          <a:solidFill>
            <a:srgbClr val="E6B8B8"/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 marR="127635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/>
                <a:cs typeface="Calibri"/>
              </a:rPr>
              <a:t>If </a:t>
            </a:r>
            <a:r>
              <a:rPr sz="1800" spc="-10" dirty="0">
                <a:latin typeface="Calibri"/>
                <a:cs typeface="Calibri"/>
              </a:rPr>
              <a:t>two </a:t>
            </a:r>
            <a:r>
              <a:rPr sz="1800" spc="-15" dirty="0">
                <a:latin typeface="Calibri"/>
                <a:cs typeface="Calibri"/>
              </a:rPr>
              <a:t>control </a:t>
            </a:r>
            <a:r>
              <a:rPr sz="1800" spc="-5" dirty="0">
                <a:latin typeface="Calibri"/>
                <a:cs typeface="Calibri"/>
              </a:rPr>
              <a:t>points=4 </a:t>
            </a:r>
            <a:r>
              <a:rPr sz="1800" dirty="0">
                <a:latin typeface="Calibri"/>
                <a:cs typeface="Calibri"/>
              </a:rPr>
              <a:t>then </a:t>
            </a:r>
            <a:r>
              <a:rPr sz="1800" spc="-10" dirty="0">
                <a:latin typeface="Calibri"/>
                <a:cs typeface="Calibri"/>
              </a:rPr>
              <a:t>degree=3 </a:t>
            </a:r>
            <a:r>
              <a:rPr sz="1800" dirty="0">
                <a:latin typeface="Calibri"/>
                <a:cs typeface="Calibri"/>
              </a:rPr>
              <a:t>then  </a:t>
            </a:r>
            <a:r>
              <a:rPr sz="1800" spc="-5" dirty="0">
                <a:latin typeface="Calibri"/>
                <a:cs typeface="Calibri"/>
              </a:rPr>
              <a:t>polynomial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" dirty="0">
                <a:latin typeface="Calibri"/>
                <a:cs typeface="Calibri"/>
              </a:rPr>
              <a:t> cubic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50047" y="1969516"/>
            <a:ext cx="424180" cy="6350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34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3</a:t>
            </a:r>
            <a:endParaRPr sz="1800" baseline="-20833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240"/>
              </a:spcBef>
            </a:pPr>
            <a:r>
              <a:rPr sz="1800" spc="-5" dirty="0">
                <a:latin typeface="Calibri"/>
                <a:cs typeface="Calibri"/>
              </a:rPr>
              <a:t>t=1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321300" y="3187700"/>
            <a:ext cx="117601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531100" y="3439159"/>
            <a:ext cx="117601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912100" y="4505959"/>
            <a:ext cx="117601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49900" y="4505959"/>
            <a:ext cx="117601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158994" y="2914396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73847" y="3242055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2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89447" y="4766309"/>
            <a:ext cx="33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t=0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347461" y="3291459"/>
            <a:ext cx="228600" cy="1243330"/>
          </a:xfrm>
          <a:custGeom>
            <a:avLst/>
            <a:gdLst/>
            <a:ahLst/>
            <a:cxnLst/>
            <a:rect l="l" t="t" r="r" b="b"/>
            <a:pathLst>
              <a:path w="228600" h="1243329">
                <a:moveTo>
                  <a:pt x="228600" y="1242821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426202" y="3253740"/>
            <a:ext cx="2117725" cy="251460"/>
          </a:xfrm>
          <a:custGeom>
            <a:avLst/>
            <a:gdLst/>
            <a:ahLst/>
            <a:cxnLst/>
            <a:rect l="l" t="t" r="r" b="b"/>
            <a:pathLst>
              <a:path w="2117725" h="251460">
                <a:moveTo>
                  <a:pt x="0" y="0"/>
                </a:moveTo>
                <a:lnTo>
                  <a:pt x="2117598" y="25146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620000" y="3505200"/>
            <a:ext cx="383540" cy="1029335"/>
          </a:xfrm>
          <a:custGeom>
            <a:avLst/>
            <a:gdLst/>
            <a:ahLst/>
            <a:cxnLst/>
            <a:rect l="l" t="t" r="r" b="b"/>
            <a:pathLst>
              <a:path w="383540" h="1029335">
                <a:moveTo>
                  <a:pt x="383540" y="1029081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638800" y="4572000"/>
            <a:ext cx="2286000" cy="22860"/>
          </a:xfrm>
          <a:custGeom>
            <a:avLst/>
            <a:gdLst/>
            <a:ahLst/>
            <a:cxnLst/>
            <a:rect l="l" t="t" r="r" b="b"/>
            <a:pathLst>
              <a:path w="2286000" h="22860">
                <a:moveTo>
                  <a:pt x="0" y="22860"/>
                </a:moveTo>
                <a:lnTo>
                  <a:pt x="228600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848600" y="3598545"/>
            <a:ext cx="612775" cy="317500"/>
          </a:xfrm>
          <a:custGeom>
            <a:avLst/>
            <a:gdLst/>
            <a:ahLst/>
            <a:cxnLst/>
            <a:rect l="l" t="t" r="r" b="b"/>
            <a:pathLst>
              <a:path w="612775" h="317500">
                <a:moveTo>
                  <a:pt x="60071" y="223773"/>
                </a:moveTo>
                <a:lnTo>
                  <a:pt x="56133" y="224662"/>
                </a:lnTo>
                <a:lnTo>
                  <a:pt x="0" y="310514"/>
                </a:lnTo>
                <a:lnTo>
                  <a:pt x="102361" y="317118"/>
                </a:lnTo>
                <a:lnTo>
                  <a:pt x="105409" y="314451"/>
                </a:lnTo>
                <a:lnTo>
                  <a:pt x="105664" y="311022"/>
                </a:lnTo>
                <a:lnTo>
                  <a:pt x="105682" y="310514"/>
                </a:lnTo>
                <a:lnTo>
                  <a:pt x="14097" y="310514"/>
                </a:lnTo>
                <a:lnTo>
                  <a:pt x="8381" y="299211"/>
                </a:lnTo>
                <a:lnTo>
                  <a:pt x="29392" y="288706"/>
                </a:lnTo>
                <a:lnTo>
                  <a:pt x="66801" y="231647"/>
                </a:lnTo>
                <a:lnTo>
                  <a:pt x="65913" y="227710"/>
                </a:lnTo>
                <a:lnTo>
                  <a:pt x="62992" y="225678"/>
                </a:lnTo>
                <a:lnTo>
                  <a:pt x="60071" y="223773"/>
                </a:lnTo>
                <a:close/>
              </a:path>
              <a:path w="612775" h="317500">
                <a:moveTo>
                  <a:pt x="29392" y="288706"/>
                </a:moveTo>
                <a:lnTo>
                  <a:pt x="8381" y="299211"/>
                </a:lnTo>
                <a:lnTo>
                  <a:pt x="14097" y="310514"/>
                </a:lnTo>
                <a:lnTo>
                  <a:pt x="18415" y="308355"/>
                </a:lnTo>
                <a:lnTo>
                  <a:pt x="16509" y="308355"/>
                </a:lnTo>
                <a:lnTo>
                  <a:pt x="11683" y="298576"/>
                </a:lnTo>
                <a:lnTo>
                  <a:pt x="22921" y="298576"/>
                </a:lnTo>
                <a:lnTo>
                  <a:pt x="29392" y="288706"/>
                </a:lnTo>
                <a:close/>
              </a:path>
              <a:path w="612775" h="317500">
                <a:moveTo>
                  <a:pt x="34955" y="300088"/>
                </a:moveTo>
                <a:lnTo>
                  <a:pt x="14097" y="310514"/>
                </a:lnTo>
                <a:lnTo>
                  <a:pt x="105682" y="310514"/>
                </a:lnTo>
                <a:lnTo>
                  <a:pt x="105791" y="307466"/>
                </a:lnTo>
                <a:lnTo>
                  <a:pt x="103124" y="304418"/>
                </a:lnTo>
                <a:lnTo>
                  <a:pt x="99695" y="304291"/>
                </a:lnTo>
                <a:lnTo>
                  <a:pt x="34955" y="300088"/>
                </a:lnTo>
                <a:close/>
              </a:path>
              <a:path w="612775" h="317500">
                <a:moveTo>
                  <a:pt x="11683" y="298576"/>
                </a:moveTo>
                <a:lnTo>
                  <a:pt x="16509" y="308355"/>
                </a:lnTo>
                <a:lnTo>
                  <a:pt x="22462" y="299276"/>
                </a:lnTo>
                <a:lnTo>
                  <a:pt x="11683" y="298576"/>
                </a:lnTo>
                <a:close/>
              </a:path>
              <a:path w="612775" h="317500">
                <a:moveTo>
                  <a:pt x="22462" y="299276"/>
                </a:moveTo>
                <a:lnTo>
                  <a:pt x="16509" y="308355"/>
                </a:lnTo>
                <a:lnTo>
                  <a:pt x="18415" y="308355"/>
                </a:lnTo>
                <a:lnTo>
                  <a:pt x="34955" y="300088"/>
                </a:lnTo>
                <a:lnTo>
                  <a:pt x="22462" y="299276"/>
                </a:lnTo>
                <a:close/>
              </a:path>
              <a:path w="612775" h="317500">
                <a:moveTo>
                  <a:pt x="606805" y="0"/>
                </a:moveTo>
                <a:lnTo>
                  <a:pt x="29392" y="288706"/>
                </a:lnTo>
                <a:lnTo>
                  <a:pt x="22462" y="299276"/>
                </a:lnTo>
                <a:lnTo>
                  <a:pt x="34955" y="300088"/>
                </a:lnTo>
                <a:lnTo>
                  <a:pt x="612394" y="11429"/>
                </a:lnTo>
                <a:lnTo>
                  <a:pt x="606805" y="0"/>
                </a:lnTo>
                <a:close/>
              </a:path>
              <a:path w="612775" h="317500">
                <a:moveTo>
                  <a:pt x="22921" y="298576"/>
                </a:moveTo>
                <a:lnTo>
                  <a:pt x="11683" y="298576"/>
                </a:lnTo>
                <a:lnTo>
                  <a:pt x="22462" y="299276"/>
                </a:lnTo>
                <a:lnTo>
                  <a:pt x="22921" y="298576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902447" y="4354829"/>
            <a:ext cx="424180" cy="6350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34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3</a:t>
            </a:r>
            <a:endParaRPr sz="1800" baseline="-20833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240"/>
              </a:spcBef>
            </a:pPr>
            <a:r>
              <a:rPr sz="1800" spc="-5" dirty="0">
                <a:latin typeface="Calibri"/>
                <a:cs typeface="Calibri"/>
              </a:rPr>
              <a:t>t=1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537833" y="3413137"/>
            <a:ext cx="2456180" cy="1150620"/>
          </a:xfrm>
          <a:custGeom>
            <a:avLst/>
            <a:gdLst/>
            <a:ahLst/>
            <a:cxnLst/>
            <a:rect l="l" t="t" r="r" b="b"/>
            <a:pathLst>
              <a:path w="2456179" h="1150620">
                <a:moveTo>
                  <a:pt x="100966" y="1133462"/>
                </a:moveTo>
                <a:lnTo>
                  <a:pt x="89937" y="1073632"/>
                </a:lnTo>
                <a:lnTo>
                  <a:pt x="79025" y="1013978"/>
                </a:lnTo>
                <a:lnTo>
                  <a:pt x="68348" y="954678"/>
                </a:lnTo>
                <a:lnTo>
                  <a:pt x="58023" y="895907"/>
                </a:lnTo>
                <a:lnTo>
                  <a:pt x="48168" y="837843"/>
                </a:lnTo>
                <a:lnTo>
                  <a:pt x="38901" y="780660"/>
                </a:lnTo>
                <a:lnTo>
                  <a:pt x="30338" y="724537"/>
                </a:lnTo>
                <a:lnTo>
                  <a:pt x="22598" y="669650"/>
                </a:lnTo>
                <a:lnTo>
                  <a:pt x="15797" y="616175"/>
                </a:lnTo>
                <a:lnTo>
                  <a:pt x="10053" y="564288"/>
                </a:lnTo>
                <a:lnTo>
                  <a:pt x="5484" y="514167"/>
                </a:lnTo>
                <a:lnTo>
                  <a:pt x="2207" y="465987"/>
                </a:lnTo>
                <a:lnTo>
                  <a:pt x="340" y="419926"/>
                </a:lnTo>
                <a:lnTo>
                  <a:pt x="0" y="376159"/>
                </a:lnTo>
                <a:lnTo>
                  <a:pt x="1304" y="334864"/>
                </a:lnTo>
                <a:lnTo>
                  <a:pt x="4370" y="296216"/>
                </a:lnTo>
                <a:lnTo>
                  <a:pt x="16257" y="227571"/>
                </a:lnTo>
                <a:lnTo>
                  <a:pt x="28981" y="179435"/>
                </a:lnTo>
                <a:lnTo>
                  <a:pt x="41869" y="137325"/>
                </a:lnTo>
                <a:lnTo>
                  <a:pt x="56277" y="101106"/>
                </a:lnTo>
                <a:lnTo>
                  <a:pt x="95074" y="45804"/>
                </a:lnTo>
                <a:lnTo>
                  <a:pt x="156212" y="12459"/>
                </a:lnTo>
                <a:lnTo>
                  <a:pt x="198546" y="3686"/>
                </a:lnTo>
                <a:lnTo>
                  <a:pt x="250532" y="0"/>
                </a:lnTo>
                <a:lnTo>
                  <a:pt x="313523" y="1266"/>
                </a:lnTo>
                <a:lnTo>
                  <a:pt x="388875" y="7353"/>
                </a:lnTo>
                <a:lnTo>
                  <a:pt x="455311" y="15827"/>
                </a:lnTo>
                <a:lnTo>
                  <a:pt x="492963" y="21684"/>
                </a:lnTo>
                <a:lnTo>
                  <a:pt x="533287" y="28559"/>
                </a:lnTo>
                <a:lnTo>
                  <a:pt x="576069" y="36407"/>
                </a:lnTo>
                <a:lnTo>
                  <a:pt x="621094" y="45180"/>
                </a:lnTo>
                <a:lnTo>
                  <a:pt x="668151" y="54834"/>
                </a:lnTo>
                <a:lnTo>
                  <a:pt x="717024" y="65321"/>
                </a:lnTo>
                <a:lnTo>
                  <a:pt x="767501" y="76597"/>
                </a:lnTo>
                <a:lnTo>
                  <a:pt x="819368" y="88614"/>
                </a:lnTo>
                <a:lnTo>
                  <a:pt x="872411" y="101327"/>
                </a:lnTo>
                <a:lnTo>
                  <a:pt x="926416" y="114689"/>
                </a:lnTo>
                <a:lnTo>
                  <a:pt x="981171" y="128655"/>
                </a:lnTo>
                <a:lnTo>
                  <a:pt x="1036462" y="143178"/>
                </a:lnTo>
                <a:lnTo>
                  <a:pt x="1092074" y="158213"/>
                </a:lnTo>
                <a:lnTo>
                  <a:pt x="1147795" y="173713"/>
                </a:lnTo>
                <a:lnTo>
                  <a:pt x="1203411" y="189632"/>
                </a:lnTo>
                <a:lnTo>
                  <a:pt x="1258707" y="205924"/>
                </a:lnTo>
                <a:lnTo>
                  <a:pt x="1313472" y="222543"/>
                </a:lnTo>
                <a:lnTo>
                  <a:pt x="1367490" y="239443"/>
                </a:lnTo>
                <a:lnTo>
                  <a:pt x="1420549" y="256578"/>
                </a:lnTo>
                <a:lnTo>
                  <a:pt x="1472435" y="273901"/>
                </a:lnTo>
                <a:lnTo>
                  <a:pt x="1522934" y="291367"/>
                </a:lnTo>
                <a:lnTo>
                  <a:pt x="1571832" y="308930"/>
                </a:lnTo>
                <a:lnTo>
                  <a:pt x="1618917" y="326543"/>
                </a:lnTo>
                <a:lnTo>
                  <a:pt x="1663975" y="344161"/>
                </a:lnTo>
                <a:lnTo>
                  <a:pt x="1706791" y="361736"/>
                </a:lnTo>
                <a:lnTo>
                  <a:pt x="1747152" y="379224"/>
                </a:lnTo>
                <a:lnTo>
                  <a:pt x="1784846" y="396579"/>
                </a:lnTo>
                <a:lnTo>
                  <a:pt x="1819657" y="413753"/>
                </a:lnTo>
                <a:lnTo>
                  <a:pt x="1876369" y="445419"/>
                </a:lnTo>
                <a:lnTo>
                  <a:pt x="1929076" y="479843"/>
                </a:lnTo>
                <a:lnTo>
                  <a:pt x="1977997" y="516588"/>
                </a:lnTo>
                <a:lnTo>
                  <a:pt x="2023349" y="555222"/>
                </a:lnTo>
                <a:lnTo>
                  <a:pt x="2065348" y="595311"/>
                </a:lnTo>
                <a:lnTo>
                  <a:pt x="2104212" y="636420"/>
                </a:lnTo>
                <a:lnTo>
                  <a:pt x="2140159" y="678115"/>
                </a:lnTo>
                <a:lnTo>
                  <a:pt x="2173406" y="719964"/>
                </a:lnTo>
                <a:lnTo>
                  <a:pt x="2204169" y="761531"/>
                </a:lnTo>
                <a:lnTo>
                  <a:pt x="2232667" y="802382"/>
                </a:lnTo>
                <a:lnTo>
                  <a:pt x="2259117" y="842085"/>
                </a:lnTo>
                <a:lnTo>
                  <a:pt x="2283735" y="880204"/>
                </a:lnTo>
                <a:lnTo>
                  <a:pt x="2306740" y="916306"/>
                </a:lnTo>
                <a:lnTo>
                  <a:pt x="2328348" y="949956"/>
                </a:lnTo>
                <a:lnTo>
                  <a:pt x="2348777" y="980722"/>
                </a:lnTo>
                <a:lnTo>
                  <a:pt x="2368244" y="1008168"/>
                </a:lnTo>
                <a:lnTo>
                  <a:pt x="2386966" y="1031862"/>
                </a:lnTo>
                <a:lnTo>
                  <a:pt x="2440274" y="1102186"/>
                </a:lnTo>
                <a:lnTo>
                  <a:pt x="2455768" y="1137161"/>
                </a:lnTo>
                <a:lnTo>
                  <a:pt x="2451689" y="1149109"/>
                </a:lnTo>
                <a:lnTo>
                  <a:pt x="2446275" y="1150353"/>
                </a:lnTo>
              </a:path>
            </a:pathLst>
          </a:custGeom>
          <a:ln w="952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641847" y="5200650"/>
            <a:ext cx="2878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P1 </a:t>
            </a:r>
            <a:r>
              <a:rPr sz="1800" spc="-5" dirty="0">
                <a:latin typeface="Calibri"/>
                <a:cs typeface="Calibri"/>
              </a:rPr>
              <a:t>moved </a:t>
            </a:r>
            <a:r>
              <a:rPr sz="1800" dirty="0">
                <a:latin typeface="Calibri"/>
                <a:cs typeface="Calibri"/>
              </a:rPr>
              <a:t>then </a:t>
            </a:r>
            <a:r>
              <a:rPr sz="1800" spc="-5" dirty="0">
                <a:latin typeface="Calibri"/>
                <a:cs typeface="Calibri"/>
              </a:rPr>
              <a:t>shape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changed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679" y="0"/>
            <a:ext cx="285813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latin typeface="Calibri"/>
                <a:cs typeface="Calibri"/>
              </a:rPr>
              <a:t>Bezier</a:t>
            </a:r>
            <a:r>
              <a:rPr sz="4000" b="1" spc="-80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Curves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26300" y="444500"/>
            <a:ext cx="117601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2900" y="1968500"/>
            <a:ext cx="117601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11847" y="323341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02247" y="1740916"/>
            <a:ext cx="424180" cy="6350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40"/>
              </a:spcBef>
            </a:pPr>
            <a:r>
              <a:rPr sz="1800" spc="-5" dirty="0">
                <a:latin typeface="Calibri"/>
                <a:cs typeface="Calibri"/>
              </a:rPr>
              <a:t>t=0</a:t>
            </a:r>
            <a:endParaRPr sz="1800">
              <a:latin typeface="Calibri"/>
              <a:cs typeface="Calibri"/>
            </a:endParaRPr>
          </a:p>
          <a:p>
            <a:pPr marL="190500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0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27397" y="1456689"/>
            <a:ext cx="0" cy="4720590"/>
          </a:xfrm>
          <a:custGeom>
            <a:avLst/>
            <a:gdLst/>
            <a:ahLst/>
            <a:cxnLst/>
            <a:rect l="l" t="t" r="r" b="b"/>
            <a:pathLst>
              <a:path h="4720590">
                <a:moveTo>
                  <a:pt x="0" y="0"/>
                </a:moveTo>
                <a:lnTo>
                  <a:pt x="0" y="4720272"/>
                </a:lnTo>
              </a:path>
            </a:pathLst>
          </a:custGeom>
          <a:ln w="11049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4800" y="533361"/>
            <a:ext cx="4267200" cy="923925"/>
          </a:xfrm>
          <a:custGeom>
            <a:avLst/>
            <a:gdLst/>
            <a:ahLst/>
            <a:cxnLst/>
            <a:rect l="l" t="t" r="r" b="b"/>
            <a:pathLst>
              <a:path w="4267200" h="923925">
                <a:moveTo>
                  <a:pt x="0" y="923328"/>
                </a:moveTo>
                <a:lnTo>
                  <a:pt x="4267200" y="923328"/>
                </a:lnTo>
                <a:lnTo>
                  <a:pt x="4267200" y="0"/>
                </a:lnTo>
                <a:lnTo>
                  <a:pt x="0" y="0"/>
                </a:lnTo>
                <a:lnTo>
                  <a:pt x="0" y="923328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58140" y="551941"/>
            <a:ext cx="40976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Let consider </a:t>
            </a:r>
            <a:r>
              <a:rPr sz="1800" dirty="0">
                <a:latin typeface="Calibri"/>
                <a:cs typeface="Calibri"/>
              </a:rPr>
              <a:t>2 </a:t>
            </a:r>
            <a:r>
              <a:rPr sz="1800" spc="-15" dirty="0">
                <a:latin typeface="Calibri"/>
                <a:cs typeface="Calibri"/>
              </a:rPr>
              <a:t>control </a:t>
            </a:r>
            <a:r>
              <a:rPr sz="1800" spc="-5" dirty="0">
                <a:latin typeface="Calibri"/>
                <a:cs typeface="Calibri"/>
              </a:rPr>
              <a:t>points </a:t>
            </a:r>
            <a:r>
              <a:rPr sz="1800" spc="10" dirty="0">
                <a:latin typeface="Calibri"/>
                <a:cs typeface="Calibri"/>
              </a:rPr>
              <a:t>P</a:t>
            </a:r>
            <a:r>
              <a:rPr sz="1800" spc="15" baseline="-20833" dirty="0">
                <a:latin typeface="Calibri"/>
                <a:cs typeface="Calibri"/>
              </a:rPr>
              <a:t>0 </a:t>
            </a:r>
            <a:r>
              <a:rPr sz="1800" dirty="0">
                <a:latin typeface="Calibri"/>
                <a:cs typeface="Calibri"/>
              </a:rPr>
              <a:t>and P</a:t>
            </a:r>
            <a:r>
              <a:rPr sz="1800" baseline="-20833" dirty="0">
                <a:latin typeface="Calibri"/>
                <a:cs typeface="Calibri"/>
              </a:rPr>
              <a:t>1 </a:t>
            </a:r>
            <a:r>
              <a:rPr sz="1800" dirty="0">
                <a:latin typeface="Calibri"/>
                <a:cs typeface="Calibri"/>
              </a:rPr>
              <a:t>then  </a:t>
            </a:r>
            <a:r>
              <a:rPr sz="1800" spc="-10" dirty="0">
                <a:latin typeface="Calibri"/>
                <a:cs typeface="Calibri"/>
              </a:rPr>
              <a:t>Any point 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7" baseline="-20833" dirty="0">
                <a:latin typeface="Calibri"/>
                <a:cs typeface="Calibri"/>
              </a:rPr>
              <a:t>0 </a:t>
            </a:r>
            <a:r>
              <a:rPr sz="1800" spc="-10">
                <a:latin typeface="Calibri"/>
                <a:cs typeface="Calibri"/>
              </a:rPr>
              <a:t>between </a:t>
            </a:r>
            <a:r>
              <a:rPr sz="1800">
                <a:latin typeface="Calibri"/>
                <a:cs typeface="Calibri"/>
              </a:rPr>
              <a:t>P</a:t>
            </a:r>
            <a:r>
              <a:rPr lang="en-US" baseline="-20833" dirty="0">
                <a:latin typeface="Calibri"/>
                <a:cs typeface="Calibri"/>
              </a:rPr>
              <a:t>0</a:t>
            </a:r>
            <a:r>
              <a:rPr sz="1800" baseline="-20833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and</a:t>
            </a:r>
            <a:r>
              <a:rPr sz="1800" spc="-19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P</a:t>
            </a:r>
            <a:r>
              <a:rPr lang="en-US" baseline="-20833" dirty="0"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19061" y="548258"/>
            <a:ext cx="533400" cy="1449070"/>
          </a:xfrm>
          <a:custGeom>
            <a:avLst/>
            <a:gdLst/>
            <a:ahLst/>
            <a:cxnLst/>
            <a:rect l="l" t="t" r="r" b="b"/>
            <a:pathLst>
              <a:path w="533400" h="1449070">
                <a:moveTo>
                  <a:pt x="0" y="1448562"/>
                </a:moveTo>
                <a:lnTo>
                  <a:pt x="5334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60594" y="4133850"/>
            <a:ext cx="1279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Curve </a:t>
            </a:r>
            <a:r>
              <a:rPr sz="1800" b="1" spc="-10" dirty="0">
                <a:latin typeface="Calibri"/>
                <a:cs typeface="Calibri"/>
              </a:rPr>
              <a:t>at</a:t>
            </a:r>
            <a:r>
              <a:rPr sz="1800" b="1" spc="-9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t=x1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26428" y="3797300"/>
            <a:ext cx="117601" cy="1320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45300" y="1435100"/>
            <a:ext cx="117601" cy="1320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3400" y="1712976"/>
            <a:ext cx="2218944" cy="2194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81940" y="1847596"/>
            <a:ext cx="4007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Consider </a:t>
            </a:r>
            <a:r>
              <a:rPr sz="1800" dirty="0">
                <a:latin typeface="Calibri"/>
                <a:cs typeface="Calibri"/>
              </a:rPr>
              <a:t>3 </a:t>
            </a:r>
            <a:r>
              <a:rPr sz="1800" spc="-15" dirty="0">
                <a:latin typeface="Calibri"/>
                <a:cs typeface="Calibri"/>
              </a:rPr>
              <a:t>control </a:t>
            </a:r>
            <a:r>
              <a:rPr sz="1800" spc="-5" dirty="0">
                <a:latin typeface="Calibri"/>
                <a:cs typeface="Calibri"/>
              </a:rPr>
              <a:t>points </a:t>
            </a:r>
            <a:r>
              <a:rPr sz="1800" spc="5" dirty="0">
                <a:latin typeface="Calibri"/>
                <a:cs typeface="Calibri"/>
              </a:rPr>
              <a:t>P</a:t>
            </a:r>
            <a:r>
              <a:rPr sz="1800" spc="7" baseline="-20833" dirty="0">
                <a:latin typeface="Calibri"/>
                <a:cs typeface="Calibri"/>
              </a:rPr>
              <a:t>0 </a:t>
            </a:r>
            <a:r>
              <a:rPr sz="1800" dirty="0">
                <a:latin typeface="Calibri"/>
                <a:cs typeface="Calibri"/>
              </a:rPr>
              <a:t>and P</a:t>
            </a:r>
            <a:r>
              <a:rPr sz="1800" baseline="-20833" dirty="0">
                <a:latin typeface="Calibri"/>
                <a:cs typeface="Calibri"/>
              </a:rPr>
              <a:t>1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2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18967" y="2620264"/>
            <a:ext cx="1153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2355" algn="l"/>
              </a:tabLst>
            </a:pPr>
            <a:r>
              <a:rPr sz="1200" dirty="0">
                <a:latin typeface="Calibri"/>
                <a:cs typeface="Calibri"/>
              </a:rPr>
              <a:t>0  </a:t>
            </a:r>
            <a:r>
              <a:rPr sz="1200" spc="11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	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7340" y="2487676"/>
            <a:ext cx="4069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62910" algn="l"/>
              </a:tabLst>
            </a:pPr>
            <a:r>
              <a:rPr sz="1800" spc="-25" dirty="0">
                <a:latin typeface="Calibri"/>
                <a:cs typeface="Calibri"/>
              </a:rPr>
              <a:t>At </a:t>
            </a:r>
            <a:r>
              <a:rPr sz="1800" spc="-5" dirty="0">
                <a:latin typeface="Calibri"/>
                <a:cs typeface="Calibri"/>
              </a:rPr>
              <a:t>t=x, </a:t>
            </a:r>
            <a:r>
              <a:rPr sz="1800" spc="-10" dirty="0">
                <a:latin typeface="Calibri"/>
                <a:cs typeface="Calibri"/>
              </a:rPr>
              <a:t>calculated point </a:t>
            </a:r>
            <a:r>
              <a:rPr sz="1800" spc="2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20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	line is L ,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1940" y="2761996"/>
            <a:ext cx="4124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point</a:t>
            </a:r>
            <a:r>
              <a:rPr sz="1800" spc="1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2</a:t>
            </a:r>
            <a:r>
              <a:rPr sz="1800" spc="52" baseline="-20833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line</a:t>
            </a:r>
            <a:r>
              <a:rPr sz="1800" spc="1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1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</a:t>
            </a:r>
            <a:r>
              <a:rPr sz="1800" baseline="-20833" dirty="0">
                <a:latin typeface="Calibri"/>
                <a:cs typeface="Calibri"/>
              </a:rPr>
              <a:t>1</a:t>
            </a:r>
            <a:r>
              <a:rPr sz="1800" spc="52" baseline="-20833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</a:t>
            </a:r>
            <a:r>
              <a:rPr sz="1800" spc="1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point</a:t>
            </a:r>
            <a:r>
              <a:rPr sz="1800" spc="1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</a:t>
            </a:r>
            <a:r>
              <a:rPr sz="1800" spc="1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line</a:t>
            </a:r>
            <a:r>
              <a:rPr sz="1800" spc="1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1263" y="3168903"/>
            <a:ext cx="2616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8755" algn="l"/>
                <a:tab pos="1800860" algn="l"/>
                <a:tab pos="2526665" algn="l"/>
              </a:tabLst>
            </a:pPr>
            <a:r>
              <a:rPr sz="1200" dirty="0">
                <a:latin typeface="Calibri"/>
                <a:cs typeface="Calibri"/>
              </a:rPr>
              <a:t>0	0	1	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7340" y="3036315"/>
            <a:ext cx="4072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31695" algn="l"/>
              </a:tabLst>
            </a:pPr>
            <a:r>
              <a:rPr sz="1800" dirty="0">
                <a:latin typeface="Calibri"/>
                <a:cs typeface="Calibri"/>
              </a:rPr>
              <a:t>Q  .  The  </a:t>
            </a:r>
            <a:r>
              <a:rPr sz="1800" spc="-5" dirty="0">
                <a:latin typeface="Calibri"/>
                <a:cs typeface="Calibri"/>
              </a:rPr>
              <a:t>points  </a:t>
            </a:r>
            <a:r>
              <a:rPr sz="1800" dirty="0">
                <a:latin typeface="Calibri"/>
                <a:cs typeface="Calibri"/>
              </a:rPr>
              <a:t>L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	and L changed</a:t>
            </a:r>
            <a:r>
              <a:rPr sz="1800" spc="8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7340" y="3310635"/>
            <a:ext cx="40722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value</a:t>
            </a:r>
            <a:r>
              <a:rPr sz="1800" spc="254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t.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final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curve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follows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40" y="3584955"/>
            <a:ext cx="9061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point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</a:t>
            </a:r>
            <a:r>
              <a:rPr sz="1800" spc="-7" baseline="-20833" dirty="0">
                <a:latin typeface="Calibri"/>
                <a:cs typeface="Calibri"/>
              </a:rPr>
              <a:t>0</a:t>
            </a:r>
            <a:r>
              <a:rPr sz="1800" spc="-5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70647" y="247141"/>
            <a:ext cx="33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t=1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250941" y="2605658"/>
            <a:ext cx="1064895" cy="1280795"/>
          </a:xfrm>
          <a:custGeom>
            <a:avLst/>
            <a:gdLst/>
            <a:ahLst/>
            <a:cxnLst/>
            <a:rect l="l" t="t" r="r" b="b"/>
            <a:pathLst>
              <a:path w="1064895" h="1280795">
                <a:moveTo>
                  <a:pt x="0" y="0"/>
                </a:moveTo>
                <a:lnTo>
                  <a:pt x="1064387" y="12805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159628" y="2501900"/>
            <a:ext cx="117601" cy="1320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626228" y="4025900"/>
            <a:ext cx="117601" cy="1320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320794" y="4133850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0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63485" y="4057396"/>
            <a:ext cx="3308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t=0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652390" y="2605658"/>
            <a:ext cx="533400" cy="1449070"/>
          </a:xfrm>
          <a:custGeom>
            <a:avLst/>
            <a:gdLst/>
            <a:ahLst/>
            <a:cxnLst/>
            <a:rect l="l" t="t" r="r" b="b"/>
            <a:pathLst>
              <a:path w="533400" h="1449070">
                <a:moveTo>
                  <a:pt x="0" y="1448561"/>
                </a:moveTo>
                <a:lnTo>
                  <a:pt x="5334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778628" y="3492500"/>
            <a:ext cx="117601" cy="1320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540628" y="2959100"/>
            <a:ext cx="117601" cy="1320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594347" y="1237742"/>
            <a:ext cx="82232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198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7" baseline="-20833" dirty="0">
                <a:latin typeface="Calibri"/>
                <a:cs typeface="Calibri"/>
              </a:rPr>
              <a:t>0</a:t>
            </a:r>
            <a:endParaRPr sz="1800" baseline="-20833">
              <a:latin typeface="Calibri"/>
              <a:cs typeface="Calibri"/>
            </a:endParaRPr>
          </a:p>
          <a:p>
            <a:pPr marL="508000">
              <a:lnSpc>
                <a:spcPts val="1980"/>
              </a:lnSpc>
            </a:pPr>
            <a:r>
              <a:rPr sz="1800" spc="-5" dirty="0">
                <a:latin typeface="Calibri"/>
                <a:cs typeface="Calibri"/>
              </a:rPr>
              <a:t>t=x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99050" y="3447795"/>
            <a:ext cx="430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84850" y="2761996"/>
            <a:ext cx="430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883530" y="3025139"/>
            <a:ext cx="762000" cy="533400"/>
          </a:xfrm>
          <a:custGeom>
            <a:avLst/>
            <a:gdLst/>
            <a:ahLst/>
            <a:cxnLst/>
            <a:rect l="l" t="t" r="r" b="b"/>
            <a:pathLst>
              <a:path w="762000" h="533400">
                <a:moveTo>
                  <a:pt x="0" y="533400"/>
                </a:moveTo>
                <a:lnTo>
                  <a:pt x="7620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007228" y="3340100"/>
            <a:ext cx="117601" cy="1320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363211" y="3752595"/>
            <a:ext cx="430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369050" y="3676395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2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701032" y="4057396"/>
            <a:ext cx="3308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t=0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832350" y="2152396"/>
            <a:ext cx="92773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>
              <a:lnSpc>
                <a:spcPts val="198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t=1</a:t>
            </a:r>
            <a:endParaRPr sz="1800">
              <a:latin typeface="Calibri"/>
              <a:cs typeface="Calibri"/>
            </a:endParaRPr>
          </a:p>
          <a:p>
            <a:pPr marL="50800">
              <a:lnSpc>
                <a:spcPts val="1980"/>
              </a:lnSpc>
              <a:tabLst>
                <a:tab pos="583565" algn="l"/>
              </a:tabLst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1	</a:t>
            </a:r>
            <a:r>
              <a:rPr sz="1800" spc="-5" dirty="0">
                <a:latin typeface="Calibri"/>
                <a:cs typeface="Calibri"/>
              </a:rPr>
              <a:t>t=0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02832" y="3371595"/>
            <a:ext cx="33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t=0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835650" y="2914396"/>
            <a:ext cx="2495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7" baseline="-20833" dirty="0"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565650" y="3523995"/>
            <a:ext cx="121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661661" y="365658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997450" y="3075177"/>
            <a:ext cx="1797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Q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151373" y="320802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02919" y="2218352"/>
            <a:ext cx="2261152" cy="22368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723510" y="3426311"/>
            <a:ext cx="1541145" cy="671830"/>
          </a:xfrm>
          <a:custGeom>
            <a:avLst/>
            <a:gdLst/>
            <a:ahLst/>
            <a:cxnLst/>
            <a:rect l="l" t="t" r="r" b="b"/>
            <a:pathLst>
              <a:path w="1541145" h="671829">
                <a:moveTo>
                  <a:pt x="0" y="671597"/>
                </a:moveTo>
                <a:lnTo>
                  <a:pt x="9684" y="619194"/>
                </a:lnTo>
                <a:lnTo>
                  <a:pt x="19572" y="567073"/>
                </a:lnTo>
                <a:lnTo>
                  <a:pt x="29867" y="515519"/>
                </a:lnTo>
                <a:lnTo>
                  <a:pt x="40775" y="464814"/>
                </a:lnTo>
                <a:lnTo>
                  <a:pt x="52501" y="415241"/>
                </a:lnTo>
                <a:lnTo>
                  <a:pt x="65249" y="367084"/>
                </a:lnTo>
                <a:lnTo>
                  <a:pt x="79225" y="320626"/>
                </a:lnTo>
                <a:lnTo>
                  <a:pt x="94634" y="276150"/>
                </a:lnTo>
                <a:lnTo>
                  <a:pt x="111680" y="233940"/>
                </a:lnTo>
                <a:lnTo>
                  <a:pt x="130569" y="194277"/>
                </a:lnTo>
                <a:lnTo>
                  <a:pt x="151506" y="157446"/>
                </a:lnTo>
                <a:lnTo>
                  <a:pt x="174695" y="123729"/>
                </a:lnTo>
                <a:lnTo>
                  <a:pt x="200342" y="93410"/>
                </a:lnTo>
                <a:lnTo>
                  <a:pt x="228652" y="66771"/>
                </a:lnTo>
                <a:lnTo>
                  <a:pt x="259829" y="44097"/>
                </a:lnTo>
                <a:lnTo>
                  <a:pt x="294079" y="25670"/>
                </a:lnTo>
                <a:lnTo>
                  <a:pt x="331607" y="11772"/>
                </a:lnTo>
                <a:lnTo>
                  <a:pt x="372617" y="2688"/>
                </a:lnTo>
                <a:lnTo>
                  <a:pt x="405617" y="0"/>
                </a:lnTo>
                <a:lnTo>
                  <a:pt x="442727" y="1217"/>
                </a:lnTo>
                <a:lnTo>
                  <a:pt x="483562" y="6048"/>
                </a:lnTo>
                <a:lnTo>
                  <a:pt x="527733" y="14201"/>
                </a:lnTo>
                <a:lnTo>
                  <a:pt x="574854" y="25382"/>
                </a:lnTo>
                <a:lnTo>
                  <a:pt x="624539" y="39299"/>
                </a:lnTo>
                <a:lnTo>
                  <a:pt x="676400" y="55660"/>
                </a:lnTo>
                <a:lnTo>
                  <a:pt x="730050" y="74172"/>
                </a:lnTo>
                <a:lnTo>
                  <a:pt x="785103" y="94542"/>
                </a:lnTo>
                <a:lnTo>
                  <a:pt x="841172" y="116478"/>
                </a:lnTo>
                <a:lnTo>
                  <a:pt x="897870" y="139688"/>
                </a:lnTo>
                <a:lnTo>
                  <a:pt x="954810" y="163878"/>
                </a:lnTo>
                <a:lnTo>
                  <a:pt x="1011604" y="188757"/>
                </a:lnTo>
                <a:lnTo>
                  <a:pt x="1067868" y="214031"/>
                </a:lnTo>
                <a:lnTo>
                  <a:pt x="1123212" y="239408"/>
                </a:lnTo>
                <a:lnTo>
                  <a:pt x="1177251" y="264596"/>
                </a:lnTo>
                <a:lnTo>
                  <a:pt x="1229597" y="289302"/>
                </a:lnTo>
                <a:lnTo>
                  <a:pt x="1279864" y="313233"/>
                </a:lnTo>
                <a:lnTo>
                  <a:pt x="1327665" y="336097"/>
                </a:lnTo>
                <a:lnTo>
                  <a:pt x="1372613" y="357602"/>
                </a:lnTo>
                <a:lnTo>
                  <a:pt x="1414322" y="377454"/>
                </a:lnTo>
                <a:lnTo>
                  <a:pt x="1452403" y="395361"/>
                </a:lnTo>
                <a:lnTo>
                  <a:pt x="1486471" y="411031"/>
                </a:lnTo>
                <a:lnTo>
                  <a:pt x="1516138" y="424171"/>
                </a:lnTo>
                <a:lnTo>
                  <a:pt x="1541017" y="434488"/>
                </a:lnTo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673210" y="3721100"/>
            <a:ext cx="117729" cy="13208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697851" y="2529458"/>
            <a:ext cx="1064260" cy="1280795"/>
          </a:xfrm>
          <a:custGeom>
            <a:avLst/>
            <a:gdLst/>
            <a:ahLst/>
            <a:cxnLst/>
            <a:rect l="l" t="t" r="r" b="b"/>
            <a:pathLst>
              <a:path w="1064259" h="1280795">
                <a:moveTo>
                  <a:pt x="0" y="0"/>
                </a:moveTo>
                <a:lnTo>
                  <a:pt x="1064259" y="12805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606410" y="2425700"/>
            <a:ext cx="117729" cy="1320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073010" y="3949700"/>
            <a:ext cx="117729" cy="13208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571485" y="2152396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758685" y="3828795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0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099300" y="2529458"/>
            <a:ext cx="533400" cy="1449070"/>
          </a:xfrm>
          <a:custGeom>
            <a:avLst/>
            <a:gdLst/>
            <a:ahLst/>
            <a:cxnLst/>
            <a:rect l="l" t="t" r="r" b="b"/>
            <a:pathLst>
              <a:path w="533400" h="1449070">
                <a:moveTo>
                  <a:pt x="0" y="1448561"/>
                </a:moveTo>
                <a:lnTo>
                  <a:pt x="5334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428610" y="2959100"/>
            <a:ext cx="117729" cy="13207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343010" y="3340100"/>
            <a:ext cx="117729" cy="13207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7749285" y="3295396"/>
            <a:ext cx="430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520051" y="3062858"/>
            <a:ext cx="849630" cy="306070"/>
          </a:xfrm>
          <a:custGeom>
            <a:avLst/>
            <a:gdLst/>
            <a:ahLst/>
            <a:cxnLst/>
            <a:rect l="l" t="t" r="r" b="b"/>
            <a:pathLst>
              <a:path w="849629" h="306070">
                <a:moveTo>
                  <a:pt x="0" y="0"/>
                </a:moveTo>
                <a:lnTo>
                  <a:pt x="849249" y="30556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962010" y="3187700"/>
            <a:ext cx="117729" cy="13207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8562085" y="3264916"/>
            <a:ext cx="525780" cy="8636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40"/>
              </a:spcBef>
            </a:pPr>
            <a:r>
              <a:rPr sz="1800" spc="-5" dirty="0">
                <a:latin typeface="Calibri"/>
                <a:cs typeface="Calibri"/>
              </a:rPr>
              <a:t>t=x2</a:t>
            </a:r>
            <a:endParaRPr sz="1800">
              <a:latin typeface="Calibri"/>
              <a:cs typeface="Calibri"/>
            </a:endParaRPr>
          </a:p>
          <a:p>
            <a:pPr marL="292100">
              <a:lnSpc>
                <a:spcPts val="1980"/>
              </a:lnSpc>
              <a:spcBef>
                <a:spcPts val="24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2</a:t>
            </a:r>
            <a:endParaRPr sz="1800" baseline="-20833">
              <a:latin typeface="Calibri"/>
              <a:cs typeface="Calibri"/>
            </a:endParaRPr>
          </a:p>
          <a:p>
            <a:pPr marL="153670">
              <a:lnSpc>
                <a:spcPts val="1980"/>
              </a:lnSpc>
            </a:pPr>
            <a:r>
              <a:rPr sz="1800" spc="-5" dirty="0">
                <a:latin typeface="Calibri"/>
                <a:cs typeface="Calibri"/>
              </a:rPr>
              <a:t>t=1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587485" y="3066796"/>
            <a:ext cx="121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683497" y="319938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949185" y="2198116"/>
            <a:ext cx="125793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marR="30480">
              <a:lnSpc>
                <a:spcPct val="138900"/>
              </a:lnSpc>
              <a:spcBef>
                <a:spcPts val="100"/>
              </a:spcBef>
              <a:tabLst>
                <a:tab pos="913765" algn="l"/>
              </a:tabLst>
            </a:pPr>
            <a:r>
              <a:rPr sz="1800" spc="-5" dirty="0">
                <a:latin typeface="Calibri"/>
                <a:cs typeface="Calibri"/>
              </a:rPr>
              <a:t>t=</a:t>
            </a:r>
            <a:r>
              <a:rPr sz="1800" dirty="0">
                <a:latin typeface="Calibri"/>
                <a:cs typeface="Calibri"/>
              </a:rPr>
              <a:t>1	</a:t>
            </a:r>
            <a:r>
              <a:rPr sz="1800" spc="-5" dirty="0">
                <a:latin typeface="Calibri"/>
                <a:cs typeface="Calibri"/>
              </a:rPr>
              <a:t>t=0  L</a:t>
            </a:r>
            <a:r>
              <a:rPr sz="1800" spc="-7" baseline="-20833" dirty="0">
                <a:latin typeface="Calibri"/>
                <a:cs typeface="Calibri"/>
              </a:rPr>
              <a:t>0</a:t>
            </a:r>
            <a:endParaRPr sz="1800" baseline="-20833">
              <a:latin typeface="Calibri"/>
              <a:cs typeface="Calibri"/>
            </a:endParaRPr>
          </a:p>
          <a:p>
            <a:pPr marL="50800">
              <a:lnSpc>
                <a:spcPts val="1800"/>
              </a:lnSpc>
            </a:pPr>
            <a:r>
              <a:rPr sz="1800" spc="-5" dirty="0">
                <a:latin typeface="Calibri"/>
                <a:cs typeface="Calibri"/>
              </a:rPr>
              <a:t>t=x2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7077329" y="3258842"/>
            <a:ext cx="1591945" cy="737870"/>
          </a:xfrm>
          <a:custGeom>
            <a:avLst/>
            <a:gdLst/>
            <a:ahLst/>
            <a:cxnLst/>
            <a:rect l="l" t="t" r="r" b="b"/>
            <a:pathLst>
              <a:path w="1591945" h="737870">
                <a:moveTo>
                  <a:pt x="0" y="737465"/>
                </a:moveTo>
                <a:lnTo>
                  <a:pt x="38970" y="693388"/>
                </a:lnTo>
                <a:lnTo>
                  <a:pt x="77921" y="649450"/>
                </a:lnTo>
                <a:lnTo>
                  <a:pt x="116834" y="605792"/>
                </a:lnTo>
                <a:lnTo>
                  <a:pt x="155686" y="562552"/>
                </a:lnTo>
                <a:lnTo>
                  <a:pt x="194459" y="519872"/>
                </a:lnTo>
                <a:lnTo>
                  <a:pt x="233132" y="477889"/>
                </a:lnTo>
                <a:lnTo>
                  <a:pt x="271684" y="436745"/>
                </a:lnTo>
                <a:lnTo>
                  <a:pt x="310096" y="396579"/>
                </a:lnTo>
                <a:lnTo>
                  <a:pt x="348347" y="357530"/>
                </a:lnTo>
                <a:lnTo>
                  <a:pt x="386416" y="319738"/>
                </a:lnTo>
                <a:lnTo>
                  <a:pt x="424284" y="283342"/>
                </a:lnTo>
                <a:lnTo>
                  <a:pt x="461930" y="248484"/>
                </a:lnTo>
                <a:lnTo>
                  <a:pt x="499334" y="215301"/>
                </a:lnTo>
                <a:lnTo>
                  <a:pt x="536476" y="183934"/>
                </a:lnTo>
                <a:lnTo>
                  <a:pt x="573335" y="154523"/>
                </a:lnTo>
                <a:lnTo>
                  <a:pt x="609891" y="127207"/>
                </a:lnTo>
                <a:lnTo>
                  <a:pt x="646124" y="102126"/>
                </a:lnTo>
                <a:lnTo>
                  <a:pt x="682013" y="79419"/>
                </a:lnTo>
                <a:lnTo>
                  <a:pt x="717539" y="59226"/>
                </a:lnTo>
                <a:lnTo>
                  <a:pt x="752680" y="41688"/>
                </a:lnTo>
                <a:lnTo>
                  <a:pt x="821730" y="15131"/>
                </a:lnTo>
                <a:lnTo>
                  <a:pt x="889000" y="865"/>
                </a:lnTo>
                <a:lnTo>
                  <a:pt x="929236" y="0"/>
                </a:lnTo>
                <a:lnTo>
                  <a:pt x="970212" y="6275"/>
                </a:lnTo>
                <a:lnTo>
                  <a:pt x="1011715" y="18999"/>
                </a:lnTo>
                <a:lnTo>
                  <a:pt x="1053532" y="37479"/>
                </a:lnTo>
                <a:lnTo>
                  <a:pt x="1095450" y="61024"/>
                </a:lnTo>
                <a:lnTo>
                  <a:pt x="1137257" y="88940"/>
                </a:lnTo>
                <a:lnTo>
                  <a:pt x="1178739" y="120537"/>
                </a:lnTo>
                <a:lnTo>
                  <a:pt x="1219685" y="155121"/>
                </a:lnTo>
                <a:lnTo>
                  <a:pt x="1259881" y="192000"/>
                </a:lnTo>
                <a:lnTo>
                  <a:pt x="1299114" y="230481"/>
                </a:lnTo>
                <a:lnTo>
                  <a:pt x="1337172" y="269874"/>
                </a:lnTo>
                <a:lnTo>
                  <a:pt x="1373842" y="309485"/>
                </a:lnTo>
                <a:lnTo>
                  <a:pt x="1408911" y="348621"/>
                </a:lnTo>
                <a:lnTo>
                  <a:pt x="1442166" y="386592"/>
                </a:lnTo>
                <a:lnTo>
                  <a:pt x="1473394" y="422704"/>
                </a:lnTo>
                <a:lnTo>
                  <a:pt x="1502383" y="456265"/>
                </a:lnTo>
                <a:lnTo>
                  <a:pt x="1528920" y="486583"/>
                </a:lnTo>
                <a:lnTo>
                  <a:pt x="1552792" y="512966"/>
                </a:lnTo>
                <a:lnTo>
                  <a:pt x="1573787" y="534721"/>
                </a:lnTo>
                <a:lnTo>
                  <a:pt x="1591691" y="551156"/>
                </a:lnTo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7623047" y="4133850"/>
            <a:ext cx="1279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Curve </a:t>
            </a:r>
            <a:r>
              <a:rPr sz="1800" b="1" spc="-10" dirty="0">
                <a:latin typeface="Calibri"/>
                <a:cs typeface="Calibri"/>
              </a:rPr>
              <a:t>at</a:t>
            </a:r>
            <a:r>
              <a:rPr sz="1800" b="1" spc="-9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t=x2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825485" y="2897378"/>
            <a:ext cx="179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Q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979409" y="302996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304800" y="4288045"/>
            <a:ext cx="2514600" cy="18704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04800" y="4574032"/>
            <a:ext cx="3943395" cy="16459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04800" y="4821260"/>
            <a:ext cx="3332103" cy="19664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59321" y="5510784"/>
            <a:ext cx="2865120" cy="21945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59321" y="5885688"/>
            <a:ext cx="4115558" cy="17373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60197" y="5124450"/>
            <a:ext cx="34658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For </a:t>
            </a:r>
            <a:r>
              <a:rPr sz="1800" dirty="0">
                <a:latin typeface="Calibri"/>
                <a:cs typeface="Calibri"/>
              </a:rPr>
              <a:t>4 </a:t>
            </a:r>
            <a:r>
              <a:rPr sz="1800" spc="-15" dirty="0">
                <a:latin typeface="Calibri"/>
                <a:cs typeface="Calibri"/>
              </a:rPr>
              <a:t>control </a:t>
            </a:r>
            <a:r>
              <a:rPr sz="1800" spc="-5" dirty="0">
                <a:latin typeface="Calibri"/>
                <a:cs typeface="Calibri"/>
              </a:rPr>
              <a:t>points </a:t>
            </a:r>
            <a:r>
              <a:rPr sz="1800" spc="5" dirty="0">
                <a:latin typeface="Calibri"/>
                <a:cs typeface="Calibri"/>
              </a:rPr>
              <a:t>P</a:t>
            </a:r>
            <a:r>
              <a:rPr sz="1800" spc="7" baseline="-20833" dirty="0">
                <a:latin typeface="Calibri"/>
                <a:cs typeface="Calibri"/>
              </a:rPr>
              <a:t>0 </a:t>
            </a:r>
            <a:r>
              <a:rPr sz="1800" dirty="0">
                <a:latin typeface="Calibri"/>
                <a:cs typeface="Calibri"/>
              </a:rPr>
              <a:t>,P</a:t>
            </a:r>
            <a:r>
              <a:rPr sz="1800" baseline="-20833" dirty="0">
                <a:latin typeface="Calibri"/>
                <a:cs typeface="Calibri"/>
              </a:rPr>
              <a:t>1 </a:t>
            </a:r>
            <a:r>
              <a:rPr sz="1800" dirty="0">
                <a:latin typeface="Calibri"/>
                <a:cs typeface="Calibri"/>
              </a:rPr>
              <a:t>, P</a:t>
            </a:r>
            <a:r>
              <a:rPr sz="1800" baseline="-20833" dirty="0">
                <a:latin typeface="Calibri"/>
                <a:cs typeface="Calibri"/>
              </a:rPr>
              <a:t>2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3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361432" y="6267450"/>
            <a:ext cx="33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t=0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6971410" y="5930900"/>
            <a:ext cx="117602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996051" y="4739259"/>
            <a:ext cx="1064260" cy="1280795"/>
          </a:xfrm>
          <a:custGeom>
            <a:avLst/>
            <a:gdLst/>
            <a:ahLst/>
            <a:cxnLst/>
            <a:rect l="l" t="t" r="r" b="b"/>
            <a:pathLst>
              <a:path w="1064259" h="1280795">
                <a:moveTo>
                  <a:pt x="0" y="0"/>
                </a:moveTo>
                <a:lnTo>
                  <a:pt x="1064259" y="128054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904610" y="4635500"/>
            <a:ext cx="117601" cy="1320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371210" y="6159500"/>
            <a:ext cx="117601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5056632" y="6038850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0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397500" y="4739259"/>
            <a:ext cx="533400" cy="1449070"/>
          </a:xfrm>
          <a:custGeom>
            <a:avLst/>
            <a:gdLst/>
            <a:ahLst/>
            <a:cxnLst/>
            <a:rect l="l" t="t" r="r" b="b"/>
            <a:pathLst>
              <a:path w="533400" h="1449070">
                <a:moveTo>
                  <a:pt x="0" y="1448562"/>
                </a:moveTo>
                <a:lnTo>
                  <a:pt x="5334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726810" y="5168900"/>
            <a:ext cx="117601" cy="1320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769100" y="5702300"/>
            <a:ext cx="117601" cy="1320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818251" y="5272659"/>
            <a:ext cx="977265" cy="458470"/>
          </a:xfrm>
          <a:custGeom>
            <a:avLst/>
            <a:gdLst/>
            <a:ahLst/>
            <a:cxnLst/>
            <a:rect l="l" t="t" r="r" b="b"/>
            <a:pathLst>
              <a:path w="977265" h="458470">
                <a:moveTo>
                  <a:pt x="0" y="0"/>
                </a:moveTo>
                <a:lnTo>
                  <a:pt x="977010" y="45796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260210" y="5412740"/>
            <a:ext cx="117601" cy="13207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7064247" y="5810250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2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556247" y="5734050"/>
            <a:ext cx="121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652259" y="586663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247132" y="4408170"/>
            <a:ext cx="125793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marR="30480">
              <a:lnSpc>
                <a:spcPct val="138900"/>
              </a:lnSpc>
              <a:spcBef>
                <a:spcPts val="100"/>
              </a:spcBef>
              <a:tabLst>
                <a:tab pos="913765" algn="l"/>
              </a:tabLst>
            </a:pPr>
            <a:r>
              <a:rPr sz="1800" spc="-5" dirty="0">
                <a:latin typeface="Calibri"/>
                <a:cs typeface="Calibri"/>
              </a:rPr>
              <a:t>t=</a:t>
            </a:r>
            <a:r>
              <a:rPr sz="1800" dirty="0">
                <a:latin typeface="Calibri"/>
                <a:cs typeface="Calibri"/>
              </a:rPr>
              <a:t>1	</a:t>
            </a:r>
            <a:r>
              <a:rPr sz="1800" spc="-5" dirty="0">
                <a:latin typeface="Calibri"/>
                <a:cs typeface="Calibri"/>
              </a:rPr>
              <a:t>t=0  L</a:t>
            </a:r>
            <a:r>
              <a:rPr sz="1800" spc="-7" baseline="-20833" dirty="0">
                <a:latin typeface="Calibri"/>
                <a:cs typeface="Calibri"/>
              </a:rPr>
              <a:t>0</a:t>
            </a:r>
            <a:endParaRPr sz="1800" baseline="-20833">
              <a:latin typeface="Calibri"/>
              <a:cs typeface="Calibri"/>
            </a:endParaRPr>
          </a:p>
          <a:p>
            <a:pPr marL="50800">
              <a:lnSpc>
                <a:spcPts val="1800"/>
              </a:lnSpc>
            </a:pPr>
            <a:r>
              <a:rPr sz="1800" spc="-5" dirty="0">
                <a:latin typeface="Calibri"/>
                <a:cs typeface="Calibri"/>
              </a:rPr>
              <a:t>t=x2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7835900" y="5245100"/>
            <a:ext cx="117601" cy="1320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010400" y="5311140"/>
            <a:ext cx="930910" cy="664845"/>
          </a:xfrm>
          <a:custGeom>
            <a:avLst/>
            <a:gdLst/>
            <a:ahLst/>
            <a:cxnLst/>
            <a:rect l="l" t="t" r="r" b="b"/>
            <a:pathLst>
              <a:path w="930909" h="664845">
                <a:moveTo>
                  <a:pt x="0" y="664730"/>
                </a:moveTo>
                <a:lnTo>
                  <a:pt x="930401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781800" y="5562600"/>
            <a:ext cx="838200" cy="228600"/>
          </a:xfrm>
          <a:custGeom>
            <a:avLst/>
            <a:gdLst/>
            <a:ahLst/>
            <a:cxnLst/>
            <a:rect l="l" t="t" r="r" b="b"/>
            <a:pathLst>
              <a:path w="838200" h="228600">
                <a:moveTo>
                  <a:pt x="0" y="228600"/>
                </a:moveTo>
                <a:lnTo>
                  <a:pt x="8382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365113" y="5478779"/>
            <a:ext cx="1179195" cy="111760"/>
          </a:xfrm>
          <a:custGeom>
            <a:avLst/>
            <a:gdLst/>
            <a:ahLst/>
            <a:cxnLst/>
            <a:rect l="l" t="t" r="r" b="b"/>
            <a:pathLst>
              <a:path w="1179195" h="111760">
                <a:moveTo>
                  <a:pt x="0" y="0"/>
                </a:moveTo>
                <a:lnTo>
                  <a:pt x="1178687" y="1117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086600" y="5486400"/>
            <a:ext cx="92201" cy="10668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531100" y="5524500"/>
            <a:ext cx="117601" cy="1320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6911847" y="5124450"/>
            <a:ext cx="275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</a:t>
            </a:r>
            <a:r>
              <a:rPr sz="1800" baseline="-20833" dirty="0">
                <a:latin typeface="Calibri"/>
                <a:cs typeface="Calibri"/>
              </a:rPr>
              <a:t>0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5455920" y="5359400"/>
            <a:ext cx="2392680" cy="828040"/>
          </a:xfrm>
          <a:custGeom>
            <a:avLst/>
            <a:gdLst/>
            <a:ahLst/>
            <a:cxnLst/>
            <a:rect l="l" t="t" r="r" b="b"/>
            <a:pathLst>
              <a:path w="2392679" h="828039">
                <a:moveTo>
                  <a:pt x="0" y="828040"/>
                </a:moveTo>
                <a:lnTo>
                  <a:pt x="20642" y="778052"/>
                </a:lnTo>
                <a:lnTo>
                  <a:pt x="41371" y="728226"/>
                </a:lnTo>
                <a:lnTo>
                  <a:pt x="62274" y="678721"/>
                </a:lnTo>
                <a:lnTo>
                  <a:pt x="83440" y="629698"/>
                </a:lnTo>
                <a:lnTo>
                  <a:pt x="104958" y="581317"/>
                </a:lnTo>
                <a:lnTo>
                  <a:pt x="126914" y="533738"/>
                </a:lnTo>
                <a:lnTo>
                  <a:pt x="149399" y="487123"/>
                </a:lnTo>
                <a:lnTo>
                  <a:pt x="172498" y="441630"/>
                </a:lnTo>
                <a:lnTo>
                  <a:pt x="196302" y="397421"/>
                </a:lnTo>
                <a:lnTo>
                  <a:pt x="220898" y="354656"/>
                </a:lnTo>
                <a:lnTo>
                  <a:pt x="246374" y="313495"/>
                </a:lnTo>
                <a:lnTo>
                  <a:pt x="272819" y="274099"/>
                </a:lnTo>
                <a:lnTo>
                  <a:pt x="300321" y="236628"/>
                </a:lnTo>
                <a:lnTo>
                  <a:pt x="328967" y="201242"/>
                </a:lnTo>
                <a:lnTo>
                  <a:pt x="358847" y="168102"/>
                </a:lnTo>
                <a:lnTo>
                  <a:pt x="390048" y="137367"/>
                </a:lnTo>
                <a:lnTo>
                  <a:pt x="422658" y="109200"/>
                </a:lnTo>
                <a:lnTo>
                  <a:pt x="456766" y="83759"/>
                </a:lnTo>
                <a:lnTo>
                  <a:pt x="492460" y="61205"/>
                </a:lnTo>
                <a:lnTo>
                  <a:pt x="529829" y="41698"/>
                </a:lnTo>
                <a:lnTo>
                  <a:pt x="568959" y="25400"/>
                </a:lnTo>
                <a:lnTo>
                  <a:pt x="643926" y="7648"/>
                </a:lnTo>
                <a:lnTo>
                  <a:pt x="684772" y="4222"/>
                </a:lnTo>
                <a:lnTo>
                  <a:pt x="727586" y="4027"/>
                </a:lnTo>
                <a:lnTo>
                  <a:pt x="772164" y="6760"/>
                </a:lnTo>
                <a:lnTo>
                  <a:pt x="818300" y="12120"/>
                </a:lnTo>
                <a:lnTo>
                  <a:pt x="865790" y="19804"/>
                </a:lnTo>
                <a:lnTo>
                  <a:pt x="914428" y="29511"/>
                </a:lnTo>
                <a:lnTo>
                  <a:pt x="964009" y="40937"/>
                </a:lnTo>
                <a:lnTo>
                  <a:pt x="1014328" y="53782"/>
                </a:lnTo>
                <a:lnTo>
                  <a:pt x="1065181" y="67743"/>
                </a:lnTo>
                <a:lnTo>
                  <a:pt x="1116361" y="82518"/>
                </a:lnTo>
                <a:lnTo>
                  <a:pt x="1167665" y="97805"/>
                </a:lnTo>
                <a:lnTo>
                  <a:pt x="1218886" y="113301"/>
                </a:lnTo>
                <a:lnTo>
                  <a:pt x="1269821" y="128706"/>
                </a:lnTo>
                <a:lnTo>
                  <a:pt x="1320263" y="143716"/>
                </a:lnTo>
                <a:lnTo>
                  <a:pt x="1370008" y="158031"/>
                </a:lnTo>
                <a:lnTo>
                  <a:pt x="1418851" y="171346"/>
                </a:lnTo>
                <a:lnTo>
                  <a:pt x="1466587" y="183362"/>
                </a:lnTo>
                <a:lnTo>
                  <a:pt x="1513010" y="193774"/>
                </a:lnTo>
                <a:lnTo>
                  <a:pt x="1557916" y="202283"/>
                </a:lnTo>
                <a:lnTo>
                  <a:pt x="1601100" y="208584"/>
                </a:lnTo>
                <a:lnTo>
                  <a:pt x="1642356" y="212377"/>
                </a:lnTo>
                <a:lnTo>
                  <a:pt x="1681479" y="213359"/>
                </a:lnTo>
                <a:lnTo>
                  <a:pt x="1742024" y="210396"/>
                </a:lnTo>
                <a:lnTo>
                  <a:pt x="1801905" y="203535"/>
                </a:lnTo>
                <a:lnTo>
                  <a:pt x="1860844" y="193304"/>
                </a:lnTo>
                <a:lnTo>
                  <a:pt x="1918560" y="180231"/>
                </a:lnTo>
                <a:lnTo>
                  <a:pt x="1974774" y="164846"/>
                </a:lnTo>
                <a:lnTo>
                  <a:pt x="2029205" y="147675"/>
                </a:lnTo>
                <a:lnTo>
                  <a:pt x="2081574" y="129248"/>
                </a:lnTo>
                <a:lnTo>
                  <a:pt x="2131601" y="110093"/>
                </a:lnTo>
                <a:lnTo>
                  <a:pt x="2179005" y="90738"/>
                </a:lnTo>
                <a:lnTo>
                  <a:pt x="2223506" y="71712"/>
                </a:lnTo>
                <a:lnTo>
                  <a:pt x="2264825" y="53543"/>
                </a:lnTo>
                <a:lnTo>
                  <a:pt x="2302682" y="36758"/>
                </a:lnTo>
                <a:lnTo>
                  <a:pt x="2336797" y="21888"/>
                </a:lnTo>
                <a:lnTo>
                  <a:pt x="2366889" y="9458"/>
                </a:lnTo>
                <a:lnTo>
                  <a:pt x="2392679" y="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5921247" y="6008370"/>
            <a:ext cx="2588260" cy="6350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723900">
              <a:lnSpc>
                <a:spcPct val="100000"/>
              </a:lnSpc>
              <a:spcBef>
                <a:spcPts val="340"/>
              </a:spcBef>
              <a:tabLst>
                <a:tab pos="1332865" algn="l"/>
              </a:tabLst>
            </a:pPr>
            <a:r>
              <a:rPr sz="1800" spc="-5" dirty="0">
                <a:latin typeface="Calibri"/>
                <a:cs typeface="Calibri"/>
              </a:rPr>
              <a:t>t=1	t=0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b="1" spc="-5" dirty="0">
                <a:latin typeface="Calibri"/>
                <a:cs typeface="Calibri"/>
              </a:rPr>
              <a:t>Curve with </a:t>
            </a:r>
            <a:r>
              <a:rPr sz="1800" b="1" dirty="0">
                <a:latin typeface="Calibri"/>
                <a:cs typeface="Calibri"/>
              </a:rPr>
              <a:t>4 </a:t>
            </a:r>
            <a:r>
              <a:rPr sz="1800" b="1" spc="-10" dirty="0">
                <a:latin typeface="Calibri"/>
                <a:cs typeface="Calibri"/>
              </a:rPr>
              <a:t>control</a:t>
            </a:r>
            <a:r>
              <a:rPr sz="1800" b="1" spc="-9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points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997447" y="5059934"/>
            <a:ext cx="408305" cy="66929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470"/>
              </a:spcBef>
            </a:pPr>
            <a:r>
              <a:rPr sz="1800" dirty="0">
                <a:latin typeface="Calibri"/>
                <a:cs typeface="Calibri"/>
              </a:rPr>
              <a:t>Q</a:t>
            </a:r>
            <a:r>
              <a:rPr sz="1800" baseline="-20833" dirty="0">
                <a:latin typeface="Calibri"/>
                <a:cs typeface="Calibri"/>
              </a:rPr>
              <a:t>0</a:t>
            </a:r>
            <a:endParaRPr sz="1800" baseline="-20833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375"/>
              </a:spcBef>
            </a:pPr>
            <a:r>
              <a:rPr sz="1800" spc="-5" dirty="0">
                <a:latin typeface="Calibri"/>
                <a:cs typeface="Calibri"/>
              </a:rPr>
              <a:t>t=0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597647" y="4865370"/>
            <a:ext cx="68643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30480" indent="228600">
              <a:lnSpc>
                <a:spcPct val="1389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t=1  t=1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ts val="1800"/>
              </a:lnSpc>
            </a:pPr>
            <a:r>
              <a:rPr sz="1800" dirty="0">
                <a:latin typeface="Calibri"/>
                <a:cs typeface="Calibri"/>
              </a:rPr>
              <a:t>Q</a:t>
            </a:r>
            <a:r>
              <a:rPr sz="1800" baseline="-20833" dirty="0"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28234" y="0"/>
            <a:ext cx="285813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latin typeface="Calibri"/>
                <a:cs typeface="Calibri"/>
              </a:rPr>
              <a:t>Bezier</a:t>
            </a:r>
            <a:r>
              <a:rPr sz="4000" b="1" spc="-80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Curves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717032" y="621030"/>
            <a:ext cx="8255" cy="5671185"/>
          </a:xfrm>
          <a:custGeom>
            <a:avLst/>
            <a:gdLst/>
            <a:ahLst/>
            <a:cxnLst/>
            <a:rect l="l" t="t" r="r" b="b"/>
            <a:pathLst>
              <a:path w="8254" h="5671185">
                <a:moveTo>
                  <a:pt x="0" y="0"/>
                </a:moveTo>
                <a:lnTo>
                  <a:pt x="8000" y="5670600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2501" y="46202"/>
            <a:ext cx="4989830" cy="646430"/>
          </a:xfrm>
          <a:custGeom>
            <a:avLst/>
            <a:gdLst/>
            <a:ahLst/>
            <a:cxnLst/>
            <a:rect l="l" t="t" r="r" b="b"/>
            <a:pathLst>
              <a:path w="4989830" h="646430">
                <a:moveTo>
                  <a:pt x="0" y="646328"/>
                </a:moveTo>
                <a:lnTo>
                  <a:pt x="4989576" y="646328"/>
                </a:lnTo>
                <a:lnTo>
                  <a:pt x="4989576" y="0"/>
                </a:lnTo>
                <a:lnTo>
                  <a:pt x="0" y="0"/>
                </a:lnTo>
                <a:lnTo>
                  <a:pt x="0" y="646328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1215" y="64769"/>
            <a:ext cx="46335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Prob: </a:t>
            </a:r>
            <a:r>
              <a:rPr sz="1800" spc="-5" dirty="0">
                <a:latin typeface="Calibri"/>
                <a:cs typeface="Calibri"/>
              </a:rPr>
              <a:t>Design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Bezier </a:t>
            </a:r>
            <a:r>
              <a:rPr sz="1800" dirty="0">
                <a:latin typeface="Calibri"/>
                <a:cs typeface="Calibri"/>
              </a:rPr>
              <a:t>curve </a:t>
            </a:r>
            <a:r>
              <a:rPr sz="1800" spc="-10" dirty="0">
                <a:latin typeface="Calibri"/>
                <a:cs typeface="Calibri"/>
              </a:rPr>
              <a:t>controlled </a:t>
            </a:r>
            <a:r>
              <a:rPr sz="1800" spc="-5" dirty="0">
                <a:latin typeface="Calibri"/>
                <a:cs typeface="Calibri"/>
              </a:rPr>
              <a:t>by </a:t>
            </a:r>
            <a:r>
              <a:rPr sz="1800" dirty="0">
                <a:latin typeface="Calibri"/>
                <a:cs typeface="Calibri"/>
              </a:rPr>
              <a:t>4 </a:t>
            </a:r>
            <a:r>
              <a:rPr sz="1800" spc="-5" dirty="0">
                <a:latin typeface="Calibri"/>
                <a:cs typeface="Calibri"/>
              </a:rPr>
              <a:t>points  </a:t>
            </a:r>
            <a:r>
              <a:rPr sz="1800" dirty="0">
                <a:latin typeface="Calibri"/>
                <a:cs typeface="Calibri"/>
              </a:rPr>
              <a:t>P0(1,1), P1(2,3), P2(4,3) 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P3(6,4).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3662" y="1958736"/>
            <a:ext cx="5119223" cy="2161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19786" y="731773"/>
            <a:ext cx="39173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Soln:</a:t>
            </a:r>
            <a:endParaRPr sz="1800">
              <a:latin typeface="Calibri"/>
              <a:cs typeface="Calibri"/>
            </a:endParaRPr>
          </a:p>
          <a:p>
            <a:pPr marL="38100" marR="3048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For </a:t>
            </a:r>
            <a:r>
              <a:rPr sz="1800" dirty="0">
                <a:latin typeface="Calibri"/>
                <a:cs typeface="Calibri"/>
              </a:rPr>
              <a:t>4 </a:t>
            </a:r>
            <a:r>
              <a:rPr sz="1800" spc="-10" dirty="0">
                <a:latin typeface="Calibri"/>
                <a:cs typeface="Calibri"/>
              </a:rPr>
              <a:t>Control </a:t>
            </a:r>
            <a:r>
              <a:rPr sz="1800" spc="-15" dirty="0">
                <a:latin typeface="Calibri"/>
                <a:cs typeface="Calibri"/>
              </a:rPr>
              <a:t>Points </a:t>
            </a:r>
            <a:r>
              <a:rPr sz="1800" spc="-5" dirty="0">
                <a:latin typeface="Calibri"/>
                <a:cs typeface="Calibri"/>
              </a:rPr>
              <a:t>(CP)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0 </a:t>
            </a:r>
            <a:r>
              <a:rPr sz="1800" dirty="0">
                <a:latin typeface="Calibri"/>
                <a:cs typeface="Calibri"/>
              </a:rPr>
              <a:t>,P</a:t>
            </a:r>
            <a:r>
              <a:rPr sz="1800" baseline="-20833" dirty="0">
                <a:latin typeface="Calibri"/>
                <a:cs typeface="Calibri"/>
              </a:rPr>
              <a:t>1 </a:t>
            </a:r>
            <a:r>
              <a:rPr sz="1800" dirty="0">
                <a:latin typeface="Calibri"/>
                <a:cs typeface="Calibri"/>
              </a:rPr>
              <a:t>, P</a:t>
            </a:r>
            <a:r>
              <a:rPr sz="1800" baseline="-20833" dirty="0">
                <a:latin typeface="Calibri"/>
                <a:cs typeface="Calibri"/>
              </a:rPr>
              <a:t>2 </a:t>
            </a:r>
            <a:r>
              <a:rPr sz="1800" dirty="0">
                <a:latin typeface="Calibri"/>
                <a:cs typeface="Calibri"/>
              </a:rPr>
              <a:t>and P</a:t>
            </a:r>
            <a:r>
              <a:rPr sz="1800" baseline="-20833" dirty="0">
                <a:latin typeface="Calibri"/>
                <a:cs typeface="Calibri"/>
              </a:rPr>
              <a:t>3  </a:t>
            </a:r>
            <a:r>
              <a:rPr sz="1800" spc="-10" dirty="0">
                <a:latin typeface="Calibri"/>
                <a:cs typeface="Calibri"/>
              </a:rPr>
              <a:t>Degree </a:t>
            </a:r>
            <a:r>
              <a:rPr sz="1800" spc="-5" dirty="0">
                <a:latin typeface="Calibri"/>
                <a:cs typeface="Calibri"/>
              </a:rPr>
              <a:t>of polynomial,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=4-1=3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The equation of </a:t>
            </a:r>
            <a:r>
              <a:rPr sz="1800" spc="-10" dirty="0">
                <a:latin typeface="Calibri"/>
                <a:cs typeface="Calibri"/>
              </a:rPr>
              <a:t>Bezier </a:t>
            </a:r>
            <a:r>
              <a:rPr sz="1800" spc="-5" dirty="0">
                <a:latin typeface="Calibri"/>
                <a:cs typeface="Calibri"/>
              </a:rPr>
              <a:t>Curve </a:t>
            </a:r>
            <a:r>
              <a:rPr sz="1800" spc="-15" dirty="0">
                <a:latin typeface="Calibri"/>
                <a:cs typeface="Calibri"/>
              </a:rPr>
              <a:t>for </a:t>
            </a:r>
            <a:r>
              <a:rPr sz="1800" dirty="0">
                <a:latin typeface="Calibri"/>
                <a:cs typeface="Calibri"/>
              </a:rPr>
              <a:t>4 </a:t>
            </a:r>
            <a:r>
              <a:rPr sz="1800" spc="-15" dirty="0">
                <a:latin typeface="Calibri"/>
                <a:cs typeface="Calibri"/>
              </a:rPr>
              <a:t>CPs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78701" y="2042286"/>
            <a:ext cx="954405" cy="2540"/>
          </a:xfrm>
          <a:custGeom>
            <a:avLst/>
            <a:gdLst/>
            <a:ahLst/>
            <a:cxnLst/>
            <a:rect l="l" t="t" r="r" b="b"/>
            <a:pathLst>
              <a:path w="954404" h="2539">
                <a:moveTo>
                  <a:pt x="0" y="0"/>
                </a:moveTo>
                <a:lnTo>
                  <a:pt x="953897" y="228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19897" y="1978532"/>
            <a:ext cx="117601" cy="1320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40500" y="2776220"/>
            <a:ext cx="117601" cy="1320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84340" y="2715767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0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31940" y="2014601"/>
            <a:ext cx="234315" cy="865505"/>
          </a:xfrm>
          <a:custGeom>
            <a:avLst/>
            <a:gdLst/>
            <a:ahLst/>
            <a:cxnLst/>
            <a:rect l="l" t="t" r="r" b="b"/>
            <a:pathLst>
              <a:path w="234315" h="865505">
                <a:moveTo>
                  <a:pt x="0" y="865377"/>
                </a:moveTo>
                <a:lnTo>
                  <a:pt x="233806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19900" y="1995170"/>
            <a:ext cx="117601" cy="1320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15811" y="968247"/>
            <a:ext cx="132715" cy="2308860"/>
          </a:xfrm>
          <a:custGeom>
            <a:avLst/>
            <a:gdLst/>
            <a:ahLst/>
            <a:cxnLst/>
            <a:rect l="l" t="t" r="r" b="b"/>
            <a:pathLst>
              <a:path w="132714" h="2308860">
                <a:moveTo>
                  <a:pt x="66405" y="56691"/>
                </a:moveTo>
                <a:lnTo>
                  <a:pt x="52129" y="81149"/>
                </a:lnTo>
                <a:lnTo>
                  <a:pt x="52070" y="2308352"/>
                </a:lnTo>
                <a:lnTo>
                  <a:pt x="80645" y="2308352"/>
                </a:lnTo>
                <a:lnTo>
                  <a:pt x="80645" y="81149"/>
                </a:lnTo>
                <a:lnTo>
                  <a:pt x="66405" y="56691"/>
                </a:lnTo>
                <a:close/>
              </a:path>
              <a:path w="132714" h="2308860">
                <a:moveTo>
                  <a:pt x="66421" y="0"/>
                </a:moveTo>
                <a:lnTo>
                  <a:pt x="4063" y="106934"/>
                </a:lnTo>
                <a:lnTo>
                  <a:pt x="0" y="113791"/>
                </a:lnTo>
                <a:lnTo>
                  <a:pt x="2412" y="122554"/>
                </a:lnTo>
                <a:lnTo>
                  <a:pt x="9143" y="126491"/>
                </a:lnTo>
                <a:lnTo>
                  <a:pt x="16001" y="130428"/>
                </a:lnTo>
                <a:lnTo>
                  <a:pt x="24764" y="128142"/>
                </a:lnTo>
                <a:lnTo>
                  <a:pt x="28701" y="121285"/>
                </a:lnTo>
                <a:lnTo>
                  <a:pt x="52069" y="81250"/>
                </a:lnTo>
                <a:lnTo>
                  <a:pt x="52070" y="28448"/>
                </a:lnTo>
                <a:lnTo>
                  <a:pt x="83010" y="28448"/>
                </a:lnTo>
                <a:lnTo>
                  <a:pt x="66421" y="0"/>
                </a:lnTo>
                <a:close/>
              </a:path>
              <a:path w="132714" h="2308860">
                <a:moveTo>
                  <a:pt x="83010" y="28448"/>
                </a:moveTo>
                <a:lnTo>
                  <a:pt x="80645" y="28448"/>
                </a:lnTo>
                <a:lnTo>
                  <a:pt x="80704" y="81250"/>
                </a:lnTo>
                <a:lnTo>
                  <a:pt x="104012" y="121285"/>
                </a:lnTo>
                <a:lnTo>
                  <a:pt x="108076" y="128142"/>
                </a:lnTo>
                <a:lnTo>
                  <a:pt x="116712" y="130428"/>
                </a:lnTo>
                <a:lnTo>
                  <a:pt x="130428" y="122554"/>
                </a:lnTo>
                <a:lnTo>
                  <a:pt x="132714" y="113791"/>
                </a:lnTo>
                <a:lnTo>
                  <a:pt x="128777" y="106934"/>
                </a:lnTo>
                <a:lnTo>
                  <a:pt x="83010" y="28448"/>
                </a:lnTo>
                <a:close/>
              </a:path>
              <a:path w="132714" h="2308860">
                <a:moveTo>
                  <a:pt x="80645" y="28448"/>
                </a:moveTo>
                <a:lnTo>
                  <a:pt x="52070" y="28448"/>
                </a:lnTo>
                <a:lnTo>
                  <a:pt x="52070" y="81250"/>
                </a:lnTo>
                <a:lnTo>
                  <a:pt x="66405" y="56691"/>
                </a:lnTo>
                <a:lnTo>
                  <a:pt x="54101" y="35560"/>
                </a:lnTo>
                <a:lnTo>
                  <a:pt x="80645" y="35560"/>
                </a:lnTo>
                <a:lnTo>
                  <a:pt x="80645" y="28448"/>
                </a:lnTo>
                <a:close/>
              </a:path>
              <a:path w="132714" h="2308860">
                <a:moveTo>
                  <a:pt x="80645" y="35560"/>
                </a:moveTo>
                <a:lnTo>
                  <a:pt x="78739" y="35560"/>
                </a:lnTo>
                <a:lnTo>
                  <a:pt x="66405" y="56691"/>
                </a:lnTo>
                <a:lnTo>
                  <a:pt x="80645" y="81149"/>
                </a:lnTo>
                <a:lnTo>
                  <a:pt x="80645" y="35560"/>
                </a:lnTo>
                <a:close/>
              </a:path>
              <a:path w="132714" h="2308860">
                <a:moveTo>
                  <a:pt x="78739" y="35560"/>
                </a:moveTo>
                <a:lnTo>
                  <a:pt x="54101" y="35560"/>
                </a:lnTo>
                <a:lnTo>
                  <a:pt x="66405" y="56691"/>
                </a:lnTo>
                <a:lnTo>
                  <a:pt x="78739" y="3556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17971" y="3211702"/>
            <a:ext cx="2874010" cy="132715"/>
          </a:xfrm>
          <a:custGeom>
            <a:avLst/>
            <a:gdLst/>
            <a:ahLst/>
            <a:cxnLst/>
            <a:rect l="l" t="t" r="r" b="b"/>
            <a:pathLst>
              <a:path w="2874009" h="132714">
                <a:moveTo>
                  <a:pt x="2760090" y="0"/>
                </a:moveTo>
                <a:lnTo>
                  <a:pt x="2751328" y="2286"/>
                </a:lnTo>
                <a:lnTo>
                  <a:pt x="2747263" y="9017"/>
                </a:lnTo>
                <a:lnTo>
                  <a:pt x="2743327" y="15875"/>
                </a:lnTo>
                <a:lnTo>
                  <a:pt x="2745612" y="24637"/>
                </a:lnTo>
                <a:lnTo>
                  <a:pt x="2752471" y="28575"/>
                </a:lnTo>
                <a:lnTo>
                  <a:pt x="2792484" y="52025"/>
                </a:lnTo>
                <a:lnTo>
                  <a:pt x="2845307" y="52070"/>
                </a:lnTo>
                <a:lnTo>
                  <a:pt x="2845307" y="80645"/>
                </a:lnTo>
                <a:lnTo>
                  <a:pt x="2792320" y="80645"/>
                </a:lnTo>
                <a:lnTo>
                  <a:pt x="2752344" y="103886"/>
                </a:lnTo>
                <a:lnTo>
                  <a:pt x="2745612" y="107950"/>
                </a:lnTo>
                <a:lnTo>
                  <a:pt x="2743200" y="116712"/>
                </a:lnTo>
                <a:lnTo>
                  <a:pt x="2747263" y="123444"/>
                </a:lnTo>
                <a:lnTo>
                  <a:pt x="2751201" y="130301"/>
                </a:lnTo>
                <a:lnTo>
                  <a:pt x="2759963" y="132587"/>
                </a:lnTo>
                <a:lnTo>
                  <a:pt x="2849284" y="80645"/>
                </a:lnTo>
                <a:lnTo>
                  <a:pt x="2845307" y="80645"/>
                </a:lnTo>
                <a:lnTo>
                  <a:pt x="2849362" y="80600"/>
                </a:lnTo>
                <a:lnTo>
                  <a:pt x="2873755" y="66421"/>
                </a:lnTo>
                <a:lnTo>
                  <a:pt x="2760090" y="0"/>
                </a:lnTo>
                <a:close/>
              </a:path>
              <a:path w="2874009" h="132714">
                <a:moveTo>
                  <a:pt x="2816918" y="66344"/>
                </a:moveTo>
                <a:lnTo>
                  <a:pt x="2792398" y="80600"/>
                </a:lnTo>
                <a:lnTo>
                  <a:pt x="2845307" y="80645"/>
                </a:lnTo>
                <a:lnTo>
                  <a:pt x="2845307" y="78739"/>
                </a:lnTo>
                <a:lnTo>
                  <a:pt x="2838069" y="78739"/>
                </a:lnTo>
                <a:lnTo>
                  <a:pt x="2816918" y="66344"/>
                </a:lnTo>
                <a:close/>
              </a:path>
              <a:path w="2874009" h="132714">
                <a:moveTo>
                  <a:pt x="0" y="49657"/>
                </a:moveTo>
                <a:lnTo>
                  <a:pt x="0" y="78232"/>
                </a:lnTo>
                <a:lnTo>
                  <a:pt x="2792398" y="80600"/>
                </a:lnTo>
                <a:lnTo>
                  <a:pt x="2816918" y="66344"/>
                </a:lnTo>
                <a:lnTo>
                  <a:pt x="2792484" y="52025"/>
                </a:lnTo>
                <a:lnTo>
                  <a:pt x="0" y="49657"/>
                </a:lnTo>
                <a:close/>
              </a:path>
              <a:path w="2874009" h="132714">
                <a:moveTo>
                  <a:pt x="2838196" y="53975"/>
                </a:moveTo>
                <a:lnTo>
                  <a:pt x="2816918" y="66344"/>
                </a:lnTo>
                <a:lnTo>
                  <a:pt x="2838069" y="78739"/>
                </a:lnTo>
                <a:lnTo>
                  <a:pt x="2838196" y="53975"/>
                </a:lnTo>
                <a:close/>
              </a:path>
              <a:path w="2874009" h="132714">
                <a:moveTo>
                  <a:pt x="2845307" y="53975"/>
                </a:moveTo>
                <a:lnTo>
                  <a:pt x="2838196" y="53975"/>
                </a:lnTo>
                <a:lnTo>
                  <a:pt x="2838069" y="78739"/>
                </a:lnTo>
                <a:lnTo>
                  <a:pt x="2845307" y="78739"/>
                </a:lnTo>
                <a:lnTo>
                  <a:pt x="2845307" y="53975"/>
                </a:lnTo>
                <a:close/>
              </a:path>
              <a:path w="2874009" h="132714">
                <a:moveTo>
                  <a:pt x="2792484" y="52025"/>
                </a:moveTo>
                <a:lnTo>
                  <a:pt x="2816918" y="66344"/>
                </a:lnTo>
                <a:lnTo>
                  <a:pt x="2838196" y="53975"/>
                </a:lnTo>
                <a:lnTo>
                  <a:pt x="2845307" y="53975"/>
                </a:lnTo>
                <a:lnTo>
                  <a:pt x="2845307" y="52070"/>
                </a:lnTo>
                <a:lnTo>
                  <a:pt x="2792484" y="52025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98666" y="3275584"/>
            <a:ext cx="43180" cy="1270"/>
          </a:xfrm>
          <a:custGeom>
            <a:avLst/>
            <a:gdLst/>
            <a:ahLst/>
            <a:cxnLst/>
            <a:rect l="l" t="t" r="r" b="b"/>
            <a:pathLst>
              <a:path w="43179" h="1270">
                <a:moveTo>
                  <a:pt x="-4762" y="508"/>
                </a:moveTo>
                <a:lnTo>
                  <a:pt x="47688" y="508"/>
                </a:lnTo>
              </a:path>
            </a:pathLst>
          </a:custGeom>
          <a:ln w="1054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611239" y="3201923"/>
            <a:ext cx="0" cy="149860"/>
          </a:xfrm>
          <a:custGeom>
            <a:avLst/>
            <a:gdLst/>
            <a:ahLst/>
            <a:cxnLst/>
            <a:rect l="l" t="t" r="r" b="b"/>
            <a:pathLst>
              <a:path h="149860">
                <a:moveTo>
                  <a:pt x="0" y="0"/>
                </a:moveTo>
                <a:lnTo>
                  <a:pt x="0" y="149351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072121" y="3203320"/>
            <a:ext cx="0" cy="149860"/>
          </a:xfrm>
          <a:custGeom>
            <a:avLst/>
            <a:gdLst/>
            <a:ahLst/>
            <a:cxnLst/>
            <a:rect l="l" t="t" r="r" b="b"/>
            <a:pathLst>
              <a:path h="149860">
                <a:moveTo>
                  <a:pt x="0" y="0"/>
                </a:moveTo>
                <a:lnTo>
                  <a:pt x="0" y="149478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519416" y="3200400"/>
            <a:ext cx="0" cy="149860"/>
          </a:xfrm>
          <a:custGeom>
            <a:avLst/>
            <a:gdLst/>
            <a:ahLst/>
            <a:cxnLst/>
            <a:rect l="l" t="t" r="r" b="b"/>
            <a:pathLst>
              <a:path h="149860">
                <a:moveTo>
                  <a:pt x="0" y="0"/>
                </a:moveTo>
                <a:lnTo>
                  <a:pt x="0" y="149478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931022" y="3200400"/>
            <a:ext cx="0" cy="149860"/>
          </a:xfrm>
          <a:custGeom>
            <a:avLst/>
            <a:gdLst/>
            <a:ahLst/>
            <a:cxnLst/>
            <a:rect l="l" t="t" r="r" b="b"/>
            <a:pathLst>
              <a:path h="149860">
                <a:moveTo>
                  <a:pt x="0" y="0"/>
                </a:moveTo>
                <a:lnTo>
                  <a:pt x="0" y="149478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30818" y="3200400"/>
            <a:ext cx="0" cy="149860"/>
          </a:xfrm>
          <a:custGeom>
            <a:avLst/>
            <a:gdLst/>
            <a:ahLst/>
            <a:cxnLst/>
            <a:rect l="l" t="t" r="r" b="b"/>
            <a:pathLst>
              <a:path h="149860">
                <a:moveTo>
                  <a:pt x="0" y="0"/>
                </a:moveTo>
                <a:lnTo>
                  <a:pt x="0" y="149478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742553" y="3200400"/>
            <a:ext cx="0" cy="149860"/>
          </a:xfrm>
          <a:custGeom>
            <a:avLst/>
            <a:gdLst/>
            <a:ahLst/>
            <a:cxnLst/>
            <a:rect l="l" t="t" r="r" b="b"/>
            <a:pathLst>
              <a:path h="149860">
                <a:moveTo>
                  <a:pt x="0" y="0"/>
                </a:moveTo>
                <a:lnTo>
                  <a:pt x="0" y="149478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80633" y="2429636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>
                <a:moveTo>
                  <a:pt x="218566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070346" y="2014601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>
                <a:moveTo>
                  <a:pt x="218566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80633" y="1627504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>
                <a:moveTo>
                  <a:pt x="218566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063615" y="1200658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>
                <a:moveTo>
                  <a:pt x="218567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830823" y="2156967"/>
            <a:ext cx="168910" cy="83121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39370">
              <a:lnSpc>
                <a:spcPct val="100000"/>
              </a:lnSpc>
              <a:spcBef>
                <a:spcPts val="1015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57747" y="1339088"/>
            <a:ext cx="165100" cy="80962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25"/>
              </a:spcBef>
            </a:pPr>
            <a:r>
              <a:rPr sz="180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605646" y="1563750"/>
            <a:ext cx="117601" cy="1320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586981" y="3294379"/>
            <a:ext cx="1445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6084" algn="l"/>
                <a:tab pos="902969" algn="l"/>
                <a:tab pos="1316355" algn="l"/>
              </a:tabLst>
            </a:pPr>
            <a:r>
              <a:rPr sz="1800" dirty="0">
                <a:latin typeface="Calibri"/>
                <a:cs typeface="Calibri"/>
              </a:rPr>
              <a:t>1	2	3	</a:t>
            </a:r>
            <a:r>
              <a:rPr sz="2700" baseline="1543" dirty="0">
                <a:latin typeface="Calibri"/>
                <a:cs typeface="Calibri"/>
              </a:rPr>
              <a:t>4</a:t>
            </a:r>
            <a:endParaRPr sz="2700" baseline="1543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91321" y="3314191"/>
            <a:ext cx="554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6084" algn="l"/>
              </a:tabLst>
            </a:pPr>
            <a:r>
              <a:rPr sz="1800" dirty="0">
                <a:latin typeface="Calibri"/>
                <a:cs typeface="Calibri"/>
              </a:rPr>
              <a:t>5	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11338" y="1667510"/>
            <a:ext cx="786130" cy="339725"/>
          </a:xfrm>
          <a:custGeom>
            <a:avLst/>
            <a:gdLst/>
            <a:ahLst/>
            <a:cxnLst/>
            <a:rect l="l" t="t" r="r" b="b"/>
            <a:pathLst>
              <a:path w="786129" h="339725">
                <a:moveTo>
                  <a:pt x="0" y="339343"/>
                </a:moveTo>
                <a:lnTo>
                  <a:pt x="78574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520180" y="1825244"/>
            <a:ext cx="14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38290" y="1957832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60385" y="1657350"/>
            <a:ext cx="14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78495" y="178993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414004" y="1277365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3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708911" y="2268728"/>
            <a:ext cx="2934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Cambria Math"/>
                <a:cs typeface="Cambria Math"/>
              </a:rPr>
              <a:t>𝑥</a:t>
            </a:r>
            <a:r>
              <a:rPr sz="1950" spc="15" baseline="-14957" dirty="0">
                <a:latin typeface="Cambria Math"/>
                <a:cs typeface="Cambria Math"/>
              </a:rPr>
              <a:t>0 </a:t>
            </a:r>
            <a:r>
              <a:rPr sz="1800" dirty="0">
                <a:latin typeface="Cambria Math"/>
                <a:cs typeface="Cambria Math"/>
              </a:rPr>
              <a:t>= 1, </a:t>
            </a:r>
            <a:r>
              <a:rPr sz="1800" spc="-10" dirty="0">
                <a:latin typeface="Cambria Math"/>
                <a:cs typeface="Cambria Math"/>
              </a:rPr>
              <a:t>𝑥</a:t>
            </a:r>
            <a:r>
              <a:rPr sz="1950" spc="-15" baseline="-14957" dirty="0">
                <a:latin typeface="Cambria Math"/>
                <a:cs typeface="Cambria Math"/>
              </a:rPr>
              <a:t>1 </a:t>
            </a:r>
            <a:r>
              <a:rPr sz="1800" dirty="0">
                <a:latin typeface="Cambria Math"/>
                <a:cs typeface="Cambria Math"/>
              </a:rPr>
              <a:t>= </a:t>
            </a:r>
            <a:r>
              <a:rPr sz="1800" spc="-5" dirty="0">
                <a:latin typeface="Cambria Math"/>
                <a:cs typeface="Cambria Math"/>
              </a:rPr>
              <a:t>2, </a:t>
            </a:r>
            <a:r>
              <a:rPr sz="1800" spc="10" dirty="0">
                <a:latin typeface="Cambria Math"/>
                <a:cs typeface="Cambria Math"/>
              </a:rPr>
              <a:t>𝑥</a:t>
            </a:r>
            <a:r>
              <a:rPr sz="1950" spc="15" baseline="-14957" dirty="0">
                <a:latin typeface="Cambria Math"/>
                <a:cs typeface="Cambria Math"/>
              </a:rPr>
              <a:t>2 </a:t>
            </a:r>
            <a:r>
              <a:rPr sz="1800" dirty="0">
                <a:latin typeface="Cambria Math"/>
                <a:cs typeface="Cambria Math"/>
              </a:rPr>
              <a:t>= </a:t>
            </a:r>
            <a:r>
              <a:rPr sz="1800" spc="-5" dirty="0">
                <a:latin typeface="Cambria Math"/>
                <a:cs typeface="Cambria Math"/>
              </a:rPr>
              <a:t>4, </a:t>
            </a:r>
            <a:r>
              <a:rPr sz="1800" spc="10" dirty="0">
                <a:latin typeface="Cambria Math"/>
                <a:cs typeface="Cambria Math"/>
              </a:rPr>
              <a:t>𝑥</a:t>
            </a:r>
            <a:r>
              <a:rPr sz="1950" spc="15" baseline="-14957" dirty="0">
                <a:latin typeface="Cambria Math"/>
                <a:cs typeface="Cambria Math"/>
              </a:rPr>
              <a:t>3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7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6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52285" y="2631058"/>
            <a:ext cx="287655" cy="212090"/>
          </a:xfrm>
          <a:custGeom>
            <a:avLst/>
            <a:gdLst/>
            <a:ahLst/>
            <a:cxnLst/>
            <a:rect l="l" t="t" r="r" b="b"/>
            <a:pathLst>
              <a:path w="287655" h="212089">
                <a:moveTo>
                  <a:pt x="219570" y="0"/>
                </a:moveTo>
                <a:lnTo>
                  <a:pt x="216560" y="8636"/>
                </a:lnTo>
                <a:lnTo>
                  <a:pt x="228818" y="13946"/>
                </a:lnTo>
                <a:lnTo>
                  <a:pt x="239361" y="21304"/>
                </a:lnTo>
                <a:lnTo>
                  <a:pt x="260762" y="55449"/>
                </a:lnTo>
                <a:lnTo>
                  <a:pt x="267792" y="104901"/>
                </a:lnTo>
                <a:lnTo>
                  <a:pt x="267008" y="123571"/>
                </a:lnTo>
                <a:lnTo>
                  <a:pt x="255231" y="169290"/>
                </a:lnTo>
                <a:lnTo>
                  <a:pt x="228958" y="197865"/>
                </a:lnTo>
                <a:lnTo>
                  <a:pt x="216890" y="203200"/>
                </a:lnTo>
                <a:lnTo>
                  <a:pt x="219570" y="211836"/>
                </a:lnTo>
                <a:lnTo>
                  <a:pt x="260034" y="187725"/>
                </a:lnTo>
                <a:lnTo>
                  <a:pt x="282755" y="143382"/>
                </a:lnTo>
                <a:lnTo>
                  <a:pt x="287108" y="105917"/>
                </a:lnTo>
                <a:lnTo>
                  <a:pt x="286016" y="86538"/>
                </a:lnTo>
                <a:lnTo>
                  <a:pt x="269633" y="37211"/>
                </a:lnTo>
                <a:lnTo>
                  <a:pt x="234922" y="5599"/>
                </a:lnTo>
                <a:lnTo>
                  <a:pt x="219570" y="0"/>
                </a:lnTo>
                <a:close/>
              </a:path>
              <a:path w="287655" h="212089">
                <a:moveTo>
                  <a:pt x="67525" y="0"/>
                </a:moveTo>
                <a:lnTo>
                  <a:pt x="27154" y="24181"/>
                </a:lnTo>
                <a:lnTo>
                  <a:pt x="4370" y="68611"/>
                </a:lnTo>
                <a:lnTo>
                  <a:pt x="0" y="105917"/>
                </a:lnTo>
                <a:lnTo>
                  <a:pt x="1088" y="125424"/>
                </a:lnTo>
                <a:lnTo>
                  <a:pt x="17411" y="174751"/>
                </a:lnTo>
                <a:lnTo>
                  <a:pt x="52133" y="206291"/>
                </a:lnTo>
                <a:lnTo>
                  <a:pt x="67525" y="211836"/>
                </a:lnTo>
                <a:lnTo>
                  <a:pt x="70205" y="203200"/>
                </a:lnTo>
                <a:lnTo>
                  <a:pt x="58144" y="197866"/>
                </a:lnTo>
                <a:lnTo>
                  <a:pt x="47734" y="190436"/>
                </a:lnTo>
                <a:lnTo>
                  <a:pt x="26372" y="155765"/>
                </a:lnTo>
                <a:lnTo>
                  <a:pt x="19316" y="104901"/>
                </a:lnTo>
                <a:lnTo>
                  <a:pt x="20100" y="86830"/>
                </a:lnTo>
                <a:lnTo>
                  <a:pt x="31864" y="42163"/>
                </a:lnTo>
                <a:lnTo>
                  <a:pt x="58337" y="13946"/>
                </a:lnTo>
                <a:lnTo>
                  <a:pt x="70548" y="8636"/>
                </a:lnTo>
                <a:lnTo>
                  <a:pt x="67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298696" y="2631058"/>
            <a:ext cx="687705" cy="212090"/>
          </a:xfrm>
          <a:custGeom>
            <a:avLst/>
            <a:gdLst/>
            <a:ahLst/>
            <a:cxnLst/>
            <a:rect l="l" t="t" r="r" b="b"/>
            <a:pathLst>
              <a:path w="687704" h="212089">
                <a:moveTo>
                  <a:pt x="619632" y="0"/>
                </a:moveTo>
                <a:lnTo>
                  <a:pt x="616584" y="8636"/>
                </a:lnTo>
                <a:lnTo>
                  <a:pt x="628852" y="13946"/>
                </a:lnTo>
                <a:lnTo>
                  <a:pt x="639381" y="21304"/>
                </a:lnTo>
                <a:lnTo>
                  <a:pt x="660820" y="55449"/>
                </a:lnTo>
                <a:lnTo>
                  <a:pt x="667892" y="104901"/>
                </a:lnTo>
                <a:lnTo>
                  <a:pt x="667107" y="123571"/>
                </a:lnTo>
                <a:lnTo>
                  <a:pt x="655319" y="169290"/>
                </a:lnTo>
                <a:lnTo>
                  <a:pt x="629013" y="197865"/>
                </a:lnTo>
                <a:lnTo>
                  <a:pt x="616965" y="203200"/>
                </a:lnTo>
                <a:lnTo>
                  <a:pt x="619632" y="211836"/>
                </a:lnTo>
                <a:lnTo>
                  <a:pt x="660048" y="187725"/>
                </a:lnTo>
                <a:lnTo>
                  <a:pt x="682815" y="143382"/>
                </a:lnTo>
                <a:lnTo>
                  <a:pt x="687196" y="105917"/>
                </a:lnTo>
                <a:lnTo>
                  <a:pt x="686101" y="86538"/>
                </a:lnTo>
                <a:lnTo>
                  <a:pt x="669670" y="37211"/>
                </a:lnTo>
                <a:lnTo>
                  <a:pt x="634970" y="5599"/>
                </a:lnTo>
                <a:lnTo>
                  <a:pt x="619632" y="0"/>
                </a:lnTo>
                <a:close/>
              </a:path>
              <a:path w="687704" h="212089">
                <a:moveTo>
                  <a:pt x="67563" y="0"/>
                </a:moveTo>
                <a:lnTo>
                  <a:pt x="27112" y="24181"/>
                </a:lnTo>
                <a:lnTo>
                  <a:pt x="4365" y="68611"/>
                </a:lnTo>
                <a:lnTo>
                  <a:pt x="0" y="105917"/>
                </a:lnTo>
                <a:lnTo>
                  <a:pt x="1093" y="125424"/>
                </a:lnTo>
                <a:lnTo>
                  <a:pt x="17399" y="174751"/>
                </a:lnTo>
                <a:lnTo>
                  <a:pt x="52135" y="206291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30" y="197866"/>
                </a:lnTo>
                <a:lnTo>
                  <a:pt x="47720" y="190436"/>
                </a:lnTo>
                <a:lnTo>
                  <a:pt x="26376" y="155765"/>
                </a:lnTo>
                <a:lnTo>
                  <a:pt x="19303" y="104901"/>
                </a:lnTo>
                <a:lnTo>
                  <a:pt x="20089" y="86830"/>
                </a:lnTo>
                <a:lnTo>
                  <a:pt x="31876" y="42163"/>
                </a:lnTo>
                <a:lnTo>
                  <a:pt x="58291" y="13946"/>
                </a:lnTo>
                <a:lnTo>
                  <a:pt x="70484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2831" y="2561335"/>
            <a:ext cx="5737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69925" algn="l"/>
                <a:tab pos="5004435" algn="l"/>
              </a:tabLst>
            </a:pPr>
            <a:r>
              <a:rPr sz="1800" spc="-5" dirty="0">
                <a:latin typeface="Cambria Math"/>
                <a:cs typeface="Cambria Math"/>
              </a:rPr>
              <a:t>𝑃</a:t>
            </a:r>
            <a:r>
              <a:rPr sz="1800" spc="-7" baseline="-20833" dirty="0">
                <a:latin typeface="Cambria Math"/>
                <a:cs typeface="Cambria Math"/>
              </a:rPr>
              <a:t>𝑥  </a:t>
            </a:r>
            <a:r>
              <a:rPr sz="1800" spc="15" baseline="-20833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𝑢	= </a:t>
            </a:r>
            <a:r>
              <a:rPr sz="1800" spc="20" dirty="0">
                <a:latin typeface="Cambria Math"/>
                <a:cs typeface="Cambria Math"/>
              </a:rPr>
              <a:t>𝑥</a:t>
            </a:r>
            <a:r>
              <a:rPr sz="1950" spc="30" baseline="-14957" dirty="0">
                <a:latin typeface="Cambria Math"/>
                <a:cs typeface="Cambria Math"/>
              </a:rPr>
              <a:t>0</a:t>
            </a:r>
            <a:r>
              <a:rPr sz="1800" spc="20" dirty="0">
                <a:latin typeface="Cambria Math"/>
                <a:cs typeface="Cambria Math"/>
              </a:rPr>
              <a:t>(1 </a:t>
            </a:r>
            <a:r>
              <a:rPr sz="1800" dirty="0">
                <a:latin typeface="Cambria Math"/>
                <a:cs typeface="Cambria Math"/>
              </a:rPr>
              <a:t>− </a:t>
            </a:r>
            <a:r>
              <a:rPr sz="1800" spc="25" dirty="0">
                <a:latin typeface="Cambria Math"/>
                <a:cs typeface="Cambria Math"/>
              </a:rPr>
              <a:t>𝑢)</a:t>
            </a:r>
            <a:r>
              <a:rPr sz="1950" spc="37" baseline="27777" dirty="0">
                <a:latin typeface="Cambria Math"/>
                <a:cs typeface="Cambria Math"/>
              </a:rPr>
              <a:t>3</a:t>
            </a:r>
            <a:r>
              <a:rPr sz="1800" spc="25" dirty="0">
                <a:latin typeface="Cambria Math"/>
                <a:cs typeface="Cambria Math"/>
              </a:rPr>
              <a:t>+3𝑥</a:t>
            </a:r>
            <a:r>
              <a:rPr sz="1950" spc="37" baseline="-14957" dirty="0">
                <a:latin typeface="Cambria Math"/>
                <a:cs typeface="Cambria Math"/>
              </a:rPr>
              <a:t>1</a:t>
            </a:r>
            <a:r>
              <a:rPr sz="1800" spc="25" dirty="0">
                <a:latin typeface="Cambria Math"/>
                <a:cs typeface="Cambria Math"/>
              </a:rPr>
              <a:t>𝑢(1 </a:t>
            </a:r>
            <a:r>
              <a:rPr sz="1800" dirty="0">
                <a:latin typeface="Cambria Math"/>
                <a:cs typeface="Cambria Math"/>
              </a:rPr>
              <a:t>− </a:t>
            </a:r>
            <a:r>
              <a:rPr sz="1800" spc="35" dirty="0">
                <a:latin typeface="Cambria Math"/>
                <a:cs typeface="Cambria Math"/>
              </a:rPr>
              <a:t>𝑢)</a:t>
            </a:r>
            <a:r>
              <a:rPr sz="1950" spc="52" baseline="27777" dirty="0">
                <a:latin typeface="Cambria Math"/>
                <a:cs typeface="Cambria Math"/>
              </a:rPr>
              <a:t>2</a:t>
            </a:r>
            <a:r>
              <a:rPr sz="1800" spc="35" dirty="0">
                <a:latin typeface="Cambria Math"/>
                <a:cs typeface="Cambria Math"/>
              </a:rPr>
              <a:t>+3𝑥</a:t>
            </a:r>
            <a:r>
              <a:rPr sz="1950" spc="52" baseline="-14957" dirty="0">
                <a:latin typeface="Cambria Math"/>
                <a:cs typeface="Cambria Math"/>
              </a:rPr>
              <a:t>2</a:t>
            </a:r>
            <a:r>
              <a:rPr sz="1800" spc="35" dirty="0">
                <a:latin typeface="Cambria Math"/>
                <a:cs typeface="Cambria Math"/>
              </a:rPr>
              <a:t>𝑢</a:t>
            </a:r>
            <a:r>
              <a:rPr sz="1950" spc="52" baseline="27777" dirty="0">
                <a:latin typeface="Cambria Math"/>
                <a:cs typeface="Cambria Math"/>
              </a:rPr>
              <a:t>2   </a:t>
            </a:r>
            <a:r>
              <a:rPr sz="1800" dirty="0">
                <a:latin typeface="Cambria Math"/>
                <a:cs typeface="Cambria Math"/>
              </a:rPr>
              <a:t>1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𝑢	+</a:t>
            </a:r>
            <a:r>
              <a:rPr sz="1800" spc="-50" dirty="0">
                <a:latin typeface="Cambria Math"/>
                <a:cs typeface="Cambria Math"/>
              </a:rPr>
              <a:t> </a:t>
            </a:r>
            <a:r>
              <a:rPr sz="1800" spc="45" dirty="0">
                <a:latin typeface="Cambria Math"/>
                <a:cs typeface="Cambria Math"/>
              </a:rPr>
              <a:t>𝑥</a:t>
            </a:r>
            <a:r>
              <a:rPr sz="1950" spc="67" baseline="-14957" dirty="0">
                <a:latin typeface="Cambria Math"/>
                <a:cs typeface="Cambria Math"/>
              </a:rPr>
              <a:t>3</a:t>
            </a:r>
            <a:r>
              <a:rPr sz="1800" spc="45" dirty="0">
                <a:latin typeface="Cambria Math"/>
                <a:cs typeface="Cambria Math"/>
              </a:rPr>
              <a:t>𝑢</a:t>
            </a:r>
            <a:r>
              <a:rPr sz="1950" spc="67" baseline="27777" dirty="0">
                <a:latin typeface="Cambria Math"/>
                <a:cs typeface="Cambria Math"/>
              </a:rPr>
              <a:t>3</a:t>
            </a:r>
            <a:endParaRPr sz="1950" baseline="27777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060185" y="2539237"/>
            <a:ext cx="282575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69240" algn="l"/>
              </a:tabLst>
            </a:pPr>
            <a:r>
              <a:rPr sz="13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	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88797" y="2252979"/>
            <a:ext cx="1187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Solving </a:t>
            </a:r>
            <a:r>
              <a:rPr sz="1800" b="1" spc="-10" dirty="0">
                <a:latin typeface="Calibri"/>
                <a:cs typeface="Calibri"/>
              </a:rPr>
              <a:t>for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04164" y="3725036"/>
            <a:ext cx="287655" cy="212090"/>
          </a:xfrm>
          <a:custGeom>
            <a:avLst/>
            <a:gdLst/>
            <a:ahLst/>
            <a:cxnLst/>
            <a:rect l="l" t="t" r="r" b="b"/>
            <a:pathLst>
              <a:path w="287655" h="212089">
                <a:moveTo>
                  <a:pt x="219582" y="0"/>
                </a:moveTo>
                <a:lnTo>
                  <a:pt x="216560" y="8508"/>
                </a:lnTo>
                <a:lnTo>
                  <a:pt x="228818" y="13819"/>
                </a:lnTo>
                <a:lnTo>
                  <a:pt x="239361" y="21177"/>
                </a:lnTo>
                <a:lnTo>
                  <a:pt x="260764" y="55322"/>
                </a:lnTo>
                <a:lnTo>
                  <a:pt x="267804" y="104775"/>
                </a:lnTo>
                <a:lnTo>
                  <a:pt x="267019" y="123443"/>
                </a:lnTo>
                <a:lnTo>
                  <a:pt x="255244" y="169163"/>
                </a:lnTo>
                <a:lnTo>
                  <a:pt x="228966" y="197738"/>
                </a:lnTo>
                <a:lnTo>
                  <a:pt x="216903" y="203073"/>
                </a:lnTo>
                <a:lnTo>
                  <a:pt x="219582" y="211708"/>
                </a:lnTo>
                <a:lnTo>
                  <a:pt x="260036" y="187652"/>
                </a:lnTo>
                <a:lnTo>
                  <a:pt x="282755" y="143271"/>
                </a:lnTo>
                <a:lnTo>
                  <a:pt x="287108" y="105918"/>
                </a:lnTo>
                <a:lnTo>
                  <a:pt x="286018" y="86465"/>
                </a:lnTo>
                <a:lnTo>
                  <a:pt x="269646" y="37083"/>
                </a:lnTo>
                <a:lnTo>
                  <a:pt x="234934" y="5526"/>
                </a:lnTo>
                <a:lnTo>
                  <a:pt x="219582" y="0"/>
                </a:lnTo>
                <a:close/>
              </a:path>
              <a:path w="287655" h="212089">
                <a:moveTo>
                  <a:pt x="67538" y="0"/>
                </a:moveTo>
                <a:lnTo>
                  <a:pt x="27154" y="24056"/>
                </a:lnTo>
                <a:lnTo>
                  <a:pt x="4370" y="68500"/>
                </a:lnTo>
                <a:lnTo>
                  <a:pt x="0" y="105918"/>
                </a:lnTo>
                <a:lnTo>
                  <a:pt x="1090" y="125350"/>
                </a:lnTo>
                <a:lnTo>
                  <a:pt x="17424" y="174625"/>
                </a:lnTo>
                <a:lnTo>
                  <a:pt x="52141" y="206182"/>
                </a:lnTo>
                <a:lnTo>
                  <a:pt x="67538" y="211708"/>
                </a:lnTo>
                <a:lnTo>
                  <a:pt x="70218" y="203073"/>
                </a:lnTo>
                <a:lnTo>
                  <a:pt x="58149" y="197738"/>
                </a:lnTo>
                <a:lnTo>
                  <a:pt x="47737" y="190309"/>
                </a:lnTo>
                <a:lnTo>
                  <a:pt x="26383" y="155638"/>
                </a:lnTo>
                <a:lnTo>
                  <a:pt x="19316" y="104775"/>
                </a:lnTo>
                <a:lnTo>
                  <a:pt x="20102" y="86703"/>
                </a:lnTo>
                <a:lnTo>
                  <a:pt x="31877" y="42037"/>
                </a:lnTo>
                <a:lnTo>
                  <a:pt x="58337" y="13819"/>
                </a:lnTo>
                <a:lnTo>
                  <a:pt x="70548" y="8508"/>
                </a:lnTo>
                <a:lnTo>
                  <a:pt x="67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355846" y="3725036"/>
            <a:ext cx="687705" cy="212090"/>
          </a:xfrm>
          <a:custGeom>
            <a:avLst/>
            <a:gdLst/>
            <a:ahLst/>
            <a:cxnLst/>
            <a:rect l="l" t="t" r="r" b="b"/>
            <a:pathLst>
              <a:path w="687704" h="212089">
                <a:moveTo>
                  <a:pt x="619632" y="0"/>
                </a:moveTo>
                <a:lnTo>
                  <a:pt x="616712" y="8508"/>
                </a:lnTo>
                <a:lnTo>
                  <a:pt x="628925" y="13819"/>
                </a:lnTo>
                <a:lnTo>
                  <a:pt x="639460" y="21177"/>
                </a:lnTo>
                <a:lnTo>
                  <a:pt x="660874" y="55322"/>
                </a:lnTo>
                <a:lnTo>
                  <a:pt x="667892" y="104775"/>
                </a:lnTo>
                <a:lnTo>
                  <a:pt x="667107" y="123443"/>
                </a:lnTo>
                <a:lnTo>
                  <a:pt x="655319" y="169163"/>
                </a:lnTo>
                <a:lnTo>
                  <a:pt x="629066" y="197738"/>
                </a:lnTo>
                <a:lnTo>
                  <a:pt x="616965" y="203073"/>
                </a:lnTo>
                <a:lnTo>
                  <a:pt x="619632" y="211708"/>
                </a:lnTo>
                <a:lnTo>
                  <a:pt x="660155" y="187652"/>
                </a:lnTo>
                <a:lnTo>
                  <a:pt x="682831" y="143271"/>
                </a:lnTo>
                <a:lnTo>
                  <a:pt x="687196" y="105918"/>
                </a:lnTo>
                <a:lnTo>
                  <a:pt x="686103" y="86465"/>
                </a:lnTo>
                <a:lnTo>
                  <a:pt x="669798" y="37083"/>
                </a:lnTo>
                <a:lnTo>
                  <a:pt x="634990" y="5526"/>
                </a:lnTo>
                <a:lnTo>
                  <a:pt x="619632" y="0"/>
                </a:lnTo>
                <a:close/>
              </a:path>
              <a:path w="687704" h="212089">
                <a:moveTo>
                  <a:pt x="67563" y="0"/>
                </a:moveTo>
                <a:lnTo>
                  <a:pt x="27219" y="24056"/>
                </a:lnTo>
                <a:lnTo>
                  <a:pt x="4381" y="68500"/>
                </a:lnTo>
                <a:lnTo>
                  <a:pt x="0" y="105918"/>
                </a:lnTo>
                <a:lnTo>
                  <a:pt x="1095" y="125350"/>
                </a:lnTo>
                <a:lnTo>
                  <a:pt x="17525" y="174625"/>
                </a:lnTo>
                <a:lnTo>
                  <a:pt x="52208" y="206182"/>
                </a:lnTo>
                <a:lnTo>
                  <a:pt x="67563" y="211708"/>
                </a:lnTo>
                <a:lnTo>
                  <a:pt x="70230" y="203073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03" y="104775"/>
                </a:lnTo>
                <a:lnTo>
                  <a:pt x="20089" y="86703"/>
                </a:lnTo>
                <a:lnTo>
                  <a:pt x="31876" y="42037"/>
                </a:lnTo>
                <a:lnTo>
                  <a:pt x="58398" y="13819"/>
                </a:lnTo>
                <a:lnTo>
                  <a:pt x="70612" y="8508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16839" y="3261105"/>
            <a:ext cx="5732780" cy="69405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570"/>
              </a:spcBef>
              <a:tabLst>
                <a:tab pos="1613535" algn="l"/>
              </a:tabLst>
            </a:pPr>
            <a:r>
              <a:rPr sz="1800" b="1" spc="-5" dirty="0">
                <a:latin typeface="Calibri"/>
                <a:cs typeface="Calibri"/>
              </a:rPr>
              <a:t>Solving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for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y	</a:t>
            </a:r>
            <a:r>
              <a:rPr sz="1800" spc="-10" dirty="0">
                <a:latin typeface="Cambria Math"/>
                <a:cs typeface="Cambria Math"/>
              </a:rPr>
              <a:t>𝑦</a:t>
            </a:r>
            <a:r>
              <a:rPr sz="1950" spc="-15" baseline="-14957" dirty="0">
                <a:latin typeface="Cambria Math"/>
                <a:cs typeface="Cambria Math"/>
              </a:rPr>
              <a:t>0 </a:t>
            </a:r>
            <a:r>
              <a:rPr sz="1800" dirty="0">
                <a:latin typeface="Cambria Math"/>
                <a:cs typeface="Cambria Math"/>
              </a:rPr>
              <a:t>= 1, </a:t>
            </a:r>
            <a:r>
              <a:rPr sz="1800" spc="-30" dirty="0">
                <a:latin typeface="Cambria Math"/>
                <a:cs typeface="Cambria Math"/>
              </a:rPr>
              <a:t>𝑦</a:t>
            </a:r>
            <a:r>
              <a:rPr sz="1950" spc="-44" baseline="-14957" dirty="0">
                <a:latin typeface="Cambria Math"/>
                <a:cs typeface="Cambria Math"/>
              </a:rPr>
              <a:t>1 </a:t>
            </a:r>
            <a:r>
              <a:rPr sz="1800" dirty="0">
                <a:latin typeface="Cambria Math"/>
                <a:cs typeface="Cambria Math"/>
              </a:rPr>
              <a:t>= 3, </a:t>
            </a:r>
            <a:r>
              <a:rPr sz="1800" spc="-10" dirty="0">
                <a:latin typeface="Cambria Math"/>
                <a:cs typeface="Cambria Math"/>
              </a:rPr>
              <a:t>𝑦</a:t>
            </a:r>
            <a:r>
              <a:rPr sz="1950" spc="-15" baseline="-14957" dirty="0">
                <a:latin typeface="Cambria Math"/>
                <a:cs typeface="Cambria Math"/>
              </a:rPr>
              <a:t>2 </a:t>
            </a:r>
            <a:r>
              <a:rPr sz="1800" dirty="0">
                <a:latin typeface="Cambria Math"/>
                <a:cs typeface="Cambria Math"/>
              </a:rPr>
              <a:t>= 3, </a:t>
            </a:r>
            <a:r>
              <a:rPr sz="1800" spc="-10" dirty="0">
                <a:latin typeface="Cambria Math"/>
                <a:cs typeface="Cambria Math"/>
              </a:rPr>
              <a:t>𝑦</a:t>
            </a:r>
            <a:r>
              <a:rPr sz="1950" spc="-15" baseline="-14957" dirty="0">
                <a:latin typeface="Cambria Math"/>
                <a:cs typeface="Cambria Math"/>
              </a:rPr>
              <a:t>3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-2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4</a:t>
            </a:r>
            <a:endParaRPr sz="18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475"/>
              </a:spcBef>
              <a:tabLst>
                <a:tab pos="657860" algn="l"/>
                <a:tab pos="4996815" algn="l"/>
              </a:tabLst>
            </a:pPr>
            <a:r>
              <a:rPr sz="1800" spc="-130" dirty="0">
                <a:latin typeface="Cambria Math"/>
                <a:cs typeface="Cambria Math"/>
              </a:rPr>
              <a:t>𝑃</a:t>
            </a:r>
            <a:r>
              <a:rPr sz="1950" spc="-195" baseline="-14957" dirty="0">
                <a:latin typeface="Cambria Math"/>
                <a:cs typeface="Cambria Math"/>
              </a:rPr>
              <a:t>𝑦    </a:t>
            </a:r>
            <a:r>
              <a:rPr sz="1950" spc="-75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𝑢	= </a:t>
            </a:r>
            <a:r>
              <a:rPr sz="1800" spc="15" dirty="0">
                <a:latin typeface="Cambria Math"/>
                <a:cs typeface="Cambria Math"/>
              </a:rPr>
              <a:t>𝑦</a:t>
            </a:r>
            <a:r>
              <a:rPr sz="1950" spc="22" baseline="-14957" dirty="0">
                <a:latin typeface="Cambria Math"/>
                <a:cs typeface="Cambria Math"/>
              </a:rPr>
              <a:t>0</a:t>
            </a:r>
            <a:r>
              <a:rPr sz="1800" spc="15" dirty="0">
                <a:latin typeface="Cambria Math"/>
                <a:cs typeface="Cambria Math"/>
              </a:rPr>
              <a:t>(1 </a:t>
            </a:r>
            <a:r>
              <a:rPr sz="1800" dirty="0">
                <a:latin typeface="Cambria Math"/>
                <a:cs typeface="Cambria Math"/>
              </a:rPr>
              <a:t>− </a:t>
            </a:r>
            <a:r>
              <a:rPr sz="1800" spc="20" dirty="0">
                <a:latin typeface="Cambria Math"/>
                <a:cs typeface="Cambria Math"/>
              </a:rPr>
              <a:t>𝑢)</a:t>
            </a:r>
            <a:r>
              <a:rPr sz="1950" spc="30" baseline="27777" dirty="0">
                <a:latin typeface="Cambria Math"/>
                <a:cs typeface="Cambria Math"/>
              </a:rPr>
              <a:t>3</a:t>
            </a:r>
            <a:r>
              <a:rPr sz="1800" spc="20" dirty="0">
                <a:latin typeface="Cambria Math"/>
                <a:cs typeface="Cambria Math"/>
              </a:rPr>
              <a:t>+3𝑦</a:t>
            </a:r>
            <a:r>
              <a:rPr sz="1950" spc="30" baseline="-14957" dirty="0">
                <a:latin typeface="Cambria Math"/>
                <a:cs typeface="Cambria Math"/>
              </a:rPr>
              <a:t>1</a:t>
            </a:r>
            <a:r>
              <a:rPr sz="1800" spc="20" dirty="0">
                <a:latin typeface="Cambria Math"/>
                <a:cs typeface="Cambria Math"/>
              </a:rPr>
              <a:t>𝑢(1 </a:t>
            </a:r>
            <a:r>
              <a:rPr sz="1800" dirty="0">
                <a:latin typeface="Cambria Math"/>
                <a:cs typeface="Cambria Math"/>
              </a:rPr>
              <a:t>− </a:t>
            </a:r>
            <a:r>
              <a:rPr sz="1800" spc="35" dirty="0">
                <a:latin typeface="Cambria Math"/>
                <a:cs typeface="Cambria Math"/>
              </a:rPr>
              <a:t>𝑢)</a:t>
            </a:r>
            <a:r>
              <a:rPr sz="1950" spc="52" baseline="27777" dirty="0">
                <a:latin typeface="Cambria Math"/>
                <a:cs typeface="Cambria Math"/>
              </a:rPr>
              <a:t>2</a:t>
            </a:r>
            <a:r>
              <a:rPr sz="1800" spc="35" dirty="0">
                <a:latin typeface="Cambria Math"/>
                <a:cs typeface="Cambria Math"/>
              </a:rPr>
              <a:t>+3𝑦</a:t>
            </a:r>
            <a:r>
              <a:rPr sz="1950" spc="52" baseline="-14957" dirty="0">
                <a:latin typeface="Cambria Math"/>
                <a:cs typeface="Cambria Math"/>
              </a:rPr>
              <a:t>2</a:t>
            </a:r>
            <a:r>
              <a:rPr sz="1800" spc="35" dirty="0">
                <a:latin typeface="Cambria Math"/>
                <a:cs typeface="Cambria Math"/>
              </a:rPr>
              <a:t>𝑢</a:t>
            </a:r>
            <a:r>
              <a:rPr sz="1950" spc="52" baseline="27777" dirty="0">
                <a:latin typeface="Cambria Math"/>
                <a:cs typeface="Cambria Math"/>
              </a:rPr>
              <a:t>2   </a:t>
            </a:r>
            <a:r>
              <a:rPr sz="1800" dirty="0">
                <a:latin typeface="Cambria Math"/>
                <a:cs typeface="Cambria Math"/>
              </a:rPr>
              <a:t>1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𝑢	+</a:t>
            </a:r>
            <a:r>
              <a:rPr sz="1800" spc="-40" dirty="0">
                <a:latin typeface="Cambria Math"/>
                <a:cs typeface="Cambria Math"/>
              </a:rPr>
              <a:t> </a:t>
            </a:r>
            <a:r>
              <a:rPr sz="1800" spc="35" dirty="0">
                <a:latin typeface="Cambria Math"/>
                <a:cs typeface="Cambria Math"/>
              </a:rPr>
              <a:t>𝑦</a:t>
            </a:r>
            <a:r>
              <a:rPr sz="1950" spc="52" baseline="-14957" dirty="0">
                <a:latin typeface="Cambria Math"/>
                <a:cs typeface="Cambria Math"/>
              </a:rPr>
              <a:t>3</a:t>
            </a:r>
            <a:r>
              <a:rPr sz="1800" spc="35" dirty="0">
                <a:latin typeface="Cambria Math"/>
                <a:cs typeface="Cambria Math"/>
              </a:rPr>
              <a:t>𝑢</a:t>
            </a:r>
            <a:r>
              <a:rPr sz="1950" spc="52" baseline="27777" dirty="0">
                <a:latin typeface="Cambria Math"/>
                <a:cs typeface="Cambria Math"/>
              </a:rPr>
              <a:t>3</a:t>
            </a:r>
            <a:endParaRPr sz="1950" baseline="27777">
              <a:latin typeface="Cambria Math"/>
              <a:cs typeface="Cambria Math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79907" y="4073144"/>
            <a:ext cx="287655" cy="212090"/>
          </a:xfrm>
          <a:custGeom>
            <a:avLst/>
            <a:gdLst/>
            <a:ahLst/>
            <a:cxnLst/>
            <a:rect l="l" t="t" r="r" b="b"/>
            <a:pathLst>
              <a:path w="287655" h="212089">
                <a:moveTo>
                  <a:pt x="219570" y="0"/>
                </a:moveTo>
                <a:lnTo>
                  <a:pt x="216560" y="8635"/>
                </a:lnTo>
                <a:lnTo>
                  <a:pt x="228817" y="13946"/>
                </a:lnTo>
                <a:lnTo>
                  <a:pt x="239356" y="21304"/>
                </a:lnTo>
                <a:lnTo>
                  <a:pt x="260762" y="55431"/>
                </a:lnTo>
                <a:lnTo>
                  <a:pt x="267792" y="104901"/>
                </a:lnTo>
                <a:lnTo>
                  <a:pt x="267006" y="123570"/>
                </a:lnTo>
                <a:lnTo>
                  <a:pt x="255231" y="169290"/>
                </a:lnTo>
                <a:lnTo>
                  <a:pt x="228958" y="197865"/>
                </a:lnTo>
                <a:lnTo>
                  <a:pt x="216890" y="203199"/>
                </a:lnTo>
                <a:lnTo>
                  <a:pt x="219570" y="211835"/>
                </a:lnTo>
                <a:lnTo>
                  <a:pt x="260023" y="187707"/>
                </a:lnTo>
                <a:lnTo>
                  <a:pt x="282743" y="143335"/>
                </a:lnTo>
                <a:lnTo>
                  <a:pt x="287096" y="105917"/>
                </a:lnTo>
                <a:lnTo>
                  <a:pt x="286005" y="86536"/>
                </a:lnTo>
                <a:lnTo>
                  <a:pt x="269633" y="37083"/>
                </a:lnTo>
                <a:lnTo>
                  <a:pt x="234922" y="5544"/>
                </a:lnTo>
                <a:lnTo>
                  <a:pt x="219570" y="0"/>
                </a:lnTo>
                <a:close/>
              </a:path>
              <a:path w="287655" h="212089">
                <a:moveTo>
                  <a:pt x="67525" y="0"/>
                </a:moveTo>
                <a:lnTo>
                  <a:pt x="27142" y="24110"/>
                </a:lnTo>
                <a:lnTo>
                  <a:pt x="4364" y="68595"/>
                </a:lnTo>
                <a:lnTo>
                  <a:pt x="0" y="105917"/>
                </a:lnTo>
                <a:lnTo>
                  <a:pt x="1088" y="125370"/>
                </a:lnTo>
                <a:lnTo>
                  <a:pt x="17411" y="174751"/>
                </a:lnTo>
                <a:lnTo>
                  <a:pt x="52128" y="206238"/>
                </a:lnTo>
                <a:lnTo>
                  <a:pt x="67525" y="211835"/>
                </a:lnTo>
                <a:lnTo>
                  <a:pt x="70205" y="203199"/>
                </a:lnTo>
                <a:lnTo>
                  <a:pt x="58142" y="197865"/>
                </a:lnTo>
                <a:lnTo>
                  <a:pt x="47729" y="190436"/>
                </a:lnTo>
                <a:lnTo>
                  <a:pt x="26370" y="155765"/>
                </a:lnTo>
                <a:lnTo>
                  <a:pt x="19304" y="104901"/>
                </a:lnTo>
                <a:lnTo>
                  <a:pt x="20089" y="86776"/>
                </a:lnTo>
                <a:lnTo>
                  <a:pt x="31864" y="42163"/>
                </a:lnTo>
                <a:lnTo>
                  <a:pt x="58330" y="13946"/>
                </a:lnTo>
                <a:lnTo>
                  <a:pt x="70548" y="8635"/>
                </a:lnTo>
                <a:lnTo>
                  <a:pt x="67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752722" y="4073144"/>
            <a:ext cx="687070" cy="212090"/>
          </a:xfrm>
          <a:custGeom>
            <a:avLst/>
            <a:gdLst/>
            <a:ahLst/>
            <a:cxnLst/>
            <a:rect l="l" t="t" r="r" b="b"/>
            <a:pathLst>
              <a:path w="687070" h="212089">
                <a:moveTo>
                  <a:pt x="619632" y="0"/>
                </a:moveTo>
                <a:lnTo>
                  <a:pt x="616585" y="8635"/>
                </a:lnTo>
                <a:lnTo>
                  <a:pt x="628852" y="13946"/>
                </a:lnTo>
                <a:lnTo>
                  <a:pt x="639381" y="21304"/>
                </a:lnTo>
                <a:lnTo>
                  <a:pt x="660800" y="55431"/>
                </a:lnTo>
                <a:lnTo>
                  <a:pt x="667765" y="104901"/>
                </a:lnTo>
                <a:lnTo>
                  <a:pt x="666982" y="123570"/>
                </a:lnTo>
                <a:lnTo>
                  <a:pt x="655319" y="169290"/>
                </a:lnTo>
                <a:lnTo>
                  <a:pt x="629013" y="197865"/>
                </a:lnTo>
                <a:lnTo>
                  <a:pt x="616965" y="203199"/>
                </a:lnTo>
                <a:lnTo>
                  <a:pt x="619632" y="211835"/>
                </a:lnTo>
                <a:lnTo>
                  <a:pt x="660030" y="187707"/>
                </a:lnTo>
                <a:lnTo>
                  <a:pt x="682751" y="143335"/>
                </a:lnTo>
                <a:lnTo>
                  <a:pt x="687069" y="105917"/>
                </a:lnTo>
                <a:lnTo>
                  <a:pt x="685994" y="86536"/>
                </a:lnTo>
                <a:lnTo>
                  <a:pt x="669671" y="37083"/>
                </a:lnTo>
                <a:lnTo>
                  <a:pt x="634970" y="5544"/>
                </a:lnTo>
                <a:lnTo>
                  <a:pt x="619632" y="0"/>
                </a:lnTo>
                <a:close/>
              </a:path>
              <a:path w="687070" h="212089">
                <a:moveTo>
                  <a:pt x="67563" y="0"/>
                </a:moveTo>
                <a:lnTo>
                  <a:pt x="27094" y="24110"/>
                </a:lnTo>
                <a:lnTo>
                  <a:pt x="4365" y="68595"/>
                </a:lnTo>
                <a:lnTo>
                  <a:pt x="0" y="105917"/>
                </a:lnTo>
                <a:lnTo>
                  <a:pt x="1075" y="125370"/>
                </a:lnTo>
                <a:lnTo>
                  <a:pt x="17399" y="174751"/>
                </a:lnTo>
                <a:lnTo>
                  <a:pt x="52135" y="206238"/>
                </a:lnTo>
                <a:lnTo>
                  <a:pt x="67563" y="211835"/>
                </a:lnTo>
                <a:lnTo>
                  <a:pt x="70230" y="203199"/>
                </a:lnTo>
                <a:lnTo>
                  <a:pt x="58130" y="197865"/>
                </a:lnTo>
                <a:lnTo>
                  <a:pt x="47720" y="190436"/>
                </a:lnTo>
                <a:lnTo>
                  <a:pt x="26376" y="155765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291" y="13946"/>
                </a:lnTo>
                <a:lnTo>
                  <a:pt x="70485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05231" y="4003547"/>
            <a:ext cx="4927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45160" algn="l"/>
                <a:tab pos="4305300" algn="l"/>
              </a:tabLst>
            </a:pPr>
            <a:r>
              <a:rPr sz="1800" spc="-130" dirty="0">
                <a:latin typeface="Cambria Math"/>
                <a:cs typeface="Cambria Math"/>
              </a:rPr>
              <a:t>𝑃</a:t>
            </a:r>
            <a:r>
              <a:rPr sz="1950" spc="-195" baseline="-14957" dirty="0">
                <a:latin typeface="Cambria Math"/>
                <a:cs typeface="Cambria Math"/>
              </a:rPr>
              <a:t>𝑦    </a:t>
            </a:r>
            <a:r>
              <a:rPr sz="1950" spc="-75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𝑢	= (1 − </a:t>
            </a:r>
            <a:r>
              <a:rPr sz="1800" spc="25" dirty="0">
                <a:latin typeface="Cambria Math"/>
                <a:cs typeface="Cambria Math"/>
              </a:rPr>
              <a:t>𝑢)</a:t>
            </a:r>
            <a:r>
              <a:rPr sz="1950" spc="37" baseline="27777" dirty="0">
                <a:latin typeface="Cambria Math"/>
                <a:cs typeface="Cambria Math"/>
              </a:rPr>
              <a:t>3</a:t>
            </a:r>
            <a:r>
              <a:rPr sz="1800" spc="25" dirty="0">
                <a:latin typeface="Cambria Math"/>
                <a:cs typeface="Cambria Math"/>
              </a:rPr>
              <a:t>+9𝑢(1 </a:t>
            </a:r>
            <a:r>
              <a:rPr sz="1800" dirty="0">
                <a:latin typeface="Cambria Math"/>
                <a:cs typeface="Cambria Math"/>
              </a:rPr>
              <a:t>− </a:t>
            </a:r>
            <a:r>
              <a:rPr sz="1800" spc="35" dirty="0">
                <a:latin typeface="Cambria Math"/>
                <a:cs typeface="Cambria Math"/>
              </a:rPr>
              <a:t>𝑢)</a:t>
            </a:r>
            <a:r>
              <a:rPr sz="1950" spc="52" baseline="27777" dirty="0">
                <a:latin typeface="Cambria Math"/>
                <a:cs typeface="Cambria Math"/>
              </a:rPr>
              <a:t>2</a:t>
            </a:r>
            <a:r>
              <a:rPr sz="1800" spc="35" dirty="0">
                <a:latin typeface="Cambria Math"/>
                <a:cs typeface="Cambria Math"/>
              </a:rPr>
              <a:t>+9𝑢</a:t>
            </a:r>
            <a:r>
              <a:rPr sz="1950" spc="52" baseline="27777" dirty="0">
                <a:latin typeface="Cambria Math"/>
                <a:cs typeface="Cambria Math"/>
              </a:rPr>
              <a:t>2   </a:t>
            </a:r>
            <a:r>
              <a:rPr sz="1800" dirty="0">
                <a:latin typeface="Cambria Math"/>
                <a:cs typeface="Cambria Math"/>
              </a:rPr>
              <a:t>1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𝑢	+</a:t>
            </a:r>
            <a:r>
              <a:rPr sz="1800" spc="-45" dirty="0">
                <a:latin typeface="Cambria Math"/>
                <a:cs typeface="Cambria Math"/>
              </a:rPr>
              <a:t> </a:t>
            </a:r>
            <a:r>
              <a:rPr sz="1800" spc="30" dirty="0">
                <a:latin typeface="Cambria Math"/>
                <a:cs typeface="Cambria Math"/>
              </a:rPr>
              <a:t>4𝑢</a:t>
            </a:r>
            <a:r>
              <a:rPr sz="1950" spc="44" baseline="27777" dirty="0">
                <a:latin typeface="Cambria Math"/>
                <a:cs typeface="Cambria Math"/>
              </a:rPr>
              <a:t>3</a:t>
            </a:r>
            <a:endParaRPr sz="1950" baseline="27777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12674" y="3004057"/>
            <a:ext cx="12446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155" dirty="0">
                <a:latin typeface="Cambria Math"/>
                <a:cs typeface="Cambria Math"/>
              </a:rPr>
              <a:t>𝑥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58343" y="2965576"/>
            <a:ext cx="287655" cy="212090"/>
          </a:xfrm>
          <a:custGeom>
            <a:avLst/>
            <a:gdLst/>
            <a:ahLst/>
            <a:cxnLst/>
            <a:rect l="l" t="t" r="r" b="b"/>
            <a:pathLst>
              <a:path w="287655" h="212089">
                <a:moveTo>
                  <a:pt x="219570" y="0"/>
                </a:moveTo>
                <a:lnTo>
                  <a:pt x="216560" y="8636"/>
                </a:lnTo>
                <a:lnTo>
                  <a:pt x="228817" y="13946"/>
                </a:lnTo>
                <a:lnTo>
                  <a:pt x="239356" y="21304"/>
                </a:lnTo>
                <a:lnTo>
                  <a:pt x="260762" y="55429"/>
                </a:lnTo>
                <a:lnTo>
                  <a:pt x="267792" y="104775"/>
                </a:lnTo>
                <a:lnTo>
                  <a:pt x="267008" y="123444"/>
                </a:lnTo>
                <a:lnTo>
                  <a:pt x="255231" y="169163"/>
                </a:lnTo>
                <a:lnTo>
                  <a:pt x="228958" y="197864"/>
                </a:lnTo>
                <a:lnTo>
                  <a:pt x="216890" y="203200"/>
                </a:lnTo>
                <a:lnTo>
                  <a:pt x="219570" y="211709"/>
                </a:lnTo>
                <a:lnTo>
                  <a:pt x="260028" y="187705"/>
                </a:lnTo>
                <a:lnTo>
                  <a:pt x="282755" y="143335"/>
                </a:lnTo>
                <a:lnTo>
                  <a:pt x="287108" y="105918"/>
                </a:lnTo>
                <a:lnTo>
                  <a:pt x="286016" y="86536"/>
                </a:lnTo>
                <a:lnTo>
                  <a:pt x="269633" y="37084"/>
                </a:lnTo>
                <a:lnTo>
                  <a:pt x="234922" y="5544"/>
                </a:lnTo>
                <a:lnTo>
                  <a:pt x="219570" y="0"/>
                </a:lnTo>
                <a:close/>
              </a:path>
              <a:path w="287655" h="212089">
                <a:moveTo>
                  <a:pt x="67525" y="0"/>
                </a:moveTo>
                <a:lnTo>
                  <a:pt x="27142" y="24110"/>
                </a:lnTo>
                <a:lnTo>
                  <a:pt x="4364" y="68595"/>
                </a:lnTo>
                <a:lnTo>
                  <a:pt x="0" y="105918"/>
                </a:lnTo>
                <a:lnTo>
                  <a:pt x="1088" y="125370"/>
                </a:lnTo>
                <a:lnTo>
                  <a:pt x="17411" y="174751"/>
                </a:lnTo>
                <a:lnTo>
                  <a:pt x="52133" y="206184"/>
                </a:lnTo>
                <a:lnTo>
                  <a:pt x="67525" y="211709"/>
                </a:lnTo>
                <a:lnTo>
                  <a:pt x="70205" y="203200"/>
                </a:lnTo>
                <a:lnTo>
                  <a:pt x="58142" y="197864"/>
                </a:lnTo>
                <a:lnTo>
                  <a:pt x="47729" y="190420"/>
                </a:lnTo>
                <a:lnTo>
                  <a:pt x="26370" y="15563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64" y="42163"/>
                </a:lnTo>
                <a:lnTo>
                  <a:pt x="58335" y="13946"/>
                </a:lnTo>
                <a:lnTo>
                  <a:pt x="70548" y="8636"/>
                </a:lnTo>
                <a:lnTo>
                  <a:pt x="67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857625" y="2965576"/>
            <a:ext cx="687705" cy="212090"/>
          </a:xfrm>
          <a:custGeom>
            <a:avLst/>
            <a:gdLst/>
            <a:ahLst/>
            <a:cxnLst/>
            <a:rect l="l" t="t" r="r" b="b"/>
            <a:pathLst>
              <a:path w="687704" h="212089">
                <a:moveTo>
                  <a:pt x="619633" y="0"/>
                </a:moveTo>
                <a:lnTo>
                  <a:pt x="616585" y="8636"/>
                </a:lnTo>
                <a:lnTo>
                  <a:pt x="628870" y="13946"/>
                </a:lnTo>
                <a:lnTo>
                  <a:pt x="639429" y="21304"/>
                </a:lnTo>
                <a:lnTo>
                  <a:pt x="660820" y="55429"/>
                </a:lnTo>
                <a:lnTo>
                  <a:pt x="667892" y="104775"/>
                </a:lnTo>
                <a:lnTo>
                  <a:pt x="667107" y="123444"/>
                </a:lnTo>
                <a:lnTo>
                  <a:pt x="655320" y="169163"/>
                </a:lnTo>
                <a:lnTo>
                  <a:pt x="629013" y="197864"/>
                </a:lnTo>
                <a:lnTo>
                  <a:pt x="616965" y="203200"/>
                </a:lnTo>
                <a:lnTo>
                  <a:pt x="619633" y="211709"/>
                </a:lnTo>
                <a:lnTo>
                  <a:pt x="660102" y="187705"/>
                </a:lnTo>
                <a:lnTo>
                  <a:pt x="682831" y="143335"/>
                </a:lnTo>
                <a:lnTo>
                  <a:pt x="687197" y="105918"/>
                </a:lnTo>
                <a:lnTo>
                  <a:pt x="686101" y="86536"/>
                </a:lnTo>
                <a:lnTo>
                  <a:pt x="669671" y="37084"/>
                </a:lnTo>
                <a:lnTo>
                  <a:pt x="634970" y="5544"/>
                </a:lnTo>
                <a:lnTo>
                  <a:pt x="619633" y="0"/>
                </a:lnTo>
                <a:close/>
              </a:path>
              <a:path w="687704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0" y="203200"/>
                </a:lnTo>
                <a:lnTo>
                  <a:pt x="58130" y="197864"/>
                </a:lnTo>
                <a:lnTo>
                  <a:pt x="47720" y="190420"/>
                </a:lnTo>
                <a:lnTo>
                  <a:pt x="26376" y="15563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3"/>
                </a:lnTo>
                <a:lnTo>
                  <a:pt x="58291" y="13946"/>
                </a:lnTo>
                <a:lnTo>
                  <a:pt x="70485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90500" y="2895853"/>
            <a:ext cx="5047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42900" algn="l"/>
                <a:tab pos="637540" algn="l"/>
                <a:tab pos="4425315" algn="l"/>
              </a:tabLst>
            </a:pPr>
            <a:r>
              <a:rPr sz="1800" dirty="0">
                <a:latin typeface="Cambria Math"/>
                <a:cs typeface="Cambria Math"/>
              </a:rPr>
              <a:t>𝑃	𝑢	= (1 − </a:t>
            </a:r>
            <a:r>
              <a:rPr sz="1800" spc="25" dirty="0">
                <a:latin typeface="Cambria Math"/>
                <a:cs typeface="Cambria Math"/>
              </a:rPr>
              <a:t>𝑢)</a:t>
            </a:r>
            <a:r>
              <a:rPr sz="1950" spc="37" baseline="27777" dirty="0">
                <a:latin typeface="Cambria Math"/>
                <a:cs typeface="Cambria Math"/>
              </a:rPr>
              <a:t>3</a:t>
            </a:r>
            <a:r>
              <a:rPr sz="1800" spc="25" dirty="0">
                <a:latin typeface="Cambria Math"/>
                <a:cs typeface="Cambria Math"/>
              </a:rPr>
              <a:t>+6𝑢(1 </a:t>
            </a:r>
            <a:r>
              <a:rPr sz="1800" dirty="0">
                <a:latin typeface="Cambria Math"/>
                <a:cs typeface="Cambria Math"/>
              </a:rPr>
              <a:t>− </a:t>
            </a:r>
            <a:r>
              <a:rPr sz="1800" spc="30" dirty="0">
                <a:latin typeface="Cambria Math"/>
                <a:cs typeface="Cambria Math"/>
              </a:rPr>
              <a:t>𝑢)</a:t>
            </a:r>
            <a:r>
              <a:rPr sz="1950" spc="44" baseline="27777" dirty="0">
                <a:latin typeface="Cambria Math"/>
                <a:cs typeface="Cambria Math"/>
              </a:rPr>
              <a:t>2</a:t>
            </a:r>
            <a:r>
              <a:rPr sz="1800" spc="30" dirty="0">
                <a:latin typeface="Cambria Math"/>
                <a:cs typeface="Cambria Math"/>
              </a:rPr>
              <a:t>+12𝑢</a:t>
            </a:r>
            <a:r>
              <a:rPr sz="1950" spc="44" baseline="27777" dirty="0">
                <a:latin typeface="Cambria Math"/>
                <a:cs typeface="Cambria Math"/>
              </a:rPr>
              <a:t>2 </a:t>
            </a:r>
            <a:r>
              <a:rPr sz="1950" spc="517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1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𝑢	+</a:t>
            </a:r>
            <a:r>
              <a:rPr sz="1800" spc="-45" dirty="0">
                <a:latin typeface="Cambria Math"/>
                <a:cs typeface="Cambria Math"/>
              </a:rPr>
              <a:t> </a:t>
            </a:r>
            <a:r>
              <a:rPr sz="1800" spc="30" dirty="0">
                <a:latin typeface="Cambria Math"/>
                <a:cs typeface="Cambria Math"/>
              </a:rPr>
              <a:t>6𝑢</a:t>
            </a:r>
            <a:r>
              <a:rPr sz="1950" spc="44" baseline="27777" dirty="0">
                <a:latin typeface="Cambria Math"/>
                <a:cs typeface="Cambria Math"/>
              </a:rPr>
              <a:t>3</a:t>
            </a:r>
            <a:endParaRPr sz="1950" baseline="27777">
              <a:latin typeface="Cambria Math"/>
              <a:cs typeface="Cambria Math"/>
            </a:endParaRPr>
          </a:p>
        </p:txBody>
      </p:sp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1325117" y="4394961"/>
          <a:ext cx="3067050" cy="2377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u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b="1" baseline="-20833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(u)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b="1" baseline="-20833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(u)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0.0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0.2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1.712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1.984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0.4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2.616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2.632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0.6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3.664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3.088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0.8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4.808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3.496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1.0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5" name="object 55"/>
          <p:cNvSpPr/>
          <p:nvPr/>
        </p:nvSpPr>
        <p:spPr>
          <a:xfrm>
            <a:off x="7842377" y="4981194"/>
            <a:ext cx="117601" cy="1320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562979" y="5778855"/>
            <a:ext cx="117601" cy="1320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842379" y="4997830"/>
            <a:ext cx="117601" cy="13208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138417" y="3970909"/>
            <a:ext cx="132715" cy="2308860"/>
          </a:xfrm>
          <a:custGeom>
            <a:avLst/>
            <a:gdLst/>
            <a:ahLst/>
            <a:cxnLst/>
            <a:rect l="l" t="t" r="r" b="b"/>
            <a:pathLst>
              <a:path w="132714" h="2308860">
                <a:moveTo>
                  <a:pt x="66293" y="56664"/>
                </a:moveTo>
                <a:lnTo>
                  <a:pt x="52070" y="81033"/>
                </a:lnTo>
                <a:lnTo>
                  <a:pt x="52070" y="2308326"/>
                </a:lnTo>
                <a:lnTo>
                  <a:pt x="80645" y="2308326"/>
                </a:lnTo>
                <a:lnTo>
                  <a:pt x="80645" y="81250"/>
                </a:lnTo>
                <a:lnTo>
                  <a:pt x="66293" y="56664"/>
                </a:lnTo>
                <a:close/>
              </a:path>
              <a:path w="132714" h="2308860">
                <a:moveTo>
                  <a:pt x="66294" y="0"/>
                </a:moveTo>
                <a:lnTo>
                  <a:pt x="3937" y="106934"/>
                </a:lnTo>
                <a:lnTo>
                  <a:pt x="0" y="113792"/>
                </a:lnTo>
                <a:lnTo>
                  <a:pt x="2286" y="122428"/>
                </a:lnTo>
                <a:lnTo>
                  <a:pt x="15875" y="130429"/>
                </a:lnTo>
                <a:lnTo>
                  <a:pt x="24637" y="128143"/>
                </a:lnTo>
                <a:lnTo>
                  <a:pt x="28575" y="121285"/>
                </a:lnTo>
                <a:lnTo>
                  <a:pt x="52070" y="81033"/>
                </a:lnTo>
                <a:lnTo>
                  <a:pt x="52070" y="28321"/>
                </a:lnTo>
                <a:lnTo>
                  <a:pt x="82808" y="28321"/>
                </a:lnTo>
                <a:lnTo>
                  <a:pt x="66294" y="0"/>
                </a:lnTo>
                <a:close/>
              </a:path>
              <a:path w="132714" h="2308860">
                <a:moveTo>
                  <a:pt x="82808" y="28321"/>
                </a:moveTo>
                <a:lnTo>
                  <a:pt x="80645" y="28321"/>
                </a:lnTo>
                <a:lnTo>
                  <a:pt x="80645" y="81250"/>
                </a:lnTo>
                <a:lnTo>
                  <a:pt x="104012" y="121285"/>
                </a:lnTo>
                <a:lnTo>
                  <a:pt x="107950" y="128143"/>
                </a:lnTo>
                <a:lnTo>
                  <a:pt x="116712" y="130429"/>
                </a:lnTo>
                <a:lnTo>
                  <a:pt x="130302" y="122428"/>
                </a:lnTo>
                <a:lnTo>
                  <a:pt x="132587" y="113792"/>
                </a:lnTo>
                <a:lnTo>
                  <a:pt x="128651" y="106934"/>
                </a:lnTo>
                <a:lnTo>
                  <a:pt x="82808" y="28321"/>
                </a:lnTo>
                <a:close/>
              </a:path>
              <a:path w="132714" h="2308860">
                <a:moveTo>
                  <a:pt x="80645" y="35560"/>
                </a:moveTo>
                <a:lnTo>
                  <a:pt x="78612" y="35560"/>
                </a:lnTo>
                <a:lnTo>
                  <a:pt x="66293" y="56664"/>
                </a:lnTo>
                <a:lnTo>
                  <a:pt x="80645" y="81250"/>
                </a:lnTo>
                <a:lnTo>
                  <a:pt x="80645" y="35560"/>
                </a:lnTo>
                <a:close/>
              </a:path>
              <a:path w="132714" h="2308860">
                <a:moveTo>
                  <a:pt x="80645" y="28321"/>
                </a:moveTo>
                <a:lnTo>
                  <a:pt x="52070" y="28321"/>
                </a:lnTo>
                <a:lnTo>
                  <a:pt x="52070" y="81033"/>
                </a:lnTo>
                <a:lnTo>
                  <a:pt x="66293" y="56664"/>
                </a:lnTo>
                <a:lnTo>
                  <a:pt x="53975" y="35560"/>
                </a:lnTo>
                <a:lnTo>
                  <a:pt x="80645" y="35560"/>
                </a:lnTo>
                <a:lnTo>
                  <a:pt x="80645" y="28321"/>
                </a:lnTo>
                <a:close/>
              </a:path>
              <a:path w="132714" h="2308860">
                <a:moveTo>
                  <a:pt x="78612" y="35560"/>
                </a:moveTo>
                <a:lnTo>
                  <a:pt x="53975" y="35560"/>
                </a:lnTo>
                <a:lnTo>
                  <a:pt x="66293" y="56664"/>
                </a:lnTo>
                <a:lnTo>
                  <a:pt x="78612" y="3556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140450" y="6214287"/>
            <a:ext cx="2874010" cy="132715"/>
          </a:xfrm>
          <a:custGeom>
            <a:avLst/>
            <a:gdLst/>
            <a:ahLst/>
            <a:cxnLst/>
            <a:rect l="l" t="t" r="r" b="b"/>
            <a:pathLst>
              <a:path w="2874009" h="132714">
                <a:moveTo>
                  <a:pt x="2760091" y="0"/>
                </a:moveTo>
                <a:lnTo>
                  <a:pt x="2751328" y="2298"/>
                </a:lnTo>
                <a:lnTo>
                  <a:pt x="2747391" y="9105"/>
                </a:lnTo>
                <a:lnTo>
                  <a:pt x="2743327" y="15925"/>
                </a:lnTo>
                <a:lnTo>
                  <a:pt x="2745613" y="24676"/>
                </a:lnTo>
                <a:lnTo>
                  <a:pt x="2792549" y="52062"/>
                </a:lnTo>
                <a:lnTo>
                  <a:pt x="2845434" y="52108"/>
                </a:lnTo>
                <a:lnTo>
                  <a:pt x="2845434" y="80683"/>
                </a:lnTo>
                <a:lnTo>
                  <a:pt x="2792477" y="80683"/>
                </a:lnTo>
                <a:lnTo>
                  <a:pt x="2745613" y="107949"/>
                </a:lnTo>
                <a:lnTo>
                  <a:pt x="2743327" y="116700"/>
                </a:lnTo>
                <a:lnTo>
                  <a:pt x="2751201" y="130340"/>
                </a:lnTo>
                <a:lnTo>
                  <a:pt x="2759964" y="132651"/>
                </a:lnTo>
                <a:lnTo>
                  <a:pt x="2849258" y="80683"/>
                </a:lnTo>
                <a:lnTo>
                  <a:pt x="2845434" y="80683"/>
                </a:lnTo>
                <a:lnTo>
                  <a:pt x="2849336" y="80637"/>
                </a:lnTo>
                <a:lnTo>
                  <a:pt x="2873755" y="66420"/>
                </a:lnTo>
                <a:lnTo>
                  <a:pt x="2760091" y="0"/>
                </a:lnTo>
                <a:close/>
              </a:path>
              <a:path w="2874009" h="132714">
                <a:moveTo>
                  <a:pt x="2817045" y="66372"/>
                </a:moveTo>
                <a:lnTo>
                  <a:pt x="2792555" y="80637"/>
                </a:lnTo>
                <a:lnTo>
                  <a:pt x="2845434" y="80683"/>
                </a:lnTo>
                <a:lnTo>
                  <a:pt x="2845434" y="78727"/>
                </a:lnTo>
                <a:lnTo>
                  <a:pt x="2838196" y="78727"/>
                </a:lnTo>
                <a:lnTo>
                  <a:pt x="2817045" y="66372"/>
                </a:lnTo>
                <a:close/>
              </a:path>
              <a:path w="2874009" h="132714">
                <a:moveTo>
                  <a:pt x="0" y="49669"/>
                </a:moveTo>
                <a:lnTo>
                  <a:pt x="0" y="78244"/>
                </a:lnTo>
                <a:lnTo>
                  <a:pt x="2792555" y="80637"/>
                </a:lnTo>
                <a:lnTo>
                  <a:pt x="2817045" y="66372"/>
                </a:lnTo>
                <a:lnTo>
                  <a:pt x="2792549" y="52062"/>
                </a:lnTo>
                <a:lnTo>
                  <a:pt x="0" y="49669"/>
                </a:lnTo>
                <a:close/>
              </a:path>
              <a:path w="2874009" h="132714">
                <a:moveTo>
                  <a:pt x="2838196" y="54051"/>
                </a:moveTo>
                <a:lnTo>
                  <a:pt x="2817045" y="66372"/>
                </a:lnTo>
                <a:lnTo>
                  <a:pt x="2838196" y="78727"/>
                </a:lnTo>
                <a:lnTo>
                  <a:pt x="2838196" y="54051"/>
                </a:lnTo>
                <a:close/>
              </a:path>
              <a:path w="2874009" h="132714">
                <a:moveTo>
                  <a:pt x="2845434" y="54051"/>
                </a:moveTo>
                <a:lnTo>
                  <a:pt x="2838196" y="54051"/>
                </a:lnTo>
                <a:lnTo>
                  <a:pt x="2838196" y="78727"/>
                </a:lnTo>
                <a:lnTo>
                  <a:pt x="2845434" y="78727"/>
                </a:lnTo>
                <a:lnTo>
                  <a:pt x="2845434" y="54051"/>
                </a:lnTo>
                <a:close/>
              </a:path>
              <a:path w="2874009" h="132714">
                <a:moveTo>
                  <a:pt x="2792549" y="52062"/>
                </a:moveTo>
                <a:lnTo>
                  <a:pt x="2817045" y="66372"/>
                </a:lnTo>
                <a:lnTo>
                  <a:pt x="2838196" y="54051"/>
                </a:lnTo>
                <a:lnTo>
                  <a:pt x="2845434" y="54051"/>
                </a:lnTo>
                <a:lnTo>
                  <a:pt x="2845434" y="52108"/>
                </a:lnTo>
                <a:lnTo>
                  <a:pt x="2792549" y="52062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621144" y="6278245"/>
            <a:ext cx="43180" cy="1270"/>
          </a:xfrm>
          <a:custGeom>
            <a:avLst/>
            <a:gdLst/>
            <a:ahLst/>
            <a:cxnLst/>
            <a:rect l="l" t="t" r="r" b="b"/>
            <a:pathLst>
              <a:path w="43179" h="1270">
                <a:moveTo>
                  <a:pt x="-4762" y="495"/>
                </a:moveTo>
                <a:lnTo>
                  <a:pt x="47688" y="495"/>
                </a:lnTo>
              </a:path>
            </a:pathLst>
          </a:custGeom>
          <a:ln w="1051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633718" y="6204508"/>
            <a:ext cx="0" cy="149860"/>
          </a:xfrm>
          <a:custGeom>
            <a:avLst/>
            <a:gdLst/>
            <a:ahLst/>
            <a:cxnLst/>
            <a:rect l="l" t="t" r="r" b="b"/>
            <a:pathLst>
              <a:path h="149860">
                <a:moveTo>
                  <a:pt x="0" y="0"/>
                </a:moveTo>
                <a:lnTo>
                  <a:pt x="0" y="149453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094601" y="6205994"/>
            <a:ext cx="0" cy="149860"/>
          </a:xfrm>
          <a:custGeom>
            <a:avLst/>
            <a:gdLst/>
            <a:ahLst/>
            <a:cxnLst/>
            <a:rect l="l" t="t" r="r" b="b"/>
            <a:pathLst>
              <a:path h="149860">
                <a:moveTo>
                  <a:pt x="0" y="0"/>
                </a:moveTo>
                <a:lnTo>
                  <a:pt x="0" y="14944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541894" y="6203035"/>
            <a:ext cx="0" cy="149860"/>
          </a:xfrm>
          <a:custGeom>
            <a:avLst/>
            <a:gdLst/>
            <a:ahLst/>
            <a:cxnLst/>
            <a:rect l="l" t="t" r="r" b="b"/>
            <a:pathLst>
              <a:path h="149860">
                <a:moveTo>
                  <a:pt x="0" y="0"/>
                </a:moveTo>
                <a:lnTo>
                  <a:pt x="0" y="14944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953629" y="6203035"/>
            <a:ext cx="0" cy="149860"/>
          </a:xfrm>
          <a:custGeom>
            <a:avLst/>
            <a:gdLst/>
            <a:ahLst/>
            <a:cxnLst/>
            <a:rect l="l" t="t" r="r" b="b"/>
            <a:pathLst>
              <a:path h="149860">
                <a:moveTo>
                  <a:pt x="0" y="0"/>
                </a:moveTo>
                <a:lnTo>
                  <a:pt x="0" y="14944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353425" y="6203035"/>
            <a:ext cx="0" cy="149860"/>
          </a:xfrm>
          <a:custGeom>
            <a:avLst/>
            <a:gdLst/>
            <a:ahLst/>
            <a:cxnLst/>
            <a:rect l="l" t="t" r="r" b="b"/>
            <a:pathLst>
              <a:path h="149860">
                <a:moveTo>
                  <a:pt x="0" y="0"/>
                </a:moveTo>
                <a:lnTo>
                  <a:pt x="0" y="14944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765031" y="6203035"/>
            <a:ext cx="0" cy="149860"/>
          </a:xfrm>
          <a:custGeom>
            <a:avLst/>
            <a:gdLst/>
            <a:ahLst/>
            <a:cxnLst/>
            <a:rect l="l" t="t" r="r" b="b"/>
            <a:pathLst>
              <a:path h="149860">
                <a:moveTo>
                  <a:pt x="0" y="0"/>
                </a:moveTo>
                <a:lnTo>
                  <a:pt x="0" y="14944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095365" y="5884329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>
                <a:moveTo>
                  <a:pt x="218694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103111" y="5432297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>
                <a:moveTo>
                  <a:pt x="218566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092952" y="5017261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>
                <a:moveTo>
                  <a:pt x="218567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103111" y="4630165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>
                <a:moveTo>
                  <a:pt x="218566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086094" y="4203319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>
                <a:moveTo>
                  <a:pt x="218566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5880608" y="569112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853176" y="528853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880353" y="4342129"/>
            <a:ext cx="164465" cy="80962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25"/>
              </a:spcBef>
            </a:pPr>
            <a:r>
              <a:rPr sz="180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8640826" y="4579111"/>
            <a:ext cx="92710" cy="106680"/>
          </a:xfrm>
          <a:custGeom>
            <a:avLst/>
            <a:gdLst/>
            <a:ahLst/>
            <a:cxnLst/>
            <a:rect l="l" t="t" r="r" b="b"/>
            <a:pathLst>
              <a:path w="92709" h="106679">
                <a:moveTo>
                  <a:pt x="46100" y="0"/>
                </a:moveTo>
                <a:lnTo>
                  <a:pt x="28182" y="4191"/>
                </a:lnTo>
                <a:lnTo>
                  <a:pt x="13525" y="15621"/>
                </a:lnTo>
                <a:lnTo>
                  <a:pt x="3631" y="32575"/>
                </a:lnTo>
                <a:lnTo>
                  <a:pt x="0" y="53339"/>
                </a:lnTo>
                <a:lnTo>
                  <a:pt x="3631" y="74104"/>
                </a:lnTo>
                <a:lnTo>
                  <a:pt x="13525" y="91059"/>
                </a:lnTo>
                <a:lnTo>
                  <a:pt x="28182" y="102489"/>
                </a:lnTo>
                <a:lnTo>
                  <a:pt x="46100" y="106680"/>
                </a:lnTo>
                <a:lnTo>
                  <a:pt x="64073" y="102489"/>
                </a:lnTo>
                <a:lnTo>
                  <a:pt x="78724" y="91059"/>
                </a:lnTo>
                <a:lnTo>
                  <a:pt x="88588" y="74104"/>
                </a:lnTo>
                <a:lnTo>
                  <a:pt x="92201" y="53339"/>
                </a:lnTo>
                <a:lnTo>
                  <a:pt x="88588" y="32575"/>
                </a:lnTo>
                <a:lnTo>
                  <a:pt x="78724" y="15621"/>
                </a:lnTo>
                <a:lnTo>
                  <a:pt x="64073" y="4191"/>
                </a:lnTo>
                <a:lnTo>
                  <a:pt x="46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640826" y="4579111"/>
            <a:ext cx="92710" cy="106680"/>
          </a:xfrm>
          <a:custGeom>
            <a:avLst/>
            <a:gdLst/>
            <a:ahLst/>
            <a:cxnLst/>
            <a:rect l="l" t="t" r="r" b="b"/>
            <a:pathLst>
              <a:path w="92709" h="106679">
                <a:moveTo>
                  <a:pt x="0" y="53339"/>
                </a:moveTo>
                <a:lnTo>
                  <a:pt x="3631" y="74104"/>
                </a:lnTo>
                <a:lnTo>
                  <a:pt x="13525" y="91059"/>
                </a:lnTo>
                <a:lnTo>
                  <a:pt x="28182" y="102489"/>
                </a:lnTo>
                <a:lnTo>
                  <a:pt x="46100" y="106680"/>
                </a:lnTo>
                <a:lnTo>
                  <a:pt x="64073" y="102488"/>
                </a:lnTo>
                <a:lnTo>
                  <a:pt x="78724" y="91058"/>
                </a:lnTo>
                <a:lnTo>
                  <a:pt x="88588" y="74104"/>
                </a:lnTo>
                <a:lnTo>
                  <a:pt x="92201" y="53339"/>
                </a:lnTo>
                <a:lnTo>
                  <a:pt x="88588" y="32575"/>
                </a:lnTo>
                <a:lnTo>
                  <a:pt x="78724" y="15620"/>
                </a:lnTo>
                <a:lnTo>
                  <a:pt x="64073" y="4190"/>
                </a:lnTo>
                <a:lnTo>
                  <a:pt x="46100" y="0"/>
                </a:lnTo>
                <a:lnTo>
                  <a:pt x="28182" y="4191"/>
                </a:lnTo>
                <a:lnTo>
                  <a:pt x="13525" y="15621"/>
                </a:lnTo>
                <a:lnTo>
                  <a:pt x="3631" y="32575"/>
                </a:lnTo>
                <a:lnTo>
                  <a:pt x="0" y="53339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6385305" y="5839205"/>
            <a:ext cx="169545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0</a:t>
            </a:r>
            <a:endParaRPr sz="1800" baseline="-20833">
              <a:latin typeface="Calibri"/>
              <a:cs typeface="Calibri"/>
            </a:endParaRPr>
          </a:p>
          <a:p>
            <a:pPr marL="236220">
              <a:lnSpc>
                <a:spcPct val="100000"/>
              </a:lnSpc>
              <a:spcBef>
                <a:spcPts val="1445"/>
              </a:spcBef>
              <a:tabLst>
                <a:tab pos="650240" algn="l"/>
                <a:tab pos="1127125" algn="l"/>
                <a:tab pos="1541145" algn="l"/>
              </a:tabLst>
            </a:pPr>
            <a:r>
              <a:rPr sz="1800" dirty="0">
                <a:latin typeface="Calibri"/>
                <a:cs typeface="Calibri"/>
              </a:rPr>
              <a:t>1	2	3	</a:t>
            </a:r>
            <a:r>
              <a:rPr sz="2700" baseline="1543" dirty="0">
                <a:latin typeface="Calibri"/>
                <a:cs typeface="Calibri"/>
              </a:rPr>
              <a:t>4</a:t>
            </a:r>
            <a:endParaRPr sz="2700" baseline="1543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313673" y="6317234"/>
            <a:ext cx="555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6084" algn="l"/>
              </a:tabLst>
            </a:pPr>
            <a:r>
              <a:rPr sz="1800" dirty="0">
                <a:latin typeface="Calibri"/>
                <a:cs typeface="Calibri"/>
              </a:rPr>
              <a:t>5	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542785" y="4828285"/>
            <a:ext cx="14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660895" y="496087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550657" y="4660138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2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436609" y="4280407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baseline="-20833" dirty="0">
                <a:latin typeface="Calibri"/>
                <a:cs typeface="Calibri"/>
              </a:rPr>
              <a:t>3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6616700" y="5778500"/>
            <a:ext cx="117601" cy="13208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905497" y="5395595"/>
            <a:ext cx="117601" cy="13208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286497" y="5140325"/>
            <a:ext cx="117601" cy="13208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687309" y="5005704"/>
            <a:ext cx="117601" cy="13208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8124697" y="4911725"/>
            <a:ext cx="117601" cy="13208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8670797" y="4648200"/>
            <a:ext cx="92710" cy="106680"/>
          </a:xfrm>
          <a:custGeom>
            <a:avLst/>
            <a:gdLst/>
            <a:ahLst/>
            <a:cxnLst/>
            <a:rect l="l" t="t" r="r" b="b"/>
            <a:pathLst>
              <a:path w="92709" h="106679">
                <a:moveTo>
                  <a:pt x="46100" y="0"/>
                </a:moveTo>
                <a:lnTo>
                  <a:pt x="28128" y="4191"/>
                </a:lnTo>
                <a:lnTo>
                  <a:pt x="13477" y="15621"/>
                </a:lnTo>
                <a:lnTo>
                  <a:pt x="3613" y="32575"/>
                </a:lnTo>
                <a:lnTo>
                  <a:pt x="0" y="53339"/>
                </a:lnTo>
                <a:lnTo>
                  <a:pt x="3613" y="74104"/>
                </a:lnTo>
                <a:lnTo>
                  <a:pt x="13477" y="91059"/>
                </a:lnTo>
                <a:lnTo>
                  <a:pt x="28128" y="102489"/>
                </a:lnTo>
                <a:lnTo>
                  <a:pt x="46100" y="106680"/>
                </a:lnTo>
                <a:lnTo>
                  <a:pt x="64019" y="102489"/>
                </a:lnTo>
                <a:lnTo>
                  <a:pt x="78676" y="91059"/>
                </a:lnTo>
                <a:lnTo>
                  <a:pt x="88570" y="74104"/>
                </a:lnTo>
                <a:lnTo>
                  <a:pt x="92201" y="53339"/>
                </a:lnTo>
                <a:lnTo>
                  <a:pt x="88570" y="32575"/>
                </a:lnTo>
                <a:lnTo>
                  <a:pt x="78676" y="15621"/>
                </a:lnTo>
                <a:lnTo>
                  <a:pt x="64019" y="4191"/>
                </a:lnTo>
                <a:lnTo>
                  <a:pt x="46100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8670797" y="4648200"/>
            <a:ext cx="92710" cy="106680"/>
          </a:xfrm>
          <a:custGeom>
            <a:avLst/>
            <a:gdLst/>
            <a:ahLst/>
            <a:cxnLst/>
            <a:rect l="l" t="t" r="r" b="b"/>
            <a:pathLst>
              <a:path w="92709" h="106679">
                <a:moveTo>
                  <a:pt x="0" y="53339"/>
                </a:moveTo>
                <a:lnTo>
                  <a:pt x="3613" y="74104"/>
                </a:lnTo>
                <a:lnTo>
                  <a:pt x="13477" y="91059"/>
                </a:lnTo>
                <a:lnTo>
                  <a:pt x="28128" y="102489"/>
                </a:lnTo>
                <a:lnTo>
                  <a:pt x="46100" y="106680"/>
                </a:lnTo>
                <a:lnTo>
                  <a:pt x="64019" y="102488"/>
                </a:lnTo>
                <a:lnTo>
                  <a:pt x="78676" y="91058"/>
                </a:lnTo>
                <a:lnTo>
                  <a:pt x="88570" y="74104"/>
                </a:lnTo>
                <a:lnTo>
                  <a:pt x="92201" y="53339"/>
                </a:lnTo>
                <a:lnTo>
                  <a:pt x="88570" y="32575"/>
                </a:lnTo>
                <a:lnTo>
                  <a:pt x="78676" y="15620"/>
                </a:lnTo>
                <a:lnTo>
                  <a:pt x="64019" y="4190"/>
                </a:lnTo>
                <a:lnTo>
                  <a:pt x="46100" y="0"/>
                </a:lnTo>
                <a:lnTo>
                  <a:pt x="28128" y="4191"/>
                </a:lnTo>
                <a:lnTo>
                  <a:pt x="13477" y="15621"/>
                </a:lnTo>
                <a:lnTo>
                  <a:pt x="3613" y="32575"/>
                </a:lnTo>
                <a:lnTo>
                  <a:pt x="0" y="53339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734175" y="4733925"/>
            <a:ext cx="1936750" cy="1104900"/>
          </a:xfrm>
          <a:custGeom>
            <a:avLst/>
            <a:gdLst/>
            <a:ahLst/>
            <a:cxnLst/>
            <a:rect l="l" t="t" r="r" b="b"/>
            <a:pathLst>
              <a:path w="1936750" h="1104900">
                <a:moveTo>
                  <a:pt x="0" y="1104900"/>
                </a:moveTo>
                <a:lnTo>
                  <a:pt x="23027" y="1057062"/>
                </a:lnTo>
                <a:lnTo>
                  <a:pt x="46297" y="1009555"/>
                </a:lnTo>
                <a:lnTo>
                  <a:pt x="70052" y="962713"/>
                </a:lnTo>
                <a:lnTo>
                  <a:pt x="94534" y="916872"/>
                </a:lnTo>
                <a:lnTo>
                  <a:pt x="119987" y="872365"/>
                </a:lnTo>
                <a:lnTo>
                  <a:pt x="146652" y="829527"/>
                </a:lnTo>
                <a:lnTo>
                  <a:pt x="174772" y="788693"/>
                </a:lnTo>
                <a:lnTo>
                  <a:pt x="204589" y="750197"/>
                </a:lnTo>
                <a:lnTo>
                  <a:pt x="236347" y="714375"/>
                </a:lnTo>
                <a:lnTo>
                  <a:pt x="274971" y="677351"/>
                </a:lnTo>
                <a:lnTo>
                  <a:pt x="316503" y="643401"/>
                </a:lnTo>
                <a:lnTo>
                  <a:pt x="360304" y="612197"/>
                </a:lnTo>
                <a:lnTo>
                  <a:pt x="405733" y="583406"/>
                </a:lnTo>
                <a:lnTo>
                  <a:pt x="452150" y="556699"/>
                </a:lnTo>
                <a:lnTo>
                  <a:pt x="498915" y="531745"/>
                </a:lnTo>
                <a:lnTo>
                  <a:pt x="545389" y="508213"/>
                </a:lnTo>
                <a:lnTo>
                  <a:pt x="590930" y="485775"/>
                </a:lnTo>
                <a:lnTo>
                  <a:pt x="635349" y="465134"/>
                </a:lnTo>
                <a:lnTo>
                  <a:pt x="679106" y="446978"/>
                </a:lnTo>
                <a:lnTo>
                  <a:pt x="722681" y="430801"/>
                </a:lnTo>
                <a:lnTo>
                  <a:pt x="766556" y="416099"/>
                </a:lnTo>
                <a:lnTo>
                  <a:pt x="811210" y="402367"/>
                </a:lnTo>
                <a:lnTo>
                  <a:pt x="857124" y="389102"/>
                </a:lnTo>
                <a:lnTo>
                  <a:pt x="904780" y="375797"/>
                </a:lnTo>
                <a:lnTo>
                  <a:pt x="954658" y="361950"/>
                </a:lnTo>
                <a:lnTo>
                  <a:pt x="1000785" y="350308"/>
                </a:lnTo>
                <a:lnTo>
                  <a:pt x="1048182" y="340312"/>
                </a:lnTo>
                <a:lnTo>
                  <a:pt x="1096776" y="331258"/>
                </a:lnTo>
                <a:lnTo>
                  <a:pt x="1146493" y="322438"/>
                </a:lnTo>
                <a:lnTo>
                  <a:pt x="1197258" y="313149"/>
                </a:lnTo>
                <a:lnTo>
                  <a:pt x="1248997" y="302683"/>
                </a:lnTo>
                <a:lnTo>
                  <a:pt x="1301637" y="290336"/>
                </a:lnTo>
                <a:lnTo>
                  <a:pt x="1355102" y="275401"/>
                </a:lnTo>
                <a:lnTo>
                  <a:pt x="1409319" y="257175"/>
                </a:lnTo>
                <a:lnTo>
                  <a:pt x="1450583" y="241322"/>
                </a:lnTo>
                <a:lnTo>
                  <a:pt x="1492546" y="224013"/>
                </a:lnTo>
                <a:lnTo>
                  <a:pt x="1535144" y="205382"/>
                </a:lnTo>
                <a:lnTo>
                  <a:pt x="1578313" y="185561"/>
                </a:lnTo>
                <a:lnTo>
                  <a:pt x="1621991" y="164681"/>
                </a:lnTo>
                <a:lnTo>
                  <a:pt x="1666112" y="142875"/>
                </a:lnTo>
                <a:lnTo>
                  <a:pt x="1710615" y="120275"/>
                </a:lnTo>
                <a:lnTo>
                  <a:pt x="1755436" y="97013"/>
                </a:lnTo>
                <a:lnTo>
                  <a:pt x="1800510" y="73223"/>
                </a:lnTo>
                <a:lnTo>
                  <a:pt x="1845775" y="49036"/>
                </a:lnTo>
                <a:lnTo>
                  <a:pt x="1891167" y="24584"/>
                </a:lnTo>
                <a:lnTo>
                  <a:pt x="1936623" y="0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8352281" y="4880864"/>
            <a:ext cx="4908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alibri"/>
                <a:cs typeface="Calibri"/>
              </a:rPr>
              <a:t>u=0.8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888480" y="5004308"/>
            <a:ext cx="1517650" cy="1000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8860">
              <a:lnSpc>
                <a:spcPts val="1614"/>
              </a:lnSpc>
              <a:spcBef>
                <a:spcPts val="100"/>
              </a:spcBef>
            </a:pPr>
            <a:r>
              <a:rPr sz="1600" spc="-5" dirty="0">
                <a:latin typeface="Calibri"/>
                <a:cs typeface="Calibri"/>
              </a:rPr>
              <a:t>u=0.6</a:t>
            </a:r>
            <a:endParaRPr sz="1600">
              <a:latin typeface="Calibri"/>
              <a:cs typeface="Calibri"/>
            </a:endParaRPr>
          </a:p>
          <a:p>
            <a:pPr marL="595630">
              <a:lnSpc>
                <a:spcPts val="1614"/>
              </a:lnSpc>
            </a:pPr>
            <a:r>
              <a:rPr sz="1600" spc="-5" dirty="0">
                <a:latin typeface="Calibri"/>
                <a:cs typeface="Calibri"/>
              </a:rPr>
              <a:t>u=0.4</a:t>
            </a:r>
            <a:endParaRPr sz="1600">
              <a:latin typeface="Calibri"/>
              <a:cs typeface="Calibri"/>
            </a:endParaRPr>
          </a:p>
          <a:p>
            <a:pPr marL="267970">
              <a:lnSpc>
                <a:spcPct val="100000"/>
              </a:lnSpc>
              <a:spcBef>
                <a:spcPts val="30"/>
              </a:spcBef>
            </a:pPr>
            <a:r>
              <a:rPr sz="1600" spc="-5" dirty="0">
                <a:latin typeface="Calibri"/>
                <a:cs typeface="Calibri"/>
              </a:rPr>
              <a:t>u=0.2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600" spc="-5" dirty="0">
                <a:latin typeface="Calibri"/>
                <a:cs typeface="Calibri"/>
              </a:rPr>
              <a:t>u=0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8757157" y="4684014"/>
            <a:ext cx="3365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alibri"/>
                <a:cs typeface="Calibri"/>
              </a:rPr>
              <a:t>u=1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4027" y="164591"/>
            <a:ext cx="36156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Calibri"/>
                <a:cs typeface="Calibri"/>
              </a:rPr>
              <a:t>B-Spline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Curves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314196"/>
            <a:ext cx="2665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Properties of </a:t>
            </a:r>
            <a:r>
              <a:rPr sz="1800" b="1" dirty="0">
                <a:latin typeface="Calibri"/>
                <a:cs typeface="Calibri"/>
              </a:rPr>
              <a:t>B Spline</a:t>
            </a:r>
            <a:r>
              <a:rPr sz="1800" b="1" spc="-9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Curve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It is an </a:t>
            </a:r>
            <a:r>
              <a:rPr spc="-15" dirty="0"/>
              <a:t>approximate </a:t>
            </a:r>
            <a:r>
              <a:rPr spc="-5" dirty="0"/>
              <a:t>Spline</a:t>
            </a:r>
            <a:r>
              <a:rPr spc="10" dirty="0"/>
              <a:t> </a:t>
            </a:r>
            <a:r>
              <a:rPr dirty="0"/>
              <a:t>curve</a:t>
            </a:r>
          </a:p>
          <a:p>
            <a:pPr marL="35560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/>
              <a:t>It s </a:t>
            </a:r>
            <a:r>
              <a:rPr spc="-5" dirty="0"/>
              <a:t>local </a:t>
            </a:r>
            <a:r>
              <a:rPr spc="-15" dirty="0"/>
              <a:t>control </a:t>
            </a:r>
            <a:r>
              <a:rPr dirty="0"/>
              <a:t>curve </a:t>
            </a:r>
            <a:r>
              <a:rPr spc="-5" dirty="0"/>
              <a:t>by </a:t>
            </a:r>
            <a:r>
              <a:rPr spc="-15" dirty="0"/>
              <a:t>control</a:t>
            </a:r>
            <a:r>
              <a:rPr dirty="0"/>
              <a:t> </a:t>
            </a:r>
            <a:r>
              <a:rPr spc="-5" dirty="0"/>
              <a:t>points</a:t>
            </a:r>
          </a:p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pc="-5" dirty="0"/>
              <a:t>The curves </a:t>
            </a:r>
            <a:r>
              <a:rPr dirty="0"/>
              <a:t>is </a:t>
            </a:r>
            <a:r>
              <a:rPr spc="-5" dirty="0"/>
              <a:t>divided </a:t>
            </a:r>
            <a:r>
              <a:rPr spc="-10" dirty="0"/>
              <a:t>into </a:t>
            </a:r>
            <a:r>
              <a:rPr spc="-5" dirty="0"/>
              <a:t>segments  </a:t>
            </a:r>
            <a:r>
              <a:rPr dirty="0"/>
              <a:t>and </a:t>
            </a:r>
            <a:r>
              <a:rPr spc="-10" dirty="0"/>
              <a:t>any </a:t>
            </a:r>
            <a:r>
              <a:rPr spc="-5" dirty="0"/>
              <a:t>of </a:t>
            </a:r>
            <a:r>
              <a:rPr spc="-15" dirty="0"/>
              <a:t>control </a:t>
            </a:r>
            <a:r>
              <a:rPr spc="-5" dirty="0"/>
              <a:t>point </a:t>
            </a:r>
            <a:r>
              <a:rPr dirty="0"/>
              <a:t>(CP) </a:t>
            </a:r>
            <a:r>
              <a:rPr spc="-15" dirty="0"/>
              <a:t>affects  </a:t>
            </a:r>
            <a:r>
              <a:rPr spc="-5" dirty="0"/>
              <a:t>only </a:t>
            </a:r>
            <a:r>
              <a:rPr dirty="0"/>
              <a:t>in the </a:t>
            </a:r>
            <a:r>
              <a:rPr spc="-5" dirty="0"/>
              <a:t>segment. The </a:t>
            </a:r>
            <a:r>
              <a:rPr dirty="0"/>
              <a:t>number </a:t>
            </a:r>
            <a:r>
              <a:rPr spc="-5" dirty="0"/>
              <a:t>of  </a:t>
            </a:r>
            <a:r>
              <a:rPr spc="-10" dirty="0"/>
              <a:t>segment </a:t>
            </a:r>
            <a:r>
              <a:rPr dirty="0"/>
              <a:t>is </a:t>
            </a:r>
            <a:r>
              <a:rPr spc="-10" dirty="0"/>
              <a:t>obtained</a:t>
            </a:r>
            <a:r>
              <a:rPr spc="45" dirty="0"/>
              <a:t> </a:t>
            </a:r>
            <a:r>
              <a:rPr spc="-10" dirty="0"/>
              <a:t>by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9740" y="3234435"/>
            <a:ext cx="4032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1800" spc="-5" dirty="0">
                <a:latin typeface="Calibri"/>
                <a:cs typeface="Calibri"/>
              </a:rPr>
              <a:t>Seg=n-k+2 here </a:t>
            </a:r>
            <a:r>
              <a:rPr sz="1800" spc="-10" dirty="0">
                <a:latin typeface="Calibri"/>
                <a:cs typeface="Calibri"/>
              </a:rPr>
              <a:t>n=total </a:t>
            </a:r>
            <a:r>
              <a:rPr sz="1800" spc="-5" dirty="0">
                <a:latin typeface="Calibri"/>
                <a:cs typeface="Calibri"/>
              </a:rPr>
              <a:t>CP-1, k=no. of  </a:t>
            </a:r>
            <a:r>
              <a:rPr sz="1800" spc="-15" dirty="0">
                <a:latin typeface="Calibri"/>
                <a:cs typeface="Calibri"/>
              </a:rPr>
              <a:t>control </a:t>
            </a:r>
            <a:r>
              <a:rPr sz="1800" spc="-5" dirty="0">
                <a:latin typeface="Calibri"/>
                <a:cs typeface="Calibri"/>
              </a:rPr>
              <a:t>points </a:t>
            </a:r>
            <a:r>
              <a:rPr sz="1800" dirty="0">
                <a:latin typeface="Calibri"/>
                <a:cs typeface="Calibri"/>
              </a:rPr>
              <a:t>in a </a:t>
            </a:r>
            <a:r>
              <a:rPr sz="1800" spc="-10" dirty="0">
                <a:latin typeface="Calibri"/>
                <a:cs typeface="Calibri"/>
              </a:rPr>
              <a:t>segment </a:t>
            </a:r>
            <a:r>
              <a:rPr sz="1800" dirty="0">
                <a:latin typeface="Calibri"/>
                <a:cs typeface="Calibri"/>
              </a:rPr>
              <a:t>(2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k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libri"/>
                <a:cs typeface="Calibri"/>
              </a:rPr>
              <a:t>CP)  </a:t>
            </a:r>
            <a:r>
              <a:rPr sz="1800" spc="-10" dirty="0">
                <a:latin typeface="Calibri"/>
                <a:cs typeface="Calibri"/>
              </a:rPr>
              <a:t>Let </a:t>
            </a:r>
            <a:r>
              <a:rPr sz="1800" spc="-5" dirty="0">
                <a:latin typeface="Calibri"/>
                <a:cs typeface="Calibri"/>
              </a:rPr>
              <a:t>k=3 </a:t>
            </a:r>
            <a:r>
              <a:rPr sz="1800" dirty="0">
                <a:latin typeface="Calibri"/>
                <a:cs typeface="Calibri"/>
              </a:rPr>
              <a:t>then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seg=(7-1)-3+2=5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640" y="4210050"/>
            <a:ext cx="253365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142365" algn="l"/>
              </a:tabLst>
            </a:pPr>
            <a:r>
              <a:rPr sz="1800" b="1" spc="-5" dirty="0">
                <a:solidFill>
                  <a:srgbClr val="943735"/>
                </a:solidFill>
                <a:latin typeface="Calibri"/>
                <a:cs typeface="Calibri"/>
              </a:rPr>
              <a:t>Segment	</a:t>
            </a:r>
            <a:r>
              <a:rPr sz="1800" b="1" spc="-10" dirty="0">
                <a:solidFill>
                  <a:srgbClr val="943735"/>
                </a:solidFill>
                <a:latin typeface="Calibri"/>
                <a:cs typeface="Calibri"/>
              </a:rPr>
              <a:t>Control</a:t>
            </a:r>
            <a:r>
              <a:rPr sz="1800" b="1" spc="-50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943735"/>
                </a:solidFill>
                <a:latin typeface="Calibri"/>
                <a:cs typeface="Calibri"/>
              </a:rPr>
              <a:t>Points</a:t>
            </a:r>
            <a:endParaRPr sz="1800">
              <a:latin typeface="Calibri"/>
              <a:cs typeface="Calibri"/>
            </a:endParaRPr>
          </a:p>
          <a:p>
            <a:pPr marL="260350">
              <a:lnSpc>
                <a:spcPct val="100000"/>
              </a:lnSpc>
              <a:tabLst>
                <a:tab pos="1225550" algn="l"/>
              </a:tabLst>
            </a:pP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Q</a:t>
            </a:r>
            <a:r>
              <a:rPr sz="1800" baseline="-20833" dirty="0">
                <a:solidFill>
                  <a:srgbClr val="943735"/>
                </a:solidFill>
                <a:latin typeface="Calibri"/>
                <a:cs typeface="Calibri"/>
              </a:rPr>
              <a:t>1	</a:t>
            </a:r>
            <a:r>
              <a:rPr sz="1800" spc="-5" dirty="0">
                <a:solidFill>
                  <a:srgbClr val="943735"/>
                </a:solidFill>
                <a:latin typeface="Calibri"/>
                <a:cs typeface="Calibri"/>
              </a:rPr>
              <a:t>P</a:t>
            </a:r>
            <a:r>
              <a:rPr sz="1800" spc="-7" baseline="-20833" dirty="0">
                <a:solidFill>
                  <a:srgbClr val="943735"/>
                </a:solidFill>
                <a:latin typeface="Calibri"/>
                <a:cs typeface="Calibri"/>
              </a:rPr>
              <a:t>0</a:t>
            </a:r>
            <a:r>
              <a:rPr sz="1800" spc="-5" dirty="0">
                <a:solidFill>
                  <a:srgbClr val="943735"/>
                </a:solidFill>
                <a:latin typeface="Calibri"/>
                <a:cs typeface="Calibri"/>
              </a:rPr>
              <a:t>P</a:t>
            </a:r>
            <a:r>
              <a:rPr sz="1800" spc="-7" baseline="-20833" dirty="0">
                <a:solidFill>
                  <a:srgbClr val="943735"/>
                </a:solidFill>
                <a:latin typeface="Calibri"/>
                <a:cs typeface="Calibri"/>
              </a:rPr>
              <a:t>1</a:t>
            </a:r>
            <a:r>
              <a:rPr sz="1800" spc="-5" dirty="0">
                <a:solidFill>
                  <a:srgbClr val="943735"/>
                </a:solidFill>
                <a:latin typeface="Calibri"/>
                <a:cs typeface="Calibri"/>
              </a:rPr>
              <a:t>P</a:t>
            </a:r>
            <a:r>
              <a:rPr sz="1800" spc="-7" baseline="-20833" dirty="0">
                <a:solidFill>
                  <a:srgbClr val="943735"/>
                </a:solidFill>
                <a:latin typeface="Calibri"/>
                <a:cs typeface="Calibri"/>
              </a:rPr>
              <a:t>2</a:t>
            </a:r>
            <a:endParaRPr sz="1800" baseline="-20833">
              <a:latin typeface="Calibri"/>
              <a:cs typeface="Calibri"/>
            </a:endParaRPr>
          </a:p>
          <a:p>
            <a:pPr marL="260350">
              <a:lnSpc>
                <a:spcPct val="100000"/>
              </a:lnSpc>
              <a:tabLst>
                <a:tab pos="1225550" algn="l"/>
              </a:tabLst>
            </a:pP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Q</a:t>
            </a:r>
            <a:r>
              <a:rPr sz="1800" baseline="-20833" dirty="0">
                <a:solidFill>
                  <a:srgbClr val="943735"/>
                </a:solidFill>
                <a:latin typeface="Calibri"/>
                <a:cs typeface="Calibri"/>
              </a:rPr>
              <a:t>2	</a:t>
            </a:r>
            <a:r>
              <a:rPr sz="1800" spc="-5" dirty="0">
                <a:solidFill>
                  <a:srgbClr val="943735"/>
                </a:solidFill>
                <a:latin typeface="Calibri"/>
                <a:cs typeface="Calibri"/>
              </a:rPr>
              <a:t>P</a:t>
            </a:r>
            <a:r>
              <a:rPr sz="1800" spc="-7" baseline="-20833" dirty="0">
                <a:solidFill>
                  <a:srgbClr val="943735"/>
                </a:solidFill>
                <a:latin typeface="Calibri"/>
                <a:cs typeface="Calibri"/>
              </a:rPr>
              <a:t>1</a:t>
            </a:r>
            <a:r>
              <a:rPr sz="1800" spc="-5" dirty="0">
                <a:solidFill>
                  <a:srgbClr val="943735"/>
                </a:solidFill>
                <a:latin typeface="Calibri"/>
                <a:cs typeface="Calibri"/>
              </a:rPr>
              <a:t>P</a:t>
            </a:r>
            <a:r>
              <a:rPr sz="1800" spc="-7" baseline="-20833" dirty="0">
                <a:solidFill>
                  <a:srgbClr val="943735"/>
                </a:solidFill>
                <a:latin typeface="Calibri"/>
                <a:cs typeface="Calibri"/>
              </a:rPr>
              <a:t>2</a:t>
            </a:r>
            <a:r>
              <a:rPr sz="1800" spc="-5" dirty="0">
                <a:solidFill>
                  <a:srgbClr val="943735"/>
                </a:solidFill>
                <a:latin typeface="Calibri"/>
                <a:cs typeface="Calibri"/>
              </a:rPr>
              <a:t>P</a:t>
            </a:r>
            <a:r>
              <a:rPr sz="1800" spc="-7" baseline="-20833" dirty="0">
                <a:solidFill>
                  <a:srgbClr val="943735"/>
                </a:solidFill>
                <a:latin typeface="Calibri"/>
                <a:cs typeface="Calibri"/>
              </a:rPr>
              <a:t>3</a:t>
            </a:r>
            <a:endParaRPr sz="1800" baseline="-20833">
              <a:latin typeface="Calibri"/>
              <a:cs typeface="Calibri"/>
            </a:endParaRPr>
          </a:p>
          <a:p>
            <a:pPr marL="260350">
              <a:lnSpc>
                <a:spcPct val="100000"/>
              </a:lnSpc>
              <a:tabLst>
                <a:tab pos="1225550" algn="l"/>
              </a:tabLst>
            </a:pP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Q</a:t>
            </a:r>
            <a:r>
              <a:rPr sz="1800" baseline="-20833" dirty="0">
                <a:solidFill>
                  <a:srgbClr val="943735"/>
                </a:solidFill>
                <a:latin typeface="Calibri"/>
                <a:cs typeface="Calibri"/>
              </a:rPr>
              <a:t>3	</a:t>
            </a:r>
            <a:r>
              <a:rPr sz="1800" spc="-5" dirty="0">
                <a:solidFill>
                  <a:srgbClr val="943735"/>
                </a:solidFill>
                <a:latin typeface="Calibri"/>
                <a:cs typeface="Calibri"/>
              </a:rPr>
              <a:t>P</a:t>
            </a:r>
            <a:r>
              <a:rPr sz="1800" spc="-7" baseline="-20833" dirty="0">
                <a:solidFill>
                  <a:srgbClr val="943735"/>
                </a:solidFill>
                <a:latin typeface="Calibri"/>
                <a:cs typeface="Calibri"/>
              </a:rPr>
              <a:t>2</a:t>
            </a:r>
            <a:r>
              <a:rPr sz="1800" spc="-5" dirty="0">
                <a:solidFill>
                  <a:srgbClr val="943735"/>
                </a:solidFill>
                <a:latin typeface="Calibri"/>
                <a:cs typeface="Calibri"/>
              </a:rPr>
              <a:t>P</a:t>
            </a:r>
            <a:r>
              <a:rPr sz="1800" spc="-7" baseline="-20833" dirty="0">
                <a:solidFill>
                  <a:srgbClr val="943735"/>
                </a:solidFill>
                <a:latin typeface="Calibri"/>
                <a:cs typeface="Calibri"/>
              </a:rPr>
              <a:t>3</a:t>
            </a:r>
            <a:r>
              <a:rPr sz="1800" spc="-5" dirty="0">
                <a:solidFill>
                  <a:srgbClr val="943735"/>
                </a:solidFill>
                <a:latin typeface="Calibri"/>
                <a:cs typeface="Calibri"/>
              </a:rPr>
              <a:t>P</a:t>
            </a:r>
            <a:r>
              <a:rPr sz="1800" spc="-7" baseline="-20833" dirty="0">
                <a:solidFill>
                  <a:srgbClr val="943735"/>
                </a:solidFill>
                <a:latin typeface="Calibri"/>
                <a:cs typeface="Calibri"/>
              </a:rPr>
              <a:t>4</a:t>
            </a:r>
            <a:endParaRPr sz="1800" baseline="-20833">
              <a:latin typeface="Calibri"/>
              <a:cs typeface="Calibri"/>
            </a:endParaRPr>
          </a:p>
          <a:p>
            <a:pPr marL="260350">
              <a:lnSpc>
                <a:spcPct val="100000"/>
              </a:lnSpc>
              <a:tabLst>
                <a:tab pos="1225550" algn="l"/>
              </a:tabLst>
            </a:pP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Q</a:t>
            </a:r>
            <a:r>
              <a:rPr sz="1800" baseline="-20833" dirty="0">
                <a:solidFill>
                  <a:srgbClr val="943735"/>
                </a:solidFill>
                <a:latin typeface="Calibri"/>
                <a:cs typeface="Calibri"/>
              </a:rPr>
              <a:t>4	</a:t>
            </a:r>
            <a:r>
              <a:rPr sz="1800" spc="-5" dirty="0">
                <a:solidFill>
                  <a:srgbClr val="943735"/>
                </a:solidFill>
                <a:latin typeface="Calibri"/>
                <a:cs typeface="Calibri"/>
              </a:rPr>
              <a:t>P</a:t>
            </a:r>
            <a:r>
              <a:rPr sz="1800" spc="-7" baseline="-20833" dirty="0">
                <a:solidFill>
                  <a:srgbClr val="943735"/>
                </a:solidFill>
                <a:latin typeface="Calibri"/>
                <a:cs typeface="Calibri"/>
              </a:rPr>
              <a:t>3</a:t>
            </a:r>
            <a:r>
              <a:rPr sz="1800" spc="-5" dirty="0">
                <a:solidFill>
                  <a:srgbClr val="943735"/>
                </a:solidFill>
                <a:latin typeface="Calibri"/>
                <a:cs typeface="Calibri"/>
              </a:rPr>
              <a:t>P</a:t>
            </a:r>
            <a:r>
              <a:rPr sz="1800" spc="-7" baseline="-20833" dirty="0">
                <a:solidFill>
                  <a:srgbClr val="943735"/>
                </a:solidFill>
                <a:latin typeface="Calibri"/>
                <a:cs typeface="Calibri"/>
              </a:rPr>
              <a:t>4</a:t>
            </a:r>
            <a:r>
              <a:rPr sz="1800" spc="-5" dirty="0">
                <a:solidFill>
                  <a:srgbClr val="943735"/>
                </a:solidFill>
                <a:latin typeface="Calibri"/>
                <a:cs typeface="Calibri"/>
              </a:rPr>
              <a:t>P</a:t>
            </a:r>
            <a:r>
              <a:rPr sz="1800" spc="-7" baseline="-20833" dirty="0">
                <a:solidFill>
                  <a:srgbClr val="943735"/>
                </a:solidFill>
                <a:latin typeface="Calibri"/>
                <a:cs typeface="Calibri"/>
              </a:rPr>
              <a:t>5</a:t>
            </a:r>
            <a:endParaRPr sz="1800" baseline="-20833">
              <a:latin typeface="Calibri"/>
              <a:cs typeface="Calibri"/>
            </a:endParaRPr>
          </a:p>
          <a:p>
            <a:pPr marL="260350">
              <a:lnSpc>
                <a:spcPct val="100000"/>
              </a:lnSpc>
              <a:tabLst>
                <a:tab pos="1225550" algn="l"/>
              </a:tabLst>
            </a:pP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Q</a:t>
            </a:r>
            <a:r>
              <a:rPr sz="1800" baseline="-20833" dirty="0">
                <a:solidFill>
                  <a:srgbClr val="943735"/>
                </a:solidFill>
                <a:latin typeface="Calibri"/>
                <a:cs typeface="Calibri"/>
              </a:rPr>
              <a:t>5	</a:t>
            </a:r>
            <a:r>
              <a:rPr sz="1800" spc="-5" dirty="0">
                <a:solidFill>
                  <a:srgbClr val="943735"/>
                </a:solidFill>
                <a:latin typeface="Calibri"/>
                <a:cs typeface="Calibri"/>
              </a:rPr>
              <a:t>P</a:t>
            </a:r>
            <a:r>
              <a:rPr sz="1800" spc="-7" baseline="-20833" dirty="0">
                <a:solidFill>
                  <a:srgbClr val="943735"/>
                </a:solidFill>
                <a:latin typeface="Calibri"/>
                <a:cs typeface="Calibri"/>
              </a:rPr>
              <a:t>4</a:t>
            </a:r>
            <a:r>
              <a:rPr sz="1800" spc="-5" dirty="0">
                <a:solidFill>
                  <a:srgbClr val="943735"/>
                </a:solidFill>
                <a:latin typeface="Calibri"/>
                <a:cs typeface="Calibri"/>
              </a:rPr>
              <a:t>P</a:t>
            </a:r>
            <a:r>
              <a:rPr sz="1800" spc="-7" baseline="-20833" dirty="0">
                <a:solidFill>
                  <a:srgbClr val="943735"/>
                </a:solidFill>
                <a:latin typeface="Calibri"/>
                <a:cs typeface="Calibri"/>
              </a:rPr>
              <a:t>5</a:t>
            </a:r>
            <a:r>
              <a:rPr sz="1800" spc="-5" dirty="0">
                <a:solidFill>
                  <a:srgbClr val="943735"/>
                </a:solidFill>
                <a:latin typeface="Calibri"/>
                <a:cs typeface="Calibri"/>
              </a:rPr>
              <a:t>P</a:t>
            </a:r>
            <a:r>
              <a:rPr sz="1800" spc="-7" baseline="-20833" dirty="0">
                <a:solidFill>
                  <a:srgbClr val="943735"/>
                </a:solidFill>
                <a:latin typeface="Calibri"/>
                <a:cs typeface="Calibri"/>
              </a:rPr>
              <a:t>6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03847" y="3671061"/>
            <a:ext cx="588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Q(u)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16900" y="3340100"/>
            <a:ext cx="101600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78700" y="3797300"/>
            <a:ext cx="101600" cy="1320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69300" y="2730500"/>
            <a:ext cx="101600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68900" y="3111500"/>
            <a:ext cx="101600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81600" y="2414067"/>
            <a:ext cx="3268345" cy="1160780"/>
          </a:xfrm>
          <a:custGeom>
            <a:avLst/>
            <a:gdLst/>
            <a:ahLst/>
            <a:cxnLst/>
            <a:rect l="l" t="t" r="r" b="b"/>
            <a:pathLst>
              <a:path w="3268345" h="1160779">
                <a:moveTo>
                  <a:pt x="0" y="817320"/>
                </a:moveTo>
                <a:lnTo>
                  <a:pt x="19148" y="767202"/>
                </a:lnTo>
                <a:lnTo>
                  <a:pt x="38363" y="717252"/>
                </a:lnTo>
                <a:lnTo>
                  <a:pt x="57711" y="667638"/>
                </a:lnTo>
                <a:lnTo>
                  <a:pt x="77260" y="618526"/>
                </a:lnTo>
                <a:lnTo>
                  <a:pt x="97077" y="570084"/>
                </a:lnTo>
                <a:lnTo>
                  <a:pt x="117229" y="522481"/>
                </a:lnTo>
                <a:lnTo>
                  <a:pt x="137784" y="475883"/>
                </a:lnTo>
                <a:lnTo>
                  <a:pt x="158809" y="430459"/>
                </a:lnTo>
                <a:lnTo>
                  <a:pt x="180370" y="386375"/>
                </a:lnTo>
                <a:lnTo>
                  <a:pt x="202537" y="343800"/>
                </a:lnTo>
                <a:lnTo>
                  <a:pt x="225375" y="302901"/>
                </a:lnTo>
                <a:lnTo>
                  <a:pt x="248952" y="263846"/>
                </a:lnTo>
                <a:lnTo>
                  <a:pt x="273335" y="226802"/>
                </a:lnTo>
                <a:lnTo>
                  <a:pt x="298592" y="191937"/>
                </a:lnTo>
                <a:lnTo>
                  <a:pt x="324790" y="159418"/>
                </a:lnTo>
                <a:lnTo>
                  <a:pt x="351996" y="129413"/>
                </a:lnTo>
                <a:lnTo>
                  <a:pt x="380278" y="102091"/>
                </a:lnTo>
                <a:lnTo>
                  <a:pt x="409702" y="77617"/>
                </a:lnTo>
                <a:lnTo>
                  <a:pt x="472248" y="37889"/>
                </a:lnTo>
                <a:lnTo>
                  <a:pt x="540172" y="11570"/>
                </a:lnTo>
                <a:lnTo>
                  <a:pt x="614013" y="0"/>
                </a:lnTo>
                <a:lnTo>
                  <a:pt x="653320" y="165"/>
                </a:lnTo>
                <a:lnTo>
                  <a:pt x="694309" y="4520"/>
                </a:lnTo>
                <a:lnTo>
                  <a:pt x="751079" y="20137"/>
                </a:lnTo>
                <a:lnTo>
                  <a:pt x="812321" y="49048"/>
                </a:lnTo>
                <a:lnTo>
                  <a:pt x="877593" y="89774"/>
                </a:lnTo>
                <a:lnTo>
                  <a:pt x="911602" y="114104"/>
                </a:lnTo>
                <a:lnTo>
                  <a:pt x="946453" y="140834"/>
                </a:lnTo>
                <a:lnTo>
                  <a:pt x="982091" y="169777"/>
                </a:lnTo>
                <a:lnTo>
                  <a:pt x="1018460" y="200749"/>
                </a:lnTo>
                <a:lnTo>
                  <a:pt x="1055506" y="233565"/>
                </a:lnTo>
                <a:lnTo>
                  <a:pt x="1093172" y="268040"/>
                </a:lnTo>
                <a:lnTo>
                  <a:pt x="1131404" y="303989"/>
                </a:lnTo>
                <a:lnTo>
                  <a:pt x="1170148" y="341227"/>
                </a:lnTo>
                <a:lnTo>
                  <a:pt x="1209346" y="379569"/>
                </a:lnTo>
                <a:lnTo>
                  <a:pt x="1248945" y="418831"/>
                </a:lnTo>
                <a:lnTo>
                  <a:pt x="1288889" y="458826"/>
                </a:lnTo>
                <a:lnTo>
                  <a:pt x="1329123" y="499371"/>
                </a:lnTo>
                <a:lnTo>
                  <a:pt x="1369591" y="540281"/>
                </a:lnTo>
                <a:lnTo>
                  <a:pt x="1410239" y="581370"/>
                </a:lnTo>
                <a:lnTo>
                  <a:pt x="1451012" y="622453"/>
                </a:lnTo>
                <a:lnTo>
                  <a:pt x="1491853" y="663346"/>
                </a:lnTo>
                <a:lnTo>
                  <a:pt x="1532708" y="703864"/>
                </a:lnTo>
                <a:lnTo>
                  <a:pt x="1573522" y="743821"/>
                </a:lnTo>
                <a:lnTo>
                  <a:pt x="1614240" y="783034"/>
                </a:lnTo>
                <a:lnTo>
                  <a:pt x="1654806" y="821316"/>
                </a:lnTo>
                <a:lnTo>
                  <a:pt x="1695165" y="858483"/>
                </a:lnTo>
                <a:lnTo>
                  <a:pt x="1735262" y="894349"/>
                </a:lnTo>
                <a:lnTo>
                  <a:pt x="1775041" y="928731"/>
                </a:lnTo>
                <a:lnTo>
                  <a:pt x="1814449" y="961443"/>
                </a:lnTo>
                <a:lnTo>
                  <a:pt x="1853428" y="992300"/>
                </a:lnTo>
                <a:lnTo>
                  <a:pt x="1891925" y="1021117"/>
                </a:lnTo>
                <a:lnTo>
                  <a:pt x="1929883" y="1047710"/>
                </a:lnTo>
                <a:lnTo>
                  <a:pt x="1967248" y="1071893"/>
                </a:lnTo>
                <a:lnTo>
                  <a:pt x="2003965" y="1093481"/>
                </a:lnTo>
                <a:lnTo>
                  <a:pt x="2039978" y="1112289"/>
                </a:lnTo>
                <a:lnTo>
                  <a:pt x="2075233" y="1128133"/>
                </a:lnTo>
                <a:lnTo>
                  <a:pt x="2143244" y="1150188"/>
                </a:lnTo>
                <a:lnTo>
                  <a:pt x="2218470" y="1159756"/>
                </a:lnTo>
                <a:lnTo>
                  <a:pt x="2260422" y="1160292"/>
                </a:lnTo>
                <a:lnTo>
                  <a:pt x="2301767" y="1157747"/>
                </a:lnTo>
                <a:lnTo>
                  <a:pt x="2342529" y="1152231"/>
                </a:lnTo>
                <a:lnTo>
                  <a:pt x="2382727" y="1143853"/>
                </a:lnTo>
                <a:lnTo>
                  <a:pt x="2422384" y="1132725"/>
                </a:lnTo>
                <a:lnTo>
                  <a:pt x="2461522" y="1118955"/>
                </a:lnTo>
                <a:lnTo>
                  <a:pt x="2500162" y="1102655"/>
                </a:lnTo>
                <a:lnTo>
                  <a:pt x="2538326" y="1083933"/>
                </a:lnTo>
                <a:lnTo>
                  <a:pt x="2576035" y="1062900"/>
                </a:lnTo>
                <a:lnTo>
                  <a:pt x="2613311" y="1039666"/>
                </a:lnTo>
                <a:lnTo>
                  <a:pt x="2650176" y="1014342"/>
                </a:lnTo>
                <a:lnTo>
                  <a:pt x="2686651" y="987036"/>
                </a:lnTo>
                <a:lnTo>
                  <a:pt x="2722758" y="957859"/>
                </a:lnTo>
                <a:lnTo>
                  <a:pt x="2758519" y="926921"/>
                </a:lnTo>
                <a:lnTo>
                  <a:pt x="2793955" y="894332"/>
                </a:lnTo>
                <a:lnTo>
                  <a:pt x="2829088" y="860202"/>
                </a:lnTo>
                <a:lnTo>
                  <a:pt x="2863940" y="824641"/>
                </a:lnTo>
                <a:lnTo>
                  <a:pt x="2898532" y="787759"/>
                </a:lnTo>
                <a:lnTo>
                  <a:pt x="2932886" y="749667"/>
                </a:lnTo>
                <a:lnTo>
                  <a:pt x="2967023" y="710473"/>
                </a:lnTo>
                <a:lnTo>
                  <a:pt x="3000966" y="670288"/>
                </a:lnTo>
                <a:lnTo>
                  <a:pt x="3034735" y="629222"/>
                </a:lnTo>
                <a:lnTo>
                  <a:pt x="3068353" y="587386"/>
                </a:lnTo>
                <a:lnTo>
                  <a:pt x="3101841" y="544888"/>
                </a:lnTo>
                <a:lnTo>
                  <a:pt x="3135221" y="501840"/>
                </a:lnTo>
                <a:lnTo>
                  <a:pt x="3168514" y="458351"/>
                </a:lnTo>
                <a:lnTo>
                  <a:pt x="3201742" y="414531"/>
                </a:lnTo>
                <a:lnTo>
                  <a:pt x="3234927" y="370490"/>
                </a:lnTo>
                <a:lnTo>
                  <a:pt x="3268091" y="326338"/>
                </a:lnTo>
              </a:path>
            </a:pathLst>
          </a:custGeom>
          <a:ln w="190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45100" y="2273300"/>
            <a:ext cx="101600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30900" y="2120900"/>
            <a:ext cx="101600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769100" y="2654300"/>
            <a:ext cx="101600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930394" y="2077719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1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54194" y="2992119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0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92647" y="1849119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2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07047" y="2382519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3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97647" y="3754120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4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59647" y="3220719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5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12047" y="2458719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6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88849" y="5953759"/>
            <a:ext cx="39452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curve will be </a:t>
            </a:r>
            <a:r>
              <a:rPr sz="1800" spc="-5" dirty="0">
                <a:latin typeface="Calibri"/>
                <a:cs typeface="Calibri"/>
              </a:rPr>
              <a:t>piecewise polynomial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3540" y="5953759"/>
            <a:ext cx="3620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marR="5080" indent="-10541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44780" algn="l"/>
              </a:tabLst>
            </a:pPr>
            <a:r>
              <a:rPr sz="1800" spc="-10" dirty="0">
                <a:latin typeface="Calibri"/>
                <a:cs typeface="Calibri"/>
              </a:rPr>
              <a:t>Degree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polynomial </a:t>
            </a:r>
            <a:r>
              <a:rPr sz="1800" dirty="0">
                <a:latin typeface="Calibri"/>
                <a:cs typeface="Calibri"/>
              </a:rPr>
              <a:t>=k-1=3-1=2  </a:t>
            </a:r>
            <a:r>
              <a:rPr sz="1800" spc="-10" dirty="0">
                <a:latin typeface="Calibri"/>
                <a:cs typeface="Calibri"/>
              </a:rPr>
              <a:t>degree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(k-1)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4027" y="164591"/>
            <a:ext cx="36156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Calibri"/>
                <a:cs typeface="Calibri"/>
              </a:rPr>
              <a:t>B-Spline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Curves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314196"/>
            <a:ext cx="3328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General </a:t>
            </a:r>
            <a:r>
              <a:rPr sz="1800" b="1" spc="-5" dirty="0">
                <a:latin typeface="Calibri"/>
                <a:cs typeface="Calibri"/>
              </a:rPr>
              <a:t>equation </a:t>
            </a:r>
            <a:r>
              <a:rPr sz="1800" b="1" dirty="0">
                <a:latin typeface="Calibri"/>
                <a:cs typeface="Calibri"/>
              </a:rPr>
              <a:t>of B Spline</a:t>
            </a:r>
            <a:r>
              <a:rPr sz="1800" b="1" spc="-10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Curve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3847" y="3671061"/>
            <a:ext cx="588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Q(u)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16900" y="3340100"/>
            <a:ext cx="101600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78700" y="3797300"/>
            <a:ext cx="101600" cy="1320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69300" y="2730500"/>
            <a:ext cx="101600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68900" y="3111500"/>
            <a:ext cx="101600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81600" y="2414067"/>
            <a:ext cx="3268345" cy="1160780"/>
          </a:xfrm>
          <a:custGeom>
            <a:avLst/>
            <a:gdLst/>
            <a:ahLst/>
            <a:cxnLst/>
            <a:rect l="l" t="t" r="r" b="b"/>
            <a:pathLst>
              <a:path w="3268345" h="1160779">
                <a:moveTo>
                  <a:pt x="0" y="817320"/>
                </a:moveTo>
                <a:lnTo>
                  <a:pt x="19148" y="767202"/>
                </a:lnTo>
                <a:lnTo>
                  <a:pt x="38363" y="717252"/>
                </a:lnTo>
                <a:lnTo>
                  <a:pt x="57711" y="667638"/>
                </a:lnTo>
                <a:lnTo>
                  <a:pt x="77260" y="618526"/>
                </a:lnTo>
                <a:lnTo>
                  <a:pt x="97077" y="570084"/>
                </a:lnTo>
                <a:lnTo>
                  <a:pt x="117229" y="522481"/>
                </a:lnTo>
                <a:lnTo>
                  <a:pt x="137784" y="475883"/>
                </a:lnTo>
                <a:lnTo>
                  <a:pt x="158809" y="430459"/>
                </a:lnTo>
                <a:lnTo>
                  <a:pt x="180370" y="386375"/>
                </a:lnTo>
                <a:lnTo>
                  <a:pt x="202537" y="343800"/>
                </a:lnTo>
                <a:lnTo>
                  <a:pt x="225375" y="302901"/>
                </a:lnTo>
                <a:lnTo>
                  <a:pt x="248952" y="263846"/>
                </a:lnTo>
                <a:lnTo>
                  <a:pt x="273335" y="226802"/>
                </a:lnTo>
                <a:lnTo>
                  <a:pt x="298592" y="191937"/>
                </a:lnTo>
                <a:lnTo>
                  <a:pt x="324790" y="159418"/>
                </a:lnTo>
                <a:lnTo>
                  <a:pt x="351996" y="129413"/>
                </a:lnTo>
                <a:lnTo>
                  <a:pt x="380278" y="102091"/>
                </a:lnTo>
                <a:lnTo>
                  <a:pt x="409702" y="77617"/>
                </a:lnTo>
                <a:lnTo>
                  <a:pt x="472248" y="37889"/>
                </a:lnTo>
                <a:lnTo>
                  <a:pt x="540172" y="11570"/>
                </a:lnTo>
                <a:lnTo>
                  <a:pt x="614013" y="0"/>
                </a:lnTo>
                <a:lnTo>
                  <a:pt x="653320" y="165"/>
                </a:lnTo>
                <a:lnTo>
                  <a:pt x="694309" y="4520"/>
                </a:lnTo>
                <a:lnTo>
                  <a:pt x="751079" y="20137"/>
                </a:lnTo>
                <a:lnTo>
                  <a:pt x="812321" y="49048"/>
                </a:lnTo>
                <a:lnTo>
                  <a:pt x="877593" y="89774"/>
                </a:lnTo>
                <a:lnTo>
                  <a:pt x="911602" y="114104"/>
                </a:lnTo>
                <a:lnTo>
                  <a:pt x="946453" y="140834"/>
                </a:lnTo>
                <a:lnTo>
                  <a:pt x="982091" y="169777"/>
                </a:lnTo>
                <a:lnTo>
                  <a:pt x="1018460" y="200749"/>
                </a:lnTo>
                <a:lnTo>
                  <a:pt x="1055506" y="233565"/>
                </a:lnTo>
                <a:lnTo>
                  <a:pt x="1093172" y="268040"/>
                </a:lnTo>
                <a:lnTo>
                  <a:pt x="1131404" y="303989"/>
                </a:lnTo>
                <a:lnTo>
                  <a:pt x="1170148" y="341227"/>
                </a:lnTo>
                <a:lnTo>
                  <a:pt x="1209346" y="379569"/>
                </a:lnTo>
                <a:lnTo>
                  <a:pt x="1248945" y="418831"/>
                </a:lnTo>
                <a:lnTo>
                  <a:pt x="1288889" y="458826"/>
                </a:lnTo>
                <a:lnTo>
                  <a:pt x="1329123" y="499371"/>
                </a:lnTo>
                <a:lnTo>
                  <a:pt x="1369591" y="540281"/>
                </a:lnTo>
                <a:lnTo>
                  <a:pt x="1410239" y="581370"/>
                </a:lnTo>
                <a:lnTo>
                  <a:pt x="1451012" y="622453"/>
                </a:lnTo>
                <a:lnTo>
                  <a:pt x="1491853" y="663346"/>
                </a:lnTo>
                <a:lnTo>
                  <a:pt x="1532708" y="703864"/>
                </a:lnTo>
                <a:lnTo>
                  <a:pt x="1573522" y="743821"/>
                </a:lnTo>
                <a:lnTo>
                  <a:pt x="1614240" y="783034"/>
                </a:lnTo>
                <a:lnTo>
                  <a:pt x="1654806" y="821316"/>
                </a:lnTo>
                <a:lnTo>
                  <a:pt x="1695165" y="858483"/>
                </a:lnTo>
                <a:lnTo>
                  <a:pt x="1735262" y="894349"/>
                </a:lnTo>
                <a:lnTo>
                  <a:pt x="1775041" y="928731"/>
                </a:lnTo>
                <a:lnTo>
                  <a:pt x="1814449" y="961443"/>
                </a:lnTo>
                <a:lnTo>
                  <a:pt x="1853428" y="992300"/>
                </a:lnTo>
                <a:lnTo>
                  <a:pt x="1891925" y="1021117"/>
                </a:lnTo>
                <a:lnTo>
                  <a:pt x="1929883" y="1047710"/>
                </a:lnTo>
                <a:lnTo>
                  <a:pt x="1967248" y="1071893"/>
                </a:lnTo>
                <a:lnTo>
                  <a:pt x="2003965" y="1093481"/>
                </a:lnTo>
                <a:lnTo>
                  <a:pt x="2039978" y="1112289"/>
                </a:lnTo>
                <a:lnTo>
                  <a:pt x="2075233" y="1128133"/>
                </a:lnTo>
                <a:lnTo>
                  <a:pt x="2143244" y="1150188"/>
                </a:lnTo>
                <a:lnTo>
                  <a:pt x="2218470" y="1159756"/>
                </a:lnTo>
                <a:lnTo>
                  <a:pt x="2260422" y="1160292"/>
                </a:lnTo>
                <a:lnTo>
                  <a:pt x="2301767" y="1157747"/>
                </a:lnTo>
                <a:lnTo>
                  <a:pt x="2342529" y="1152231"/>
                </a:lnTo>
                <a:lnTo>
                  <a:pt x="2382727" y="1143853"/>
                </a:lnTo>
                <a:lnTo>
                  <a:pt x="2422384" y="1132725"/>
                </a:lnTo>
                <a:lnTo>
                  <a:pt x="2461522" y="1118955"/>
                </a:lnTo>
                <a:lnTo>
                  <a:pt x="2500162" y="1102655"/>
                </a:lnTo>
                <a:lnTo>
                  <a:pt x="2538326" y="1083933"/>
                </a:lnTo>
                <a:lnTo>
                  <a:pt x="2576035" y="1062900"/>
                </a:lnTo>
                <a:lnTo>
                  <a:pt x="2613311" y="1039666"/>
                </a:lnTo>
                <a:lnTo>
                  <a:pt x="2650176" y="1014342"/>
                </a:lnTo>
                <a:lnTo>
                  <a:pt x="2686651" y="987036"/>
                </a:lnTo>
                <a:lnTo>
                  <a:pt x="2722758" y="957859"/>
                </a:lnTo>
                <a:lnTo>
                  <a:pt x="2758519" y="926921"/>
                </a:lnTo>
                <a:lnTo>
                  <a:pt x="2793955" y="894332"/>
                </a:lnTo>
                <a:lnTo>
                  <a:pt x="2829088" y="860202"/>
                </a:lnTo>
                <a:lnTo>
                  <a:pt x="2863940" y="824641"/>
                </a:lnTo>
                <a:lnTo>
                  <a:pt x="2898532" y="787759"/>
                </a:lnTo>
                <a:lnTo>
                  <a:pt x="2932886" y="749667"/>
                </a:lnTo>
                <a:lnTo>
                  <a:pt x="2967023" y="710473"/>
                </a:lnTo>
                <a:lnTo>
                  <a:pt x="3000966" y="670288"/>
                </a:lnTo>
                <a:lnTo>
                  <a:pt x="3034735" y="629222"/>
                </a:lnTo>
                <a:lnTo>
                  <a:pt x="3068353" y="587386"/>
                </a:lnTo>
                <a:lnTo>
                  <a:pt x="3101841" y="544888"/>
                </a:lnTo>
                <a:lnTo>
                  <a:pt x="3135221" y="501840"/>
                </a:lnTo>
                <a:lnTo>
                  <a:pt x="3168514" y="458351"/>
                </a:lnTo>
                <a:lnTo>
                  <a:pt x="3201742" y="414531"/>
                </a:lnTo>
                <a:lnTo>
                  <a:pt x="3234927" y="370490"/>
                </a:lnTo>
                <a:lnTo>
                  <a:pt x="3268091" y="326338"/>
                </a:lnTo>
              </a:path>
            </a:pathLst>
          </a:custGeom>
          <a:ln w="190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45100" y="2273300"/>
            <a:ext cx="101600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30900" y="2120900"/>
            <a:ext cx="101600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769100" y="2654300"/>
            <a:ext cx="101600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930394" y="2077719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1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54194" y="2992119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0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92647" y="1849119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2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07047" y="2382519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3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97647" y="3754120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4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59647" y="3220719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5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12047" y="2458719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6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81600" y="4952949"/>
            <a:ext cx="3200400" cy="1754505"/>
          </a:xfrm>
          <a:prstGeom prst="rect">
            <a:avLst/>
          </a:prstGeom>
          <a:solidFill>
            <a:srgbClr val="F1DCDB"/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 marR="180975">
              <a:lnSpc>
                <a:spcPct val="100000"/>
              </a:lnSpc>
              <a:spcBef>
                <a:spcPts val="250"/>
              </a:spcBef>
            </a:pPr>
            <a:r>
              <a:rPr sz="1800" spc="-5" dirty="0">
                <a:latin typeface="Calibri"/>
                <a:cs typeface="Calibri"/>
              </a:rPr>
              <a:t>t</a:t>
            </a:r>
            <a:r>
              <a:rPr sz="1800" spc="-7" baseline="-20833" dirty="0">
                <a:latin typeface="Calibri"/>
                <a:cs typeface="Calibri"/>
              </a:rPr>
              <a:t>i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5" dirty="0">
                <a:latin typeface="Calibri"/>
                <a:cs typeface="Calibri"/>
              </a:rPr>
              <a:t>Joint </a:t>
            </a:r>
            <a:r>
              <a:rPr sz="1800" spc="-15" dirty="0">
                <a:latin typeface="Calibri"/>
                <a:cs typeface="Calibri"/>
              </a:rPr>
              <a:t>Point </a:t>
            </a:r>
            <a:r>
              <a:rPr sz="1800" spc="-10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which </a:t>
            </a:r>
            <a:r>
              <a:rPr sz="1800" spc="-5" dirty="0">
                <a:latin typeface="Calibri"/>
                <a:cs typeface="Calibri"/>
              </a:rPr>
              <a:t>piece of  </a:t>
            </a:r>
            <a:r>
              <a:rPr sz="1800" dirty="0">
                <a:latin typeface="Calibri"/>
                <a:cs typeface="Calibri"/>
              </a:rPr>
              <a:t>curve</a:t>
            </a:r>
            <a:r>
              <a:rPr sz="1800" spc="-5" dirty="0">
                <a:latin typeface="Calibri"/>
                <a:cs typeface="Calibri"/>
              </a:rPr>
              <a:t> joins</a:t>
            </a:r>
            <a:endParaRPr sz="1800">
              <a:latin typeface="Calibri"/>
              <a:cs typeface="Calibri"/>
            </a:endParaRPr>
          </a:p>
          <a:p>
            <a:pPr marL="91440" marR="1619250">
              <a:lnSpc>
                <a:spcPts val="2140"/>
              </a:lnSpc>
              <a:spcBef>
                <a:spcPts val="105"/>
              </a:spcBef>
            </a:pPr>
            <a:r>
              <a:rPr sz="1800" dirty="0">
                <a:latin typeface="Calibri"/>
                <a:cs typeface="Calibri"/>
              </a:rPr>
              <a:t>i = (0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i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libri"/>
                <a:cs typeface="Calibri"/>
              </a:rPr>
              <a:t>n+k)  t</a:t>
            </a:r>
            <a:r>
              <a:rPr sz="1800" spc="-7" baseline="-20833" dirty="0">
                <a:latin typeface="Calibri"/>
                <a:cs typeface="Calibri"/>
              </a:rPr>
              <a:t>i </a:t>
            </a:r>
            <a:r>
              <a:rPr sz="1800" dirty="0">
                <a:latin typeface="Calibri"/>
                <a:cs typeface="Calibri"/>
              </a:rPr>
              <a:t>= 0 if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i&lt;k</a:t>
            </a:r>
            <a:endParaRPr sz="1800">
              <a:latin typeface="Calibri"/>
              <a:cs typeface="Calibri"/>
            </a:endParaRPr>
          </a:p>
          <a:p>
            <a:pPr marL="91440" marR="1439545">
              <a:lnSpc>
                <a:spcPts val="2160"/>
              </a:lnSpc>
              <a:spcBef>
                <a:spcPts val="5"/>
              </a:spcBef>
            </a:pPr>
            <a:r>
              <a:rPr sz="1800" spc="-5" dirty="0">
                <a:latin typeface="Calibri"/>
                <a:cs typeface="Calibri"/>
              </a:rPr>
              <a:t>t</a:t>
            </a:r>
            <a:r>
              <a:rPr sz="1800" spc="-7" baseline="-20833" dirty="0">
                <a:latin typeface="Calibri"/>
                <a:cs typeface="Calibri"/>
              </a:rPr>
              <a:t>i </a:t>
            </a:r>
            <a:r>
              <a:rPr sz="1800" dirty="0">
                <a:latin typeface="Calibri"/>
                <a:cs typeface="Calibri"/>
              </a:rPr>
              <a:t>= i-k+1 if k&lt; I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&lt;n  t</a:t>
            </a:r>
            <a:r>
              <a:rPr sz="1800" spc="-7" baseline="-20833" dirty="0">
                <a:latin typeface="Calibri"/>
                <a:cs typeface="Calibri"/>
              </a:rPr>
              <a:t>i </a:t>
            </a:r>
            <a:r>
              <a:rPr sz="1800" dirty="0">
                <a:latin typeface="Calibri"/>
                <a:cs typeface="Calibri"/>
              </a:rPr>
              <a:t>= n-k+2 if</a:t>
            </a:r>
            <a:r>
              <a:rPr sz="1800" spc="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i&gt;k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09600" y="1703009"/>
            <a:ext cx="2357011" cy="758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59740" y="2533396"/>
            <a:ext cx="3630929" cy="1564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Where</a:t>
            </a:r>
            <a:endParaRPr sz="1800">
              <a:latin typeface="Calibri"/>
              <a:cs typeface="Calibri"/>
            </a:endParaRPr>
          </a:p>
          <a:p>
            <a:pPr marL="64769" marR="932815">
              <a:lnSpc>
                <a:spcPts val="2180"/>
              </a:lnSpc>
              <a:spcBef>
                <a:spcPts val="55"/>
              </a:spcBef>
            </a:pPr>
            <a:r>
              <a:rPr sz="1800" dirty="0">
                <a:latin typeface="Calibri"/>
                <a:cs typeface="Calibri"/>
              </a:rPr>
              <a:t>Pi = </a:t>
            </a:r>
            <a:r>
              <a:rPr sz="1800" spc="-15" dirty="0">
                <a:latin typeface="Calibri"/>
                <a:cs typeface="Calibri"/>
              </a:rPr>
              <a:t>control </a:t>
            </a:r>
            <a:r>
              <a:rPr sz="1800" spc="-5" dirty="0">
                <a:latin typeface="Calibri"/>
                <a:cs typeface="Calibri"/>
              </a:rPr>
              <a:t>points  </a:t>
            </a:r>
            <a:r>
              <a:rPr sz="1800" spc="-10" dirty="0">
                <a:latin typeface="Calibri"/>
                <a:cs typeface="Calibri"/>
              </a:rPr>
              <a:t>u=parameter </a:t>
            </a:r>
            <a:r>
              <a:rPr sz="1800" spc="-5" dirty="0">
                <a:latin typeface="Calibri"/>
                <a:cs typeface="Calibri"/>
              </a:rPr>
              <a:t>(0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u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libri"/>
                <a:cs typeface="Calibri"/>
              </a:rPr>
              <a:t>n-k+2)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225"/>
              </a:spcBef>
            </a:pPr>
            <a:r>
              <a:rPr sz="1800" dirty="0">
                <a:latin typeface="Calibri"/>
                <a:cs typeface="Calibri"/>
              </a:rPr>
              <a:t>Q(u) </a:t>
            </a:r>
            <a:r>
              <a:rPr sz="1800" spc="-5" dirty="0">
                <a:latin typeface="Calibri"/>
                <a:cs typeface="Calibri"/>
              </a:rPr>
              <a:t>has </a:t>
            </a:r>
            <a:r>
              <a:rPr sz="1800" spc="-10" dirty="0">
                <a:latin typeface="Calibri"/>
                <a:cs typeface="Calibri"/>
              </a:rPr>
              <a:t>two </a:t>
            </a:r>
            <a:r>
              <a:rPr sz="1800" spc="-5" dirty="0">
                <a:latin typeface="Calibri"/>
                <a:cs typeface="Calibri"/>
              </a:rPr>
              <a:t>values </a:t>
            </a:r>
            <a:r>
              <a:rPr sz="1800" i="1" spc="-5" dirty="0">
                <a:latin typeface="Calibri"/>
                <a:cs typeface="Calibri"/>
              </a:rPr>
              <a:t>x</a:t>
            </a:r>
            <a:r>
              <a:rPr sz="1800" spc="-5" dirty="0">
                <a:latin typeface="Calibri"/>
                <a:cs typeface="Calibri"/>
              </a:rPr>
              <a:t>(u) </a:t>
            </a:r>
            <a:r>
              <a:rPr sz="1800" dirty="0">
                <a:latin typeface="Calibri"/>
                <a:cs typeface="Calibri"/>
              </a:rPr>
              <a:t>and y(u), then  </a:t>
            </a:r>
            <a:r>
              <a:rPr sz="1800" spc="-15" dirty="0">
                <a:latin typeface="Calibri"/>
                <a:cs typeface="Calibri"/>
              </a:rPr>
              <a:t>we </a:t>
            </a:r>
            <a:r>
              <a:rPr sz="1800" spc="-10" dirty="0">
                <a:latin typeface="Calibri"/>
                <a:cs typeface="Calibri"/>
              </a:rPr>
              <a:t>can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write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33400" y="4212771"/>
            <a:ext cx="1907539" cy="6204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726308" y="4171786"/>
            <a:ext cx="2025758" cy="6587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57200" y="5968409"/>
            <a:ext cx="2945042" cy="4589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953000" y="4343400"/>
            <a:ext cx="1905" cy="2362200"/>
          </a:xfrm>
          <a:custGeom>
            <a:avLst/>
            <a:gdLst/>
            <a:ahLst/>
            <a:cxnLst/>
            <a:rect l="l" t="t" r="r" b="b"/>
            <a:pathLst>
              <a:path w="1904" h="2362200">
                <a:moveTo>
                  <a:pt x="1650" y="0"/>
                </a:moveTo>
                <a:lnTo>
                  <a:pt x="0" y="2362200"/>
                </a:lnTo>
              </a:path>
            </a:pathLst>
          </a:custGeom>
          <a:ln w="952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04800" y="5192267"/>
            <a:ext cx="4385434" cy="4800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2827" y="164591"/>
            <a:ext cx="36156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Calibri"/>
                <a:cs typeface="Calibri"/>
              </a:rPr>
              <a:t>B-Spline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Curves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85341"/>
            <a:ext cx="36347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Example </a:t>
            </a:r>
            <a:r>
              <a:rPr sz="1800" b="1" dirty="0">
                <a:latin typeface="Calibri"/>
                <a:cs typeface="Calibri"/>
              </a:rPr>
              <a:t>: </a:t>
            </a:r>
            <a:r>
              <a:rPr sz="1800" spc="-10" dirty="0">
                <a:latin typeface="Calibri"/>
                <a:cs typeface="Calibri"/>
              </a:rPr>
              <a:t>Here </a:t>
            </a:r>
            <a:r>
              <a:rPr sz="1800" spc="-5" dirty="0">
                <a:latin typeface="Calibri"/>
                <a:cs typeface="Calibri"/>
              </a:rPr>
              <a:t>CP=6, n=5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k=3, </a:t>
            </a:r>
            <a:r>
              <a:rPr sz="1800" dirty="0">
                <a:latin typeface="Calibri"/>
                <a:cs typeface="Calibri"/>
              </a:rPr>
              <a:t>the  </a:t>
            </a:r>
            <a:r>
              <a:rPr sz="1800" spc="-5" dirty="0">
                <a:latin typeface="Calibri"/>
                <a:cs typeface="Calibri"/>
              </a:rPr>
              <a:t>equation of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curve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0447" y="1613661"/>
            <a:ext cx="588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Q(u)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912100" y="1968500"/>
            <a:ext cx="101600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521700" y="1130300"/>
            <a:ext cx="101600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21300" y="1511300"/>
            <a:ext cx="101600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34000" y="813867"/>
            <a:ext cx="3268345" cy="1160780"/>
          </a:xfrm>
          <a:custGeom>
            <a:avLst/>
            <a:gdLst/>
            <a:ahLst/>
            <a:cxnLst/>
            <a:rect l="l" t="t" r="r" b="b"/>
            <a:pathLst>
              <a:path w="3268345" h="1160780">
                <a:moveTo>
                  <a:pt x="0" y="817320"/>
                </a:moveTo>
                <a:lnTo>
                  <a:pt x="19148" y="767202"/>
                </a:lnTo>
                <a:lnTo>
                  <a:pt x="38363" y="717252"/>
                </a:lnTo>
                <a:lnTo>
                  <a:pt x="57711" y="667638"/>
                </a:lnTo>
                <a:lnTo>
                  <a:pt x="77260" y="618526"/>
                </a:lnTo>
                <a:lnTo>
                  <a:pt x="97077" y="570084"/>
                </a:lnTo>
                <a:lnTo>
                  <a:pt x="117229" y="522481"/>
                </a:lnTo>
                <a:lnTo>
                  <a:pt x="137784" y="475883"/>
                </a:lnTo>
                <a:lnTo>
                  <a:pt x="158809" y="430459"/>
                </a:lnTo>
                <a:lnTo>
                  <a:pt x="180370" y="386375"/>
                </a:lnTo>
                <a:lnTo>
                  <a:pt x="202537" y="343800"/>
                </a:lnTo>
                <a:lnTo>
                  <a:pt x="225375" y="302901"/>
                </a:lnTo>
                <a:lnTo>
                  <a:pt x="248952" y="263846"/>
                </a:lnTo>
                <a:lnTo>
                  <a:pt x="273335" y="226802"/>
                </a:lnTo>
                <a:lnTo>
                  <a:pt x="298592" y="191937"/>
                </a:lnTo>
                <a:lnTo>
                  <a:pt x="324790" y="159418"/>
                </a:lnTo>
                <a:lnTo>
                  <a:pt x="351996" y="129413"/>
                </a:lnTo>
                <a:lnTo>
                  <a:pt x="380278" y="102091"/>
                </a:lnTo>
                <a:lnTo>
                  <a:pt x="409702" y="77617"/>
                </a:lnTo>
                <a:lnTo>
                  <a:pt x="472248" y="37889"/>
                </a:lnTo>
                <a:lnTo>
                  <a:pt x="540172" y="11570"/>
                </a:lnTo>
                <a:lnTo>
                  <a:pt x="614013" y="0"/>
                </a:lnTo>
                <a:lnTo>
                  <a:pt x="653320" y="165"/>
                </a:lnTo>
                <a:lnTo>
                  <a:pt x="694309" y="4520"/>
                </a:lnTo>
                <a:lnTo>
                  <a:pt x="751079" y="20137"/>
                </a:lnTo>
                <a:lnTo>
                  <a:pt x="812321" y="49048"/>
                </a:lnTo>
                <a:lnTo>
                  <a:pt x="877593" y="89774"/>
                </a:lnTo>
                <a:lnTo>
                  <a:pt x="911602" y="114104"/>
                </a:lnTo>
                <a:lnTo>
                  <a:pt x="946453" y="140834"/>
                </a:lnTo>
                <a:lnTo>
                  <a:pt x="982091" y="169777"/>
                </a:lnTo>
                <a:lnTo>
                  <a:pt x="1018460" y="200749"/>
                </a:lnTo>
                <a:lnTo>
                  <a:pt x="1055506" y="233565"/>
                </a:lnTo>
                <a:lnTo>
                  <a:pt x="1093172" y="268040"/>
                </a:lnTo>
                <a:lnTo>
                  <a:pt x="1131404" y="303989"/>
                </a:lnTo>
                <a:lnTo>
                  <a:pt x="1170148" y="341227"/>
                </a:lnTo>
                <a:lnTo>
                  <a:pt x="1209346" y="379569"/>
                </a:lnTo>
                <a:lnTo>
                  <a:pt x="1248945" y="418831"/>
                </a:lnTo>
                <a:lnTo>
                  <a:pt x="1288889" y="458826"/>
                </a:lnTo>
                <a:lnTo>
                  <a:pt x="1329123" y="499371"/>
                </a:lnTo>
                <a:lnTo>
                  <a:pt x="1369591" y="540281"/>
                </a:lnTo>
                <a:lnTo>
                  <a:pt x="1410239" y="581370"/>
                </a:lnTo>
                <a:lnTo>
                  <a:pt x="1451012" y="622453"/>
                </a:lnTo>
                <a:lnTo>
                  <a:pt x="1491853" y="663346"/>
                </a:lnTo>
                <a:lnTo>
                  <a:pt x="1532708" y="703864"/>
                </a:lnTo>
                <a:lnTo>
                  <a:pt x="1573522" y="743821"/>
                </a:lnTo>
                <a:lnTo>
                  <a:pt x="1614240" y="783034"/>
                </a:lnTo>
                <a:lnTo>
                  <a:pt x="1654806" y="821316"/>
                </a:lnTo>
                <a:lnTo>
                  <a:pt x="1695165" y="858483"/>
                </a:lnTo>
                <a:lnTo>
                  <a:pt x="1735262" y="894349"/>
                </a:lnTo>
                <a:lnTo>
                  <a:pt x="1775041" y="928731"/>
                </a:lnTo>
                <a:lnTo>
                  <a:pt x="1814449" y="961443"/>
                </a:lnTo>
                <a:lnTo>
                  <a:pt x="1853428" y="992300"/>
                </a:lnTo>
                <a:lnTo>
                  <a:pt x="1891925" y="1021117"/>
                </a:lnTo>
                <a:lnTo>
                  <a:pt x="1929883" y="1047710"/>
                </a:lnTo>
                <a:lnTo>
                  <a:pt x="1967248" y="1071893"/>
                </a:lnTo>
                <a:lnTo>
                  <a:pt x="2003965" y="1093481"/>
                </a:lnTo>
                <a:lnTo>
                  <a:pt x="2039978" y="1112289"/>
                </a:lnTo>
                <a:lnTo>
                  <a:pt x="2075233" y="1128133"/>
                </a:lnTo>
                <a:lnTo>
                  <a:pt x="2143244" y="1150188"/>
                </a:lnTo>
                <a:lnTo>
                  <a:pt x="2218470" y="1159756"/>
                </a:lnTo>
                <a:lnTo>
                  <a:pt x="2260422" y="1160292"/>
                </a:lnTo>
                <a:lnTo>
                  <a:pt x="2301767" y="1157747"/>
                </a:lnTo>
                <a:lnTo>
                  <a:pt x="2342529" y="1152231"/>
                </a:lnTo>
                <a:lnTo>
                  <a:pt x="2382727" y="1143853"/>
                </a:lnTo>
                <a:lnTo>
                  <a:pt x="2422384" y="1132725"/>
                </a:lnTo>
                <a:lnTo>
                  <a:pt x="2461522" y="1118955"/>
                </a:lnTo>
                <a:lnTo>
                  <a:pt x="2500162" y="1102655"/>
                </a:lnTo>
                <a:lnTo>
                  <a:pt x="2538326" y="1083933"/>
                </a:lnTo>
                <a:lnTo>
                  <a:pt x="2576035" y="1062900"/>
                </a:lnTo>
                <a:lnTo>
                  <a:pt x="2613311" y="1039666"/>
                </a:lnTo>
                <a:lnTo>
                  <a:pt x="2650176" y="1014342"/>
                </a:lnTo>
                <a:lnTo>
                  <a:pt x="2686651" y="987036"/>
                </a:lnTo>
                <a:lnTo>
                  <a:pt x="2722758" y="957859"/>
                </a:lnTo>
                <a:lnTo>
                  <a:pt x="2758519" y="926921"/>
                </a:lnTo>
                <a:lnTo>
                  <a:pt x="2793955" y="894332"/>
                </a:lnTo>
                <a:lnTo>
                  <a:pt x="2829088" y="860202"/>
                </a:lnTo>
                <a:lnTo>
                  <a:pt x="2863940" y="824641"/>
                </a:lnTo>
                <a:lnTo>
                  <a:pt x="2898532" y="787759"/>
                </a:lnTo>
                <a:lnTo>
                  <a:pt x="2932886" y="749667"/>
                </a:lnTo>
                <a:lnTo>
                  <a:pt x="2967023" y="710473"/>
                </a:lnTo>
                <a:lnTo>
                  <a:pt x="3000966" y="670288"/>
                </a:lnTo>
                <a:lnTo>
                  <a:pt x="3034735" y="629222"/>
                </a:lnTo>
                <a:lnTo>
                  <a:pt x="3068353" y="587386"/>
                </a:lnTo>
                <a:lnTo>
                  <a:pt x="3101841" y="544888"/>
                </a:lnTo>
                <a:lnTo>
                  <a:pt x="3135221" y="501840"/>
                </a:lnTo>
                <a:lnTo>
                  <a:pt x="3168514" y="458351"/>
                </a:lnTo>
                <a:lnTo>
                  <a:pt x="3201742" y="414531"/>
                </a:lnTo>
                <a:lnTo>
                  <a:pt x="3234927" y="370490"/>
                </a:lnTo>
                <a:lnTo>
                  <a:pt x="3268091" y="326338"/>
                </a:lnTo>
              </a:path>
            </a:pathLst>
          </a:custGeom>
          <a:ln w="190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97500" y="673100"/>
            <a:ext cx="101600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83300" y="520700"/>
            <a:ext cx="101600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21500" y="1054100"/>
            <a:ext cx="101600" cy="1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82794" y="477266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1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06594" y="1391919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0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45047" y="248666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2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59447" y="782066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3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31047" y="1925319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4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64447" y="858266"/>
            <a:ext cx="2501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alibri"/>
                <a:cs typeface="Calibri"/>
              </a:rPr>
              <a:t>P</a:t>
            </a:r>
            <a:r>
              <a:rPr sz="1575" spc="7" baseline="-21164" dirty="0">
                <a:latin typeface="Calibri"/>
                <a:cs typeface="Calibri"/>
              </a:rPr>
              <a:t>5</a:t>
            </a:r>
            <a:endParaRPr sz="1575" baseline="-21164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868225" y="3119437"/>
            <a:ext cx="0" cy="1376680"/>
          </a:xfrm>
          <a:custGeom>
            <a:avLst/>
            <a:gdLst/>
            <a:ahLst/>
            <a:cxnLst/>
            <a:rect l="l" t="t" r="r" b="b"/>
            <a:pathLst>
              <a:path h="1376679">
                <a:moveTo>
                  <a:pt x="0" y="0"/>
                </a:moveTo>
                <a:lnTo>
                  <a:pt x="0" y="1376334"/>
                </a:lnTo>
              </a:path>
            </a:pathLst>
          </a:custGeom>
          <a:ln w="1117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3258" y="1600187"/>
            <a:ext cx="2133600" cy="7919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38200" y="2362200"/>
            <a:ext cx="6742176" cy="304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75336" y="2688082"/>
            <a:ext cx="3893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Here </a:t>
            </a:r>
            <a:r>
              <a:rPr sz="1800" spc="-5" dirty="0">
                <a:latin typeface="Calibri"/>
                <a:cs typeface="Calibri"/>
              </a:rPr>
              <a:t>u=n-k+2=4, so </a:t>
            </a:r>
            <a:r>
              <a:rPr sz="1800" spc="-10" dirty="0">
                <a:latin typeface="Calibri"/>
                <a:cs typeface="Calibri"/>
              </a:rPr>
              <a:t>range </a:t>
            </a:r>
            <a:r>
              <a:rPr sz="1800" spc="-5" dirty="0">
                <a:latin typeface="Calibri"/>
                <a:cs typeface="Calibri"/>
              </a:rPr>
              <a:t>of u=(0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u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libri"/>
                <a:cs typeface="Calibri"/>
              </a:rPr>
              <a:t>4)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06400" y="3047990"/>
            <a:ext cx="3943332" cy="2227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1000" y="3428990"/>
            <a:ext cx="3943332" cy="22273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1000" y="3809990"/>
            <a:ext cx="3943332" cy="22273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81000" y="4190990"/>
            <a:ext cx="3943332" cy="2227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724400" y="3070763"/>
            <a:ext cx="902825" cy="1389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736585" y="3429380"/>
            <a:ext cx="938288" cy="14630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753476" y="3835780"/>
            <a:ext cx="938288" cy="14630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724400" y="4216780"/>
            <a:ext cx="962660" cy="14630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81000" y="4495762"/>
            <a:ext cx="3352800" cy="2031364"/>
          </a:xfrm>
          <a:prstGeom prst="rect">
            <a:avLst/>
          </a:prstGeom>
          <a:solidFill>
            <a:srgbClr val="F1DCDB"/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 marR="333375">
              <a:lnSpc>
                <a:spcPct val="100000"/>
              </a:lnSpc>
              <a:spcBef>
                <a:spcPts val="250"/>
              </a:spcBef>
            </a:pPr>
            <a:r>
              <a:rPr sz="1800" spc="-5" dirty="0">
                <a:latin typeface="Calibri"/>
                <a:cs typeface="Calibri"/>
              </a:rPr>
              <a:t>t</a:t>
            </a:r>
            <a:r>
              <a:rPr sz="1800" spc="-7" baseline="-20833" dirty="0">
                <a:latin typeface="Calibri"/>
                <a:cs typeface="Calibri"/>
              </a:rPr>
              <a:t>i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5" dirty="0">
                <a:latin typeface="Calibri"/>
                <a:cs typeface="Calibri"/>
              </a:rPr>
              <a:t>Joint </a:t>
            </a:r>
            <a:r>
              <a:rPr sz="1800" spc="-15" dirty="0">
                <a:latin typeface="Calibri"/>
                <a:cs typeface="Calibri"/>
              </a:rPr>
              <a:t>Point </a:t>
            </a:r>
            <a:r>
              <a:rPr sz="1800" spc="-10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which </a:t>
            </a:r>
            <a:r>
              <a:rPr sz="1800" spc="-5" dirty="0">
                <a:latin typeface="Calibri"/>
                <a:cs typeface="Calibri"/>
              </a:rPr>
              <a:t>piece of  </a:t>
            </a:r>
            <a:r>
              <a:rPr sz="1800" dirty="0">
                <a:latin typeface="Calibri"/>
                <a:cs typeface="Calibri"/>
              </a:rPr>
              <a:t>curve</a:t>
            </a:r>
            <a:r>
              <a:rPr sz="1800" spc="-5" dirty="0">
                <a:latin typeface="Calibri"/>
                <a:cs typeface="Calibri"/>
              </a:rPr>
              <a:t> joins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ts val="2150"/>
              </a:lnSpc>
              <a:spcBef>
                <a:spcPts val="15"/>
              </a:spcBef>
            </a:pPr>
            <a:r>
              <a:rPr sz="1800" dirty="0">
                <a:latin typeface="Calibri"/>
                <a:cs typeface="Calibri"/>
              </a:rPr>
              <a:t>i = (0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i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libri"/>
                <a:cs typeface="Calibri"/>
              </a:rPr>
              <a:t>n+k=8)</a:t>
            </a:r>
            <a:endParaRPr sz="1800">
              <a:latin typeface="Calibri"/>
              <a:cs typeface="Calibri"/>
            </a:endParaRPr>
          </a:p>
          <a:p>
            <a:pPr marL="91440" marR="144145">
              <a:lnSpc>
                <a:spcPts val="2160"/>
              </a:lnSpc>
              <a:spcBef>
                <a:spcPts val="65"/>
              </a:spcBef>
            </a:pPr>
            <a:r>
              <a:rPr sz="1800" spc="-5" dirty="0">
                <a:latin typeface="Calibri"/>
                <a:cs typeface="Calibri"/>
              </a:rPr>
              <a:t>Then </a:t>
            </a:r>
            <a:r>
              <a:rPr sz="1800" spc="-15" dirty="0">
                <a:latin typeface="Calibri"/>
                <a:cs typeface="Calibri"/>
              </a:rPr>
              <a:t>we </a:t>
            </a:r>
            <a:r>
              <a:rPr sz="1800" spc="-5" dirty="0">
                <a:latin typeface="Calibri"/>
                <a:cs typeface="Calibri"/>
              </a:rPr>
              <a:t>need </a:t>
            </a:r>
            <a:r>
              <a:rPr sz="1800" spc="-15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find </a:t>
            </a:r>
            <a:r>
              <a:rPr sz="1800" spc="5" dirty="0">
                <a:latin typeface="Calibri"/>
                <a:cs typeface="Calibri"/>
              </a:rPr>
              <a:t>[t</a:t>
            </a:r>
            <a:r>
              <a:rPr sz="1800" spc="7" baseline="-20833" dirty="0">
                <a:latin typeface="Calibri"/>
                <a:cs typeface="Calibri"/>
              </a:rPr>
              <a:t>0 </a:t>
            </a:r>
            <a:r>
              <a:rPr sz="1800" baseline="-20833" dirty="0">
                <a:latin typeface="Calibri"/>
                <a:cs typeface="Calibri"/>
              </a:rPr>
              <a:t>, </a:t>
            </a:r>
            <a:r>
              <a:rPr sz="1800" spc="-5" dirty="0">
                <a:latin typeface="Calibri"/>
                <a:cs typeface="Calibri"/>
              </a:rPr>
              <a:t>t</a:t>
            </a:r>
            <a:r>
              <a:rPr sz="1800" spc="-7" baseline="-20833" dirty="0">
                <a:latin typeface="Calibri"/>
                <a:cs typeface="Calibri"/>
              </a:rPr>
              <a:t>1 …… </a:t>
            </a:r>
            <a:r>
              <a:rPr sz="1800" spc="-5" dirty="0">
                <a:latin typeface="Calibri"/>
                <a:cs typeface="Calibri"/>
              </a:rPr>
              <a:t>t</a:t>
            </a:r>
            <a:r>
              <a:rPr sz="1800" spc="-7" baseline="-20833" dirty="0">
                <a:latin typeface="Calibri"/>
                <a:cs typeface="Calibri"/>
              </a:rPr>
              <a:t>8 </a:t>
            </a:r>
            <a:r>
              <a:rPr sz="1800" dirty="0">
                <a:latin typeface="Calibri"/>
                <a:cs typeface="Calibri"/>
              </a:rPr>
              <a:t>]  </a:t>
            </a:r>
            <a:r>
              <a:rPr sz="1800" spc="-5" dirty="0">
                <a:latin typeface="Calibri"/>
                <a:cs typeface="Calibri"/>
              </a:rPr>
              <a:t>t</a:t>
            </a:r>
            <a:r>
              <a:rPr sz="1800" spc="-7" baseline="-20833" dirty="0">
                <a:latin typeface="Calibri"/>
                <a:cs typeface="Calibri"/>
              </a:rPr>
              <a:t>i </a:t>
            </a:r>
            <a:r>
              <a:rPr sz="1800" dirty="0">
                <a:latin typeface="Calibri"/>
                <a:cs typeface="Calibri"/>
              </a:rPr>
              <a:t>= 0 if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i&lt;k</a:t>
            </a:r>
            <a:endParaRPr sz="1800">
              <a:latin typeface="Calibri"/>
              <a:cs typeface="Calibri"/>
            </a:endParaRPr>
          </a:p>
          <a:p>
            <a:pPr marL="91440" marR="1597025">
              <a:lnSpc>
                <a:spcPts val="2160"/>
              </a:lnSpc>
            </a:pPr>
            <a:r>
              <a:rPr sz="1800" spc="-5" dirty="0">
                <a:latin typeface="Calibri"/>
                <a:cs typeface="Calibri"/>
              </a:rPr>
              <a:t>t</a:t>
            </a:r>
            <a:r>
              <a:rPr sz="1800" spc="-7" baseline="-20833" dirty="0">
                <a:latin typeface="Calibri"/>
                <a:cs typeface="Calibri"/>
              </a:rPr>
              <a:t>i </a:t>
            </a:r>
            <a:r>
              <a:rPr sz="1800" dirty="0">
                <a:latin typeface="Calibri"/>
                <a:cs typeface="Calibri"/>
              </a:rPr>
              <a:t>= i-k+1 if k&lt; i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&lt;n  t</a:t>
            </a:r>
            <a:r>
              <a:rPr sz="1800" spc="-7" baseline="-20833" dirty="0">
                <a:latin typeface="Calibri"/>
                <a:cs typeface="Calibri"/>
              </a:rPr>
              <a:t>i </a:t>
            </a:r>
            <a:r>
              <a:rPr sz="1800" dirty="0">
                <a:latin typeface="Calibri"/>
                <a:cs typeface="Calibri"/>
              </a:rPr>
              <a:t>= n-k+2 if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i&gt;k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86200" y="4495772"/>
            <a:ext cx="3352800" cy="2308860"/>
          </a:xfrm>
          <a:prstGeom prst="rect">
            <a:avLst/>
          </a:prstGeom>
          <a:solidFill>
            <a:srgbClr val="F1DCDB"/>
          </a:solidFill>
        </p:spPr>
        <p:txBody>
          <a:bodyPr vert="horz" wrap="square" lIns="0" tIns="336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65"/>
              </a:spcBef>
              <a:tabLst>
                <a:tab pos="692785" algn="l"/>
              </a:tabLst>
            </a:pPr>
            <a:r>
              <a:rPr sz="1600" dirty="0">
                <a:latin typeface="Calibri"/>
                <a:cs typeface="Calibri"/>
              </a:rPr>
              <a:t>t</a:t>
            </a:r>
            <a:r>
              <a:rPr sz="1575" baseline="-21164" dirty="0">
                <a:latin typeface="Calibri"/>
                <a:cs typeface="Calibri"/>
              </a:rPr>
              <a:t>0 </a:t>
            </a:r>
            <a:r>
              <a:rPr sz="1575" spc="179" baseline="-2116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	as 0&lt;3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(i&lt;k)</a:t>
            </a:r>
            <a:endParaRPr sz="16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tabLst>
                <a:tab pos="662305" algn="l"/>
              </a:tabLst>
            </a:pPr>
            <a:r>
              <a:rPr sz="1600" dirty="0">
                <a:latin typeface="Calibri"/>
                <a:cs typeface="Calibri"/>
              </a:rPr>
              <a:t>t</a:t>
            </a:r>
            <a:r>
              <a:rPr sz="1575" baseline="-21164" dirty="0">
                <a:latin typeface="Calibri"/>
                <a:cs typeface="Calibri"/>
              </a:rPr>
              <a:t>1</a:t>
            </a:r>
            <a:r>
              <a:rPr sz="1575" spc="179" baseline="-2116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	as </a:t>
            </a:r>
            <a:r>
              <a:rPr sz="1600" spc="-5" dirty="0">
                <a:latin typeface="Calibri"/>
                <a:cs typeface="Calibri"/>
              </a:rPr>
              <a:t>1&lt;3 (i&lt;k)</a:t>
            </a:r>
            <a:endParaRPr sz="16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tabLst>
                <a:tab pos="692785" algn="l"/>
              </a:tabLst>
            </a:pPr>
            <a:r>
              <a:rPr sz="1600" dirty="0">
                <a:latin typeface="Calibri"/>
                <a:cs typeface="Calibri"/>
              </a:rPr>
              <a:t>t</a:t>
            </a:r>
            <a:r>
              <a:rPr sz="1575" baseline="-21164" dirty="0">
                <a:latin typeface="Calibri"/>
                <a:cs typeface="Calibri"/>
              </a:rPr>
              <a:t>2 </a:t>
            </a:r>
            <a:r>
              <a:rPr sz="1575" spc="179" baseline="-2116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	as  2&lt;3</a:t>
            </a:r>
            <a:r>
              <a:rPr sz="1600" spc="-1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(i&lt;k)</a:t>
            </a:r>
            <a:endParaRPr sz="1600">
              <a:latin typeface="Calibri"/>
              <a:cs typeface="Calibri"/>
            </a:endParaRPr>
          </a:p>
          <a:p>
            <a:pPr marL="91440" marR="1078865">
              <a:lnSpc>
                <a:spcPts val="1910"/>
              </a:lnSpc>
              <a:spcBef>
                <a:spcPts val="80"/>
              </a:spcBef>
              <a:tabLst>
                <a:tab pos="662305" algn="l"/>
                <a:tab pos="692785" algn="l"/>
              </a:tabLst>
            </a:pPr>
            <a:r>
              <a:rPr sz="1600" dirty="0">
                <a:latin typeface="Calibri"/>
                <a:cs typeface="Calibri"/>
              </a:rPr>
              <a:t>t</a:t>
            </a:r>
            <a:r>
              <a:rPr sz="1575" baseline="-21164" dirty="0">
                <a:latin typeface="Calibri"/>
                <a:cs typeface="Calibri"/>
              </a:rPr>
              <a:t>3</a:t>
            </a:r>
            <a:r>
              <a:rPr sz="1575" spc="179" baseline="-2116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	as 3 </a:t>
            </a:r>
            <a:r>
              <a:rPr sz="1600" dirty="0">
                <a:latin typeface="Symbol"/>
                <a:cs typeface="Symbol"/>
              </a:rPr>
              <a:t>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Calibri"/>
                <a:cs typeface="Calibri"/>
              </a:rPr>
              <a:t>3&lt;5 (k </a:t>
            </a:r>
            <a:r>
              <a:rPr sz="1600" dirty="0">
                <a:latin typeface="Symbol"/>
                <a:cs typeface="Symbol"/>
              </a:rPr>
              <a:t></a:t>
            </a:r>
            <a:r>
              <a:rPr sz="1600" spc="-1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Calibri"/>
                <a:cs typeface="Calibri"/>
              </a:rPr>
              <a:t>i&lt;n)  </a:t>
            </a:r>
            <a:r>
              <a:rPr sz="1600" dirty="0">
                <a:latin typeface="Calibri"/>
                <a:cs typeface="Calibri"/>
              </a:rPr>
              <a:t>t</a:t>
            </a:r>
            <a:r>
              <a:rPr sz="1575" baseline="-21164" dirty="0">
                <a:latin typeface="Calibri"/>
                <a:cs typeface="Calibri"/>
              </a:rPr>
              <a:t>4 </a:t>
            </a:r>
            <a:r>
              <a:rPr sz="1575" spc="179" baseline="-2116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4		as 4&gt;3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(i&gt;k)</a:t>
            </a:r>
            <a:endParaRPr sz="1600">
              <a:latin typeface="Calibri"/>
              <a:cs typeface="Calibri"/>
            </a:endParaRPr>
          </a:p>
          <a:p>
            <a:pPr marL="91440">
              <a:lnSpc>
                <a:spcPts val="1855"/>
              </a:lnSpc>
              <a:tabLst>
                <a:tab pos="662305" algn="l"/>
              </a:tabLst>
            </a:pPr>
            <a:r>
              <a:rPr sz="1600" dirty="0">
                <a:latin typeface="Calibri"/>
                <a:cs typeface="Calibri"/>
              </a:rPr>
              <a:t>t</a:t>
            </a:r>
            <a:r>
              <a:rPr sz="1575" baseline="-21164" dirty="0">
                <a:latin typeface="Calibri"/>
                <a:cs typeface="Calibri"/>
              </a:rPr>
              <a:t>5</a:t>
            </a:r>
            <a:r>
              <a:rPr sz="1575" spc="179" baseline="-2116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4	as </a:t>
            </a:r>
            <a:r>
              <a:rPr sz="1600" spc="-5" dirty="0">
                <a:latin typeface="Calibri"/>
                <a:cs typeface="Calibri"/>
              </a:rPr>
              <a:t>5&gt;3 (i&gt;k)</a:t>
            </a:r>
            <a:endParaRPr sz="16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tabLst>
                <a:tab pos="692785" algn="l"/>
              </a:tabLst>
            </a:pPr>
            <a:r>
              <a:rPr sz="1600" dirty="0">
                <a:latin typeface="Calibri"/>
                <a:cs typeface="Calibri"/>
              </a:rPr>
              <a:t>t</a:t>
            </a:r>
            <a:r>
              <a:rPr sz="1575" baseline="-21164" dirty="0">
                <a:latin typeface="Calibri"/>
                <a:cs typeface="Calibri"/>
              </a:rPr>
              <a:t>6 </a:t>
            </a:r>
            <a:r>
              <a:rPr sz="1575" spc="179" baseline="-2116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4	as 6&gt;3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(i&gt;k)</a:t>
            </a:r>
            <a:endParaRPr sz="16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tabLst>
                <a:tab pos="662305" algn="l"/>
              </a:tabLst>
            </a:pPr>
            <a:r>
              <a:rPr sz="1600" dirty="0">
                <a:latin typeface="Calibri"/>
                <a:cs typeface="Calibri"/>
              </a:rPr>
              <a:t>t</a:t>
            </a:r>
            <a:r>
              <a:rPr sz="1575" baseline="-21164" dirty="0">
                <a:latin typeface="Calibri"/>
                <a:cs typeface="Calibri"/>
              </a:rPr>
              <a:t>7</a:t>
            </a:r>
            <a:r>
              <a:rPr sz="1575" spc="179" baseline="-2116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4	as  </a:t>
            </a:r>
            <a:r>
              <a:rPr sz="1600" spc="-5" dirty="0">
                <a:latin typeface="Calibri"/>
                <a:cs typeface="Calibri"/>
              </a:rPr>
              <a:t>7&gt;3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(i&gt;k)</a:t>
            </a:r>
            <a:endParaRPr sz="16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tabLst>
                <a:tab pos="662940" algn="l"/>
              </a:tabLst>
            </a:pPr>
            <a:r>
              <a:rPr sz="1600" dirty="0">
                <a:latin typeface="Calibri"/>
                <a:cs typeface="Calibri"/>
              </a:rPr>
              <a:t>t</a:t>
            </a:r>
            <a:r>
              <a:rPr sz="1575" baseline="-21164" dirty="0">
                <a:latin typeface="Calibri"/>
                <a:cs typeface="Calibri"/>
              </a:rPr>
              <a:t>8</a:t>
            </a:r>
            <a:r>
              <a:rPr sz="1575" spc="179" baseline="-2116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4	as  8&gt;3</a:t>
            </a:r>
            <a:r>
              <a:rPr sz="1600" spc="-9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(i&gt;k)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2562</Words>
  <Application>Microsoft Office PowerPoint</Application>
  <PresentationFormat>On-screen Show (4:3)</PresentationFormat>
  <Paragraphs>369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 Math</vt:lpstr>
      <vt:lpstr>Symbol</vt:lpstr>
      <vt:lpstr>Times New Roman</vt:lpstr>
      <vt:lpstr>Office Theme</vt:lpstr>
      <vt:lpstr>Computer Graphics:</vt:lpstr>
      <vt:lpstr>Topics</vt:lpstr>
      <vt:lpstr>Curves &amp; its Presentation</vt:lpstr>
      <vt:lpstr>Curves &amp; its Presentation</vt:lpstr>
      <vt:lpstr>Curves &amp; its Presentation</vt:lpstr>
      <vt:lpstr>Curves &amp; its Presentation</vt:lpstr>
      <vt:lpstr>Design of Curves</vt:lpstr>
      <vt:lpstr>Parametric &amp; Geometric Continuity</vt:lpstr>
      <vt:lpstr>Parametric &amp; Geometric Continuity</vt:lpstr>
      <vt:lpstr>Spline Curves</vt:lpstr>
      <vt:lpstr>Hermite Spline Curves</vt:lpstr>
      <vt:lpstr>Hermite Spline Curves</vt:lpstr>
      <vt:lpstr>Hermite Curve: Example</vt:lpstr>
      <vt:lpstr>Hermite Curve: Example contd</vt:lpstr>
      <vt:lpstr>Hermite Curve: Example contd</vt:lpstr>
      <vt:lpstr>Bezier Curves</vt:lpstr>
      <vt:lpstr>Bezier Curves</vt:lpstr>
      <vt:lpstr>Bezier Curves</vt:lpstr>
      <vt:lpstr>B-Spline Curves</vt:lpstr>
      <vt:lpstr>B-Spline Curves</vt:lpstr>
      <vt:lpstr>B-Spline Curves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Graphics: Curves</dc:title>
  <dc:creator>Windows User</dc:creator>
  <cp:lastModifiedBy>Humayra Tasnim</cp:lastModifiedBy>
  <cp:revision>5</cp:revision>
  <dcterms:created xsi:type="dcterms:W3CDTF">2020-10-04T17:14:45Z</dcterms:created>
  <dcterms:modified xsi:type="dcterms:W3CDTF">2025-11-03T06:21:06Z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2020-05-26T00:00:00Z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2020-10-04T00:00:00Z</vt:filetime>
  </property>
</Properties>
</file>